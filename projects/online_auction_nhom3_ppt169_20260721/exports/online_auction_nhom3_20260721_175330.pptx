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20 trang: phần chung, 5 Use Case, 5 Activity,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Giới thiệu thành viên nhóm.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&amp;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 (scenario).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Case đăng ký / đăng nhập — dual session User &amp; Admin.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Seller tạo listing; Admin approve/reject.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Buyer đăng ký, đặt cọc, place bid; System anti-fraud &amp; SignalR.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Finalization, Order, thanh toán PayPal/COD.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Mua ngay: cart → invoice → thanh toán trong 7 ngày.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dual cookie: nhánh User và nhánh Admin độc lập.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Submit → confirming → Approve/Reject → live; Seller có thể sửa gửi lại.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Deposit → Place Bid → validate/fraud → SignalR cập nhật giá.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Hết giờ → Worker tạo Order → Buyer thanh toán PayPal hoặc COD.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Add to cart → invoice deadline 7 ngày → thanh toán hoặc hủy/hết hạn.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nổi bật dual auth, verify, realtime, i18n.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2900"/>
            <a:chOff x="762000" y="1143000"/>
            <a:chExt cx="1600200" cy="342900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1934" y="1258252"/>
              <a:ext cx="520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958340"/>
            <a:ext cx="3949245" cy="1615249"/>
            <a:chOff x="742950" y="1958340"/>
            <a:chExt cx="3949245" cy="161524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958340"/>
              <a:ext cx="394924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332" y="2726055"/>
              <a:ext cx="2083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3250882"/>
              <a:ext cx="3800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5142" y="3810000"/>
            <a:ext cx="4007358" cy="499301"/>
            <a:chOff x="755142" y="3810000"/>
            <a:chExt cx="4007358" cy="499301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142" y="4045268"/>
              <a:ext cx="2704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4137" y="2945130"/>
              <a:ext cx="9237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65301" y="4251960"/>
              <a:ext cx="1481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31054" y="4542949"/>
              <a:ext cx="1549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2" name="TextBox 2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54605" cy="431673"/>
            <a:chOff x="457200" y="228600"/>
            <a:chExt cx="4854605" cy="431673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132" y="249555"/>
              <a:ext cx="10850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90166" y="362902"/>
              <a:ext cx="3221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trang · Use Case &amp; Activity mỗi luồng 1 slide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5720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80847" y="1037749"/>
            <a:ext cx="7783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PHẦN CHUNG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085" y="1354931"/>
            <a:ext cx="9452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085" y="1640681"/>
            <a:ext cx="7648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085" y="1926431"/>
            <a:ext cx="170541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03 Giới thiệu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085" y="22121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085" y="2497931"/>
            <a:ext cx="13142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05 Mục tiêu đề tài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0085" y="2783681"/>
            <a:ext cx="937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085" y="3069431"/>
            <a:ext cx="14495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847" y="3561874"/>
            <a:ext cx="25140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0085" y="3879056"/>
            <a:ext cx="15153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18 Database Diagram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085" y="4164806"/>
            <a:ext cx="816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19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0085" y="4450556"/>
            <a:ext cx="975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20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09897" y="1037749"/>
            <a:ext cx="196647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 CASE (mỗi luồng 1 trang)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9135" y="1450181"/>
            <a:ext cx="20145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08 UC · Đăng ký / Đăng nhập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09135" y="1831181"/>
            <a:ext cx="18040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09 UC · Đăng bán &amp; Duyệt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9135" y="2212181"/>
            <a:ext cx="20663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10 UC · Đăng ký đấu giá &amp; Bid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9135" y="2593181"/>
            <a:ext cx="21793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11 UC · Kết thúc &amp; Thanh toán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09135" y="2974181"/>
            <a:ext cx="11664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12 UC · Buy Now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14850" y="3524250"/>
            <a:ext cx="3143250" cy="7620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00397" y="3752374"/>
            <a:ext cx="14808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5 luồng nghiệp vụ chính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0397" y="3971449"/>
            <a:ext cx="140936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UML Use Case Diagram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1530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38947" y="1037749"/>
            <a:ext cx="193445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ACTIVITY (mỗi luồng 1 trang)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38185" y="1450181"/>
            <a:ext cx="9919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13 Act · Auth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38185" y="1831181"/>
            <a:ext cx="18793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14 Act · Đăng bán &amp; Duyệt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8185" y="2212181"/>
            <a:ext cx="15940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15 Act · Đăng ký &amp; Bid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8185" y="2593181"/>
            <a:ext cx="22552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16 Act · Kết thúc &amp; Thanh toán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8185" y="2974181"/>
            <a:ext cx="124038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17 Act · Buy Now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43900" y="3524250"/>
            <a:ext cx="3143250" cy="7620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529447" y="3752374"/>
            <a:ext cx="1252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Swimlane + Decision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29447" y="3971449"/>
            <a:ext cx="137002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UML Activity Diagram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9" name="TextBox 3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575822" cy="625411"/>
            <a:chOff x="457200" y="419100"/>
            <a:chExt cx="3575822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3594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333500"/>
            <a:ext cx="3429000" cy="1333500"/>
            <a:chOff x="457200" y="1333500"/>
            <a:chExt cx="34290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66750" y="1590675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64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4455" y="1647825"/>
              <a:ext cx="855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56741" y="1982152"/>
              <a:ext cx="1153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 chính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333500"/>
            <a:ext cx="3429000" cy="1333500"/>
            <a:chOff x="4381500" y="1333500"/>
            <a:chExt cx="34290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591050" y="1590675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707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8755" y="1647825"/>
              <a:ext cx="1258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Hưng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10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05800" y="1333500"/>
            <a:ext cx="3429000" cy="1333500"/>
            <a:chOff x="8305800" y="1333500"/>
            <a:chExt cx="3429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8305800" y="1333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515350" y="1590675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95086" y="18011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03055" y="1647825"/>
              <a:ext cx="14362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05341" y="19821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381250" y="3048000"/>
            <a:ext cx="3429000" cy="1333500"/>
            <a:chOff x="2381250" y="3048000"/>
            <a:chExt cx="3429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23812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590800" y="3305175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705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78505" y="3362325"/>
              <a:ext cx="17228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80791" y="3696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381750" y="3048000"/>
            <a:ext cx="3429000" cy="1333500"/>
            <a:chOff x="6381750" y="3048000"/>
            <a:chExt cx="34290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381750" y="30480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91300" y="3305175"/>
              <a:ext cx="533400" cy="5334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71036" y="351567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9005" y="33623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azhai4123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81291" y="3696652"/>
              <a:ext cx="1393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Cần xác nhận vai trò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7488" y="4074795"/>
              <a:ext cx="13652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※ Ghi chú: cần xác nhận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7200" y="4762500"/>
            <a:ext cx="11277600" cy="1143000"/>
            <a:chOff x="457200" y="4762500"/>
            <a:chExt cx="11277600" cy="1143000"/>
          </a:xfrm>
        </p:grpSpPr>
        <p:sp>
          <p:nvSpPr>
            <p:cNvPr id="37" name="Rectangle 37"/>
            <p:cNvSpPr/>
            <p:nvPr/>
          </p:nvSpPr>
          <p:spPr>
            <a:xfrm>
              <a:off x="457200" y="4762500"/>
              <a:ext cx="11277600" cy="11430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904" y="5061585"/>
              <a:ext cx="442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Lưu 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285" y="5355431"/>
              <a:ext cx="67389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Danh sách theo lịch sử git của repository. Vai trò chi tiết cần nhóm xác nhận trước khi nộp.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601652"/>
              <a:ext cx="5515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Không dùng nhân vật giả trên trang About (Julian Thorne…) làm thành viên nhóm.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356573" cy="625411"/>
            <a:chOff x="457200" y="419100"/>
            <a:chExt cx="3356573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314016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16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6280" y="1504950"/>
              <a:ext cx="1801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8185" y="1878806"/>
              <a:ext cx="3880358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9380" y="1504950"/>
              <a:ext cx="2066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71285" y="1878806"/>
              <a:ext cx="3645662" cy="486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1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3261360"/>
              <a:ext cx="72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8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39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4804" y="3261360"/>
              <a:ext cx="9930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4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5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70804" y="3261360"/>
              <a:ext cx="1111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40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11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6804" y="3261360"/>
              <a:ext cx="1068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6118" y="32508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97951" y="3277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2804" y="326136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142" y="4664392"/>
              <a:ext cx="14899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6285" y="5069681"/>
              <a:ext cx="4164838" cy="5057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1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3" name="TextBox 43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694859" cy="625411"/>
            <a:chOff x="457200" y="419100"/>
            <a:chExt cx="2694859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4784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435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50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3218" y="1584008"/>
              <a:ext cx="22870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156460"/>
              <a:ext cx="318211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44312" y="1632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2518" y="1584008"/>
              <a:ext cx="24504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1404" y="2156460"/>
              <a:ext cx="2930652" cy="8061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50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3218" y="3965258"/>
              <a:ext cx="18907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4537710"/>
              <a:ext cx="306019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4312" y="4013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2518" y="3965258"/>
              <a:ext cx="2543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1404" y="4537710"/>
              <a:ext cx="297637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0" name="TextBox 30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359200" cy="625411"/>
            <a:chOff x="457200" y="419100"/>
            <a:chExt cx="235920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6301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2135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1356360"/>
              <a:ext cx="425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1904" y="1356360"/>
              <a:ext cx="1483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1680210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1904" y="1680210"/>
              <a:ext cx="3196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904" y="21755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1904" y="2175510"/>
              <a:ext cx="31285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2670810"/>
              <a:ext cx="390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1904" y="2670810"/>
              <a:ext cx="2630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904" y="316611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1904" y="3166110"/>
              <a:ext cx="1694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3661410"/>
              <a:ext cx="712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1904" y="3661410"/>
              <a:ext cx="1789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5904" y="4156710"/>
              <a:ext cx="848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1904" y="4156710"/>
              <a:ext cx="762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4652010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1904" y="4652010"/>
              <a:ext cx="824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904" y="5147310"/>
              <a:ext cx="7638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1904" y="5147310"/>
              <a:ext cx="2464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32" name="TextBox 3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999765" cy="625411"/>
            <a:chOff x="457200" y="419100"/>
            <a:chExt cx="299976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783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3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1394460"/>
            <a:ext cx="7393541" cy="3663029"/>
            <a:chOff x="451104" y="1394460"/>
            <a:chExt cx="7393541" cy="3663029"/>
          </a:xfrm>
        </p:grpSpPr>
        <p:sp>
          <p:nvSpPr>
            <p:cNvPr id="6" name="TextBox 6"/>
            <p:cNvSpPr txBox="1"/>
            <p:nvPr/>
          </p:nvSpPr>
          <p:spPr>
            <a:xfrm>
              <a:off x="451104" y="14706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6404" y="1394460"/>
              <a:ext cx="1476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547" y="1628299"/>
              <a:ext cx="12754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61404" y="14897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104" y="21183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2042160"/>
              <a:ext cx="1051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275999"/>
              <a:ext cx="13728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8654" y="21374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1104" y="27660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689860"/>
              <a:ext cx="1074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7547" y="2923699"/>
              <a:ext cx="10805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8654" y="27851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1104" y="34137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337560"/>
              <a:ext cx="10010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547" y="3571399"/>
              <a:ext cx="15847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8654" y="34328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104" y="40614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3985260"/>
              <a:ext cx="1001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547" y="4219099"/>
              <a:ext cx="10449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404" y="40805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104" y="470916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404" y="4632960"/>
              <a:ext cx="1101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547" y="4866799"/>
              <a:ext cx="10983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4154" y="4728210"/>
              <a:ext cx="325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5554028"/>
              <a:ext cx="1002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5792152"/>
              <a:ext cx="6537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47948" cy="542639"/>
            <a:chOff x="457200" y="228600"/>
            <a:chExt cx="434794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1292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290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1/5 · Auth (dual session User &amp; Admin)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048000" y="1047750"/>
            <a:ext cx="6096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365229" y="1212056"/>
            <a:ext cx="14615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· Auth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10234" y="2552700"/>
            <a:ext cx="865531" cy="1152239"/>
            <a:chOff x="710234" y="2552700"/>
            <a:chExt cx="865531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1D4ED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0234" y="3514249"/>
              <a:ext cx="8655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Guest / User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450" y="2552700"/>
            <a:ext cx="419100" cy="1152239"/>
            <a:chOff x="10839450" y="2552700"/>
            <a:chExt cx="419100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54923" y="3514249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4762500" y="1600200"/>
            <a:ext cx="26670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83358" y="1855470"/>
            <a:ext cx="10252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tài khoản</a:t>
            </a:r>
          </a:p>
        </p:txBody>
      </p:sp>
      <p:sp>
        <p:nvSpPr>
          <p:cNvPr id="24" name="Ellipse 24"/>
          <p:cNvSpPr/>
          <p:nvPr/>
        </p:nvSpPr>
        <p:spPr>
          <a:xfrm>
            <a:off x="4762500" y="2362200"/>
            <a:ext cx="26670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671271" y="2617470"/>
            <a:ext cx="8494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Xác nhận email</a:t>
            </a:r>
          </a:p>
        </p:txBody>
      </p:sp>
      <p:sp>
        <p:nvSpPr>
          <p:cNvPr id="26" name="Ellipse 26"/>
          <p:cNvSpPr/>
          <p:nvPr/>
        </p:nvSpPr>
        <p:spPr>
          <a:xfrm>
            <a:off x="4762500" y="3124200"/>
            <a:ext cx="26670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50954" y="3379470"/>
            <a:ext cx="8900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nhập User</a:t>
            </a:r>
          </a:p>
        </p:txBody>
      </p:sp>
      <p:sp>
        <p:nvSpPr>
          <p:cNvPr id="28" name="Ellipse 28"/>
          <p:cNvSpPr/>
          <p:nvPr/>
        </p:nvSpPr>
        <p:spPr>
          <a:xfrm>
            <a:off x="4762500" y="3886200"/>
            <a:ext cx="26670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457183" y="4141470"/>
            <a:ext cx="127763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Quên mật khẩu (OTP)</a:t>
            </a:r>
          </a:p>
        </p:txBody>
      </p:sp>
      <p:sp>
        <p:nvSpPr>
          <p:cNvPr id="30" name="Ellipse 30"/>
          <p:cNvSpPr/>
          <p:nvPr/>
        </p:nvSpPr>
        <p:spPr>
          <a:xfrm>
            <a:off x="4762500" y="4648200"/>
            <a:ext cx="26670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620717" y="4903470"/>
            <a:ext cx="950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nhập Admin</a:t>
            </a:r>
          </a:p>
        </p:txBody>
      </p:sp>
      <p:sp>
        <p:nvSpPr>
          <p:cNvPr id="32" name="Ellipse 32"/>
          <p:cNvSpPr/>
          <p:nvPr/>
        </p:nvSpPr>
        <p:spPr>
          <a:xfrm>
            <a:off x="4762500" y="5353050"/>
            <a:ext cx="2667000" cy="5334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804502" y="5570220"/>
            <a:ext cx="58299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xuất</a:t>
            </a:r>
          </a:p>
        </p:txBody>
      </p:sp>
      <p:sp>
        <p:nvSpPr>
          <p:cNvPr id="34" name="Line 34"/>
          <p:cNvSpPr/>
          <p:nvPr/>
        </p:nvSpPr>
        <p:spPr>
          <a:xfrm>
            <a:off x="1619250" y="190500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0" y="952500"/>
                </a:moveTo>
                <a:lnTo>
                  <a:pt x="3143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5" name="Line 35"/>
          <p:cNvSpPr/>
          <p:nvPr/>
        </p:nvSpPr>
        <p:spPr>
          <a:xfrm>
            <a:off x="1619250" y="2667000"/>
            <a:ext cx="3143250" cy="285750"/>
          </a:xfrm>
          <a:custGeom>
            <a:avLst/>
            <a:gdLst/>
            <a:ahLst/>
            <a:cxnLst/>
            <a:rect l="l" t="t" r="r" b="b"/>
            <a:pathLst>
              <a:path w="3143250" h="285750">
                <a:moveTo>
                  <a:pt x="0" y="285750"/>
                </a:moveTo>
                <a:lnTo>
                  <a:pt x="3143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6" name="Line 36"/>
          <p:cNvSpPr/>
          <p:nvPr/>
        </p:nvSpPr>
        <p:spPr>
          <a:xfrm>
            <a:off x="1619250" y="3048000"/>
            <a:ext cx="3143250" cy="381000"/>
          </a:xfrm>
          <a:custGeom>
            <a:avLst/>
            <a:gdLst/>
            <a:ahLst/>
            <a:cxnLst/>
            <a:rect l="l" t="t" r="r" b="b"/>
            <a:pathLst>
              <a:path w="3143250" h="381000">
                <a:moveTo>
                  <a:pt x="0" y="0"/>
                </a:moveTo>
                <a:lnTo>
                  <a:pt x="3143250" y="381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7" name="Line 37"/>
          <p:cNvSpPr/>
          <p:nvPr/>
        </p:nvSpPr>
        <p:spPr>
          <a:xfrm>
            <a:off x="1619250" y="3143250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0" y="0"/>
                </a:moveTo>
                <a:lnTo>
                  <a:pt x="3143250" y="1047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8" name="Line 38"/>
          <p:cNvSpPr/>
          <p:nvPr/>
        </p:nvSpPr>
        <p:spPr>
          <a:xfrm>
            <a:off x="1619250" y="3333750"/>
            <a:ext cx="3143250" cy="2286000"/>
          </a:xfrm>
          <a:custGeom>
            <a:avLst/>
            <a:gdLst/>
            <a:ahLst/>
            <a:cxnLst/>
            <a:rect l="l" t="t" r="r" b="b"/>
            <a:pathLst>
              <a:path w="3143250" h="2286000">
                <a:moveTo>
                  <a:pt x="0" y="0"/>
                </a:moveTo>
                <a:lnTo>
                  <a:pt x="3143250" y="2286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9" name="Line 39"/>
          <p:cNvSpPr/>
          <p:nvPr/>
        </p:nvSpPr>
        <p:spPr>
          <a:xfrm>
            <a:off x="7429500" y="2857500"/>
            <a:ext cx="3143250" cy="2095500"/>
          </a:xfrm>
          <a:custGeom>
            <a:avLst/>
            <a:gdLst/>
            <a:ahLst/>
            <a:cxnLst/>
            <a:rect l="l" t="t" r="r" b="b"/>
            <a:pathLst>
              <a:path w="3143250" h="2095500">
                <a:moveTo>
                  <a:pt x="3143250" y="0"/>
                </a:moveTo>
                <a:lnTo>
                  <a:pt x="0" y="2095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0" name="Line 40"/>
          <p:cNvSpPr/>
          <p:nvPr/>
        </p:nvSpPr>
        <p:spPr>
          <a:xfrm>
            <a:off x="7429500" y="3048000"/>
            <a:ext cx="3143250" cy="2571750"/>
          </a:xfrm>
          <a:custGeom>
            <a:avLst/>
            <a:gdLst/>
            <a:ahLst/>
            <a:cxnLst/>
            <a:rect l="l" t="t" r="r" b="b"/>
            <a:pathLst>
              <a:path w="3143250" h="2571750">
                <a:moveTo>
                  <a:pt x="3143250" y="0"/>
                </a:moveTo>
                <a:lnTo>
                  <a:pt x="0" y="2571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95588" cy="542639"/>
            <a:chOff x="457200" y="228600"/>
            <a:chExt cx="489558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676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2986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2/5 · Seller submit → Admin verify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857500" y="1047750"/>
            <a:ext cx="6477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274823" y="1212056"/>
            <a:ext cx="1642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· Listing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743200"/>
            <a:ext cx="419100" cy="1152239"/>
            <a:chOff x="933450" y="274320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1D4ED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2284" y="3704749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839450" y="2743200"/>
            <a:ext cx="419100" cy="1152239"/>
            <a:chOff x="10839450" y="2743200"/>
            <a:chExt cx="419100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854923" y="3704749"/>
              <a:ext cx="388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3714750" y="17145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08218" y="1950720"/>
            <a:ext cx="6895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Auction</a:t>
            </a:r>
          </a:p>
        </p:txBody>
      </p:sp>
      <p:sp>
        <p:nvSpPr>
          <p:cNvPr id="24" name="Ellipse 24"/>
          <p:cNvSpPr/>
          <p:nvPr/>
        </p:nvSpPr>
        <p:spPr>
          <a:xfrm>
            <a:off x="3714750" y="24765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93336" y="2712720"/>
            <a:ext cx="71932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Buy Now</a:t>
            </a:r>
          </a:p>
        </p:txBody>
      </p:sp>
      <p:sp>
        <p:nvSpPr>
          <p:cNvPr id="26" name="Ellipse 26"/>
          <p:cNvSpPr/>
          <p:nvPr/>
        </p:nvSpPr>
        <p:spPr>
          <a:xfrm>
            <a:off x="3714750" y="32385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361582" y="3474720"/>
            <a:ext cx="11828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 sản phẩm</a:t>
            </a:r>
          </a:p>
        </p:txBody>
      </p:sp>
      <p:sp>
        <p:nvSpPr>
          <p:cNvPr id="28" name="Ellipse 28"/>
          <p:cNvSpPr/>
          <p:nvPr/>
        </p:nvSpPr>
        <p:spPr>
          <a:xfrm>
            <a:off x="3714750" y="40005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376899" y="4236720"/>
            <a:ext cx="11522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submission</a:t>
            </a:r>
          </a:p>
        </p:txBody>
      </p:sp>
      <p:sp>
        <p:nvSpPr>
          <p:cNvPr id="30" name="Ellipse 30"/>
          <p:cNvSpPr/>
          <p:nvPr/>
        </p:nvSpPr>
        <p:spPr>
          <a:xfrm>
            <a:off x="3714750" y="47625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03814" y="4998720"/>
            <a:ext cx="6983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32" name="Ellipse 32"/>
          <p:cNvSpPr/>
          <p:nvPr/>
        </p:nvSpPr>
        <p:spPr>
          <a:xfrm>
            <a:off x="6000750" y="20955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665686" y="2331720"/>
            <a:ext cx="11466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Xem hàng chờ duyệt</a:t>
            </a:r>
          </a:p>
        </p:txBody>
      </p:sp>
      <p:sp>
        <p:nvSpPr>
          <p:cNvPr id="34" name="Ellipse 34"/>
          <p:cNvSpPr/>
          <p:nvPr/>
        </p:nvSpPr>
        <p:spPr>
          <a:xfrm>
            <a:off x="6000750" y="295275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793264" y="3188970"/>
            <a:ext cx="89147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Approve listing</a:t>
            </a:r>
          </a:p>
        </p:txBody>
      </p:sp>
      <p:sp>
        <p:nvSpPr>
          <p:cNvPr id="36" name="Ellipse 36"/>
          <p:cNvSpPr/>
          <p:nvPr/>
        </p:nvSpPr>
        <p:spPr>
          <a:xfrm>
            <a:off x="6000750" y="381000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841291" y="4046220"/>
            <a:ext cx="7954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Reject + lý do</a:t>
            </a:r>
          </a:p>
        </p:txBody>
      </p:sp>
      <p:sp>
        <p:nvSpPr>
          <p:cNvPr id="38" name="Ellipse 38"/>
          <p:cNvSpPr/>
          <p:nvPr/>
        </p:nvSpPr>
        <p:spPr>
          <a:xfrm>
            <a:off x="6000750" y="4667250"/>
            <a:ext cx="24765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38696" y="4903470"/>
            <a:ext cx="12006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trực tiếp</a:t>
            </a:r>
          </a:p>
        </p:txBody>
      </p:sp>
      <p:sp>
        <p:nvSpPr>
          <p:cNvPr id="40" name="Line 40"/>
          <p:cNvSpPr/>
          <p:nvPr/>
        </p:nvSpPr>
        <p:spPr>
          <a:xfrm>
            <a:off x="1619250" y="200025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0" y="1047750"/>
                </a:moveTo>
                <a:lnTo>
                  <a:pt x="209550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1" name="Line 41"/>
          <p:cNvSpPr/>
          <p:nvPr/>
        </p:nvSpPr>
        <p:spPr>
          <a:xfrm>
            <a:off x="1619250" y="2762250"/>
            <a:ext cx="2095500" cy="381000"/>
          </a:xfrm>
          <a:custGeom>
            <a:avLst/>
            <a:gdLst/>
            <a:ahLst/>
            <a:cxnLst/>
            <a:rect l="l" t="t" r="r" b="b"/>
            <a:pathLst>
              <a:path w="2095500" h="381000">
                <a:moveTo>
                  <a:pt x="0" y="381000"/>
                </a:moveTo>
                <a:lnTo>
                  <a:pt x="209550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2" name="Line 42"/>
          <p:cNvSpPr/>
          <p:nvPr/>
        </p:nvSpPr>
        <p:spPr>
          <a:xfrm>
            <a:off x="1619250" y="323850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0" y="0"/>
                </a:moveTo>
                <a:lnTo>
                  <a:pt x="2095500" y="285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3" name="Line 43"/>
          <p:cNvSpPr/>
          <p:nvPr/>
        </p:nvSpPr>
        <p:spPr>
          <a:xfrm>
            <a:off x="1619250" y="33337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0" y="0"/>
                </a:moveTo>
                <a:lnTo>
                  <a:pt x="2095500" y="952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4" name="Line 44"/>
          <p:cNvSpPr/>
          <p:nvPr/>
        </p:nvSpPr>
        <p:spPr>
          <a:xfrm>
            <a:off x="1619250" y="342900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0" y="0"/>
                </a:moveTo>
                <a:lnTo>
                  <a:pt x="2095500" y="1619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5" name="Line 45"/>
          <p:cNvSpPr/>
          <p:nvPr/>
        </p:nvSpPr>
        <p:spPr>
          <a:xfrm>
            <a:off x="8477250" y="2381250"/>
            <a:ext cx="2095500" cy="476250"/>
          </a:xfrm>
          <a:custGeom>
            <a:avLst/>
            <a:gdLst/>
            <a:ahLst/>
            <a:cxnLst/>
            <a:rect l="l" t="t" r="r" b="b"/>
            <a:pathLst>
              <a:path w="2095500" h="476250">
                <a:moveTo>
                  <a:pt x="2095500" y="4762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6" name="Line 46"/>
          <p:cNvSpPr/>
          <p:nvPr/>
        </p:nvSpPr>
        <p:spPr>
          <a:xfrm>
            <a:off x="8477250" y="295275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2095500" y="0"/>
                </a:moveTo>
                <a:lnTo>
                  <a:pt x="0" y="285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7" name="Line 47"/>
          <p:cNvSpPr/>
          <p:nvPr/>
        </p:nvSpPr>
        <p:spPr>
          <a:xfrm>
            <a:off x="8477250" y="304800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2095500" y="0"/>
                </a:moveTo>
                <a:lnTo>
                  <a:pt x="0" y="1047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8" name="Line 48"/>
          <p:cNvSpPr/>
          <p:nvPr/>
        </p:nvSpPr>
        <p:spPr>
          <a:xfrm>
            <a:off x="8477250" y="3143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2095500" y="0"/>
                </a:moveTo>
                <a:lnTo>
                  <a:pt x="0" y="1809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443421" cy="542639"/>
            <a:chOff x="457200" y="228600"/>
            <a:chExt cx="4443421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2247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0436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3/5 · Deposit → PlaceBid → Realtime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667000" y="1047750"/>
            <a:ext cx="6858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274823" y="1212056"/>
            <a:ext cx="16423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· Bidding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552700"/>
            <a:ext cx="419100" cy="1152239"/>
            <a:chOff x="933450" y="255270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1D4ED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420" y="351424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99343" y="2933700"/>
            <a:ext cx="499314" cy="1152239"/>
            <a:chOff x="10799343" y="2933700"/>
            <a:chExt cx="499314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933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3162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295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99343" y="3895249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3619500" y="1619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543487" y="1855470"/>
            <a:ext cx="8190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Xem phiên live</a:t>
            </a:r>
          </a:p>
        </p:txBody>
      </p:sp>
      <p:sp>
        <p:nvSpPr>
          <p:cNvPr id="24" name="Ellipse 24"/>
          <p:cNvSpPr/>
          <p:nvPr/>
        </p:nvSpPr>
        <p:spPr>
          <a:xfrm>
            <a:off x="3619500" y="2381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506968" y="2617470"/>
            <a:ext cx="8920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6" name="Ellipse 26"/>
          <p:cNvSpPr/>
          <p:nvPr/>
        </p:nvSpPr>
        <p:spPr>
          <a:xfrm>
            <a:off x="3619500" y="3143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422721" y="3379470"/>
            <a:ext cx="10605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cọc (Deposit)</a:t>
            </a:r>
          </a:p>
        </p:txBody>
      </p:sp>
      <p:sp>
        <p:nvSpPr>
          <p:cNvPr id="28" name="Ellipse 28"/>
          <p:cNvSpPr/>
          <p:nvPr/>
        </p:nvSpPr>
        <p:spPr>
          <a:xfrm>
            <a:off x="3619500" y="3905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690205" y="4141470"/>
            <a:ext cx="52559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30" name="Ellipse 30"/>
          <p:cNvSpPr/>
          <p:nvPr/>
        </p:nvSpPr>
        <p:spPr>
          <a:xfrm>
            <a:off x="3619500" y="4667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408320" y="4903470"/>
            <a:ext cx="10893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Watchlist</a:t>
            </a:r>
          </a:p>
        </p:txBody>
      </p:sp>
      <p:sp>
        <p:nvSpPr>
          <p:cNvPr id="32" name="Ellipse 32"/>
          <p:cNvSpPr/>
          <p:nvPr/>
        </p:nvSpPr>
        <p:spPr>
          <a:xfrm>
            <a:off x="6286500" y="2000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243614" y="2236470"/>
            <a:ext cx="75277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Xác nhận cọc</a:t>
            </a:r>
          </a:p>
        </p:txBody>
      </p:sp>
      <p:sp>
        <p:nvSpPr>
          <p:cNvPr id="34" name="Ellipse 34"/>
          <p:cNvSpPr/>
          <p:nvPr/>
        </p:nvSpPr>
        <p:spPr>
          <a:xfrm>
            <a:off x="6286500" y="29527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028582" y="3188970"/>
            <a:ext cx="118283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Kiểm tra anti-fraud</a:t>
            </a:r>
          </a:p>
        </p:txBody>
      </p:sp>
      <p:sp>
        <p:nvSpPr>
          <p:cNvPr id="36" name="Ellipse 36"/>
          <p:cNvSpPr/>
          <p:nvPr/>
        </p:nvSpPr>
        <p:spPr>
          <a:xfrm>
            <a:off x="6286500" y="3905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089252" y="4141470"/>
            <a:ext cx="10614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Anti-snipe gia hạn</a:t>
            </a:r>
          </a:p>
        </p:txBody>
      </p:sp>
      <p:sp>
        <p:nvSpPr>
          <p:cNvPr id="38" name="Ellipse 38"/>
          <p:cNvSpPr/>
          <p:nvPr/>
        </p:nvSpPr>
        <p:spPr>
          <a:xfrm>
            <a:off x="6286500" y="48577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072270" y="5093970"/>
            <a:ext cx="10954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40" name="Line 40"/>
          <p:cNvSpPr/>
          <p:nvPr/>
        </p:nvSpPr>
        <p:spPr>
          <a:xfrm>
            <a:off x="1619250" y="1905000"/>
            <a:ext cx="2000250" cy="952500"/>
          </a:xfrm>
          <a:custGeom>
            <a:avLst/>
            <a:gdLst/>
            <a:ahLst/>
            <a:cxnLst/>
            <a:rect l="l" t="t" r="r" b="b"/>
            <a:pathLst>
              <a:path w="2000250" h="952500">
                <a:moveTo>
                  <a:pt x="0" y="95250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1" name="Line 41"/>
          <p:cNvSpPr/>
          <p:nvPr/>
        </p:nvSpPr>
        <p:spPr>
          <a:xfrm>
            <a:off x="1619250" y="2667000"/>
            <a:ext cx="2000250" cy="285750"/>
          </a:xfrm>
          <a:custGeom>
            <a:avLst/>
            <a:gdLst/>
            <a:ahLst/>
            <a:cxnLst/>
            <a:rect l="l" t="t" r="r" b="b"/>
            <a:pathLst>
              <a:path w="2000250" h="285750">
                <a:moveTo>
                  <a:pt x="0" y="2857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2" name="Line 42"/>
          <p:cNvSpPr/>
          <p:nvPr/>
        </p:nvSpPr>
        <p:spPr>
          <a:xfrm>
            <a:off x="1619250" y="3048000"/>
            <a:ext cx="2000250" cy="381000"/>
          </a:xfrm>
          <a:custGeom>
            <a:avLst/>
            <a:gdLst/>
            <a:ahLst/>
            <a:cxnLst/>
            <a:rect l="l" t="t" r="r" b="b"/>
            <a:pathLst>
              <a:path w="2000250" h="381000">
                <a:moveTo>
                  <a:pt x="0" y="0"/>
                </a:moveTo>
                <a:lnTo>
                  <a:pt x="2000250" y="381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3" name="Line 43"/>
          <p:cNvSpPr/>
          <p:nvPr/>
        </p:nvSpPr>
        <p:spPr>
          <a:xfrm>
            <a:off x="1619250" y="3143250"/>
            <a:ext cx="2000250" cy="1047750"/>
          </a:xfrm>
          <a:custGeom>
            <a:avLst/>
            <a:gdLst/>
            <a:ahLst/>
            <a:cxnLst/>
            <a:rect l="l" t="t" r="r" b="b"/>
            <a:pathLst>
              <a:path w="2000250" h="1047750">
                <a:moveTo>
                  <a:pt x="0" y="0"/>
                </a:moveTo>
                <a:lnTo>
                  <a:pt x="2000250" y="10477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4" name="Line 44"/>
          <p:cNvSpPr/>
          <p:nvPr/>
        </p:nvSpPr>
        <p:spPr>
          <a:xfrm>
            <a:off x="1619250" y="3238500"/>
            <a:ext cx="2000250" cy="1714500"/>
          </a:xfrm>
          <a:custGeom>
            <a:avLst/>
            <a:gdLst/>
            <a:ahLst/>
            <a:cxnLst/>
            <a:rect l="l" t="t" r="r" b="b"/>
            <a:pathLst>
              <a:path w="2000250" h="1714500">
                <a:moveTo>
                  <a:pt x="0" y="0"/>
                </a:moveTo>
                <a:lnTo>
                  <a:pt x="2000250" y="1714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5" name="Line 45"/>
          <p:cNvSpPr/>
          <p:nvPr/>
        </p:nvSpPr>
        <p:spPr>
          <a:xfrm>
            <a:off x="8953500" y="2286000"/>
            <a:ext cx="1619250" cy="762000"/>
          </a:xfrm>
          <a:custGeom>
            <a:avLst/>
            <a:gdLst/>
            <a:ahLst/>
            <a:cxnLst/>
            <a:rect l="l" t="t" r="r" b="b"/>
            <a:pathLst>
              <a:path w="1619250" h="762000">
                <a:moveTo>
                  <a:pt x="1619250" y="7620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6" name="Line 46"/>
          <p:cNvSpPr/>
          <p:nvPr/>
        </p:nvSpPr>
        <p:spPr>
          <a:xfrm>
            <a:off x="8953500" y="3238500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7" name="Line 47"/>
          <p:cNvSpPr/>
          <p:nvPr/>
        </p:nvSpPr>
        <p:spPr>
          <a:xfrm>
            <a:off x="8953500" y="3333750"/>
            <a:ext cx="1619250" cy="857250"/>
          </a:xfrm>
          <a:custGeom>
            <a:avLst/>
            <a:gdLst/>
            <a:ahLst/>
            <a:cxnLst/>
            <a:rect l="l" t="t" r="r" b="b"/>
            <a:pathLst>
              <a:path w="1619250" h="857250">
                <a:moveTo>
                  <a:pt x="1619250" y="0"/>
                </a:moveTo>
                <a:lnTo>
                  <a:pt x="0" y="857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8" name="Line 48"/>
          <p:cNvSpPr/>
          <p:nvPr/>
        </p:nvSpPr>
        <p:spPr>
          <a:xfrm>
            <a:off x="8953500" y="3429000"/>
            <a:ext cx="1619250" cy="1714500"/>
          </a:xfrm>
          <a:custGeom>
            <a:avLst/>
            <a:gdLst/>
            <a:ahLst/>
            <a:cxnLst/>
            <a:rect l="l" t="t" r="r" b="b"/>
            <a:pathLst>
              <a:path w="1619250" h="1714500">
                <a:moveTo>
                  <a:pt x="1619250" y="0"/>
                </a:moveTo>
                <a:lnTo>
                  <a:pt x="0" y="1714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9" name="TextBox 4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420657" cy="542639"/>
            <a:chOff x="457200" y="228600"/>
            <a:chExt cx="5420657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52019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0551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4/5 · Finalize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667000" y="1047750"/>
            <a:ext cx="6858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191373" y="1212056"/>
            <a:ext cx="1809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· Checkout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266950"/>
            <a:ext cx="419100" cy="1152239"/>
            <a:chOff x="933450" y="226695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266950"/>
              <a:ext cx="228600" cy="228600"/>
            </a:xfrm>
            <a:prstGeom prst="ellipse">
              <a:avLst/>
            </a:prstGeom>
            <a:noFill/>
            <a:ln w="19050">
              <a:solidFill>
                <a:srgbClr val="1D4ED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4955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6289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283845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83845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420" y="322849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3343" y="4457700"/>
            <a:ext cx="499314" cy="1152239"/>
            <a:chOff x="893343" y="4457700"/>
            <a:chExt cx="499314" cy="1152239"/>
          </a:xfrm>
        </p:grpSpPr>
        <p:sp>
          <p:nvSpPr>
            <p:cNvPr id="15" name="Ellipse 15"/>
            <p:cNvSpPr/>
            <p:nvPr/>
          </p:nvSpPr>
          <p:spPr>
            <a:xfrm>
              <a:off x="1028700" y="4457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64748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" y="4686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3450" y="4819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90600" y="5029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43000" y="5029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6474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3343" y="5419249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761268" y="2933700"/>
            <a:ext cx="575465" cy="1152239"/>
            <a:chOff x="10761268" y="2933700"/>
            <a:chExt cx="575465" cy="1152239"/>
          </a:xfrm>
        </p:grpSpPr>
        <p:sp>
          <p:nvSpPr>
            <p:cNvPr id="22" name="Ellipse 22"/>
            <p:cNvSpPr/>
            <p:nvPr/>
          </p:nvSpPr>
          <p:spPr>
            <a:xfrm>
              <a:off x="10934700" y="2933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049000" y="3162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39450" y="3295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08966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0490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61268" y="3895249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</p:grpSp>
      <p:sp>
        <p:nvSpPr>
          <p:cNvPr id="29" name="Ellipse 29"/>
          <p:cNvSpPr/>
          <p:nvPr/>
        </p:nvSpPr>
        <p:spPr>
          <a:xfrm>
            <a:off x="3619500" y="1619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325235" y="1855470"/>
            <a:ext cx="12555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Nhận thông báo thắng</a:t>
            </a:r>
          </a:p>
        </p:txBody>
      </p:sp>
      <p:sp>
        <p:nvSpPr>
          <p:cNvPr id="31" name="Ellipse 31"/>
          <p:cNvSpPr/>
          <p:nvPr/>
        </p:nvSpPr>
        <p:spPr>
          <a:xfrm>
            <a:off x="3619500" y="247650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81538" y="2712720"/>
            <a:ext cx="114292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Payment Center</a:t>
            </a:r>
          </a:p>
        </p:txBody>
      </p:sp>
      <p:sp>
        <p:nvSpPr>
          <p:cNvPr id="33" name="Ellipse 33"/>
          <p:cNvSpPr/>
          <p:nvPr/>
        </p:nvSpPr>
        <p:spPr>
          <a:xfrm>
            <a:off x="3619500" y="33337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558703" y="3569970"/>
            <a:ext cx="7885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35" name="Ellipse 35"/>
          <p:cNvSpPr/>
          <p:nvPr/>
        </p:nvSpPr>
        <p:spPr>
          <a:xfrm>
            <a:off x="3619500" y="419100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421360" y="4427220"/>
            <a:ext cx="10632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</a:t>
            </a:r>
          </a:p>
        </p:txBody>
      </p:sp>
      <p:sp>
        <p:nvSpPr>
          <p:cNvPr id="37" name="Ellipse 37"/>
          <p:cNvSpPr/>
          <p:nvPr/>
        </p:nvSpPr>
        <p:spPr>
          <a:xfrm>
            <a:off x="3619500" y="5048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491495" y="5284470"/>
            <a:ext cx="9230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COD</a:t>
            </a:r>
          </a:p>
        </p:txBody>
      </p:sp>
      <p:sp>
        <p:nvSpPr>
          <p:cNvPr id="39" name="Ellipse 39"/>
          <p:cNvSpPr/>
          <p:nvPr/>
        </p:nvSpPr>
        <p:spPr>
          <a:xfrm>
            <a:off x="6286500" y="2000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042214" y="2236470"/>
            <a:ext cx="11555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41" name="Ellipse 41"/>
          <p:cNvSpPr/>
          <p:nvPr/>
        </p:nvSpPr>
        <p:spPr>
          <a:xfrm>
            <a:off x="6286500" y="29527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947726" y="3188970"/>
            <a:ext cx="134454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43" name="Ellipse 43"/>
          <p:cNvSpPr/>
          <p:nvPr/>
        </p:nvSpPr>
        <p:spPr>
          <a:xfrm>
            <a:off x="6286500" y="39052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218754" y="4141470"/>
            <a:ext cx="80249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Capture / IPN</a:t>
            </a:r>
          </a:p>
        </p:txBody>
      </p:sp>
      <p:sp>
        <p:nvSpPr>
          <p:cNvPr id="45" name="Ellipse 45"/>
          <p:cNvSpPr/>
          <p:nvPr/>
        </p:nvSpPr>
        <p:spPr>
          <a:xfrm>
            <a:off x="6286500" y="4857750"/>
            <a:ext cx="2667000" cy="5715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89252" y="5093970"/>
            <a:ext cx="106149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Ghi nhận hoàn tiền</a:t>
            </a:r>
          </a:p>
        </p:txBody>
      </p:sp>
      <p:sp>
        <p:nvSpPr>
          <p:cNvPr id="47" name="Line 47"/>
          <p:cNvSpPr/>
          <p:nvPr/>
        </p:nvSpPr>
        <p:spPr>
          <a:xfrm>
            <a:off x="1619250" y="190500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0" y="6667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8" name="Line 48"/>
          <p:cNvSpPr/>
          <p:nvPr/>
        </p:nvSpPr>
        <p:spPr>
          <a:xfrm>
            <a:off x="1619250" y="2667000"/>
            <a:ext cx="2000250" cy="95250"/>
          </a:xfrm>
          <a:custGeom>
            <a:avLst/>
            <a:gdLst/>
            <a:ahLst/>
            <a:cxnLst/>
            <a:rect l="l" t="t" r="r" b="b"/>
            <a:pathLst>
              <a:path w="2000250" h="95250">
                <a:moveTo>
                  <a:pt x="0" y="0"/>
                </a:moveTo>
                <a:lnTo>
                  <a:pt x="2000250" y="95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9" name="Line 49"/>
          <p:cNvSpPr/>
          <p:nvPr/>
        </p:nvSpPr>
        <p:spPr>
          <a:xfrm>
            <a:off x="1619250" y="276225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0" y="0"/>
                </a:moveTo>
                <a:lnTo>
                  <a:pt x="2000250" y="857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50" name="Line 50"/>
          <p:cNvSpPr/>
          <p:nvPr/>
        </p:nvSpPr>
        <p:spPr>
          <a:xfrm>
            <a:off x="1619250" y="2857500"/>
            <a:ext cx="2000250" cy="1619250"/>
          </a:xfrm>
          <a:custGeom>
            <a:avLst/>
            <a:gdLst/>
            <a:ahLst/>
            <a:cxnLst/>
            <a:rect l="l" t="t" r="r" b="b"/>
            <a:pathLst>
              <a:path w="2000250" h="1619250">
                <a:moveTo>
                  <a:pt x="0" y="0"/>
                </a:moveTo>
                <a:lnTo>
                  <a:pt x="2000250" y="1619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51" name="Line 51"/>
          <p:cNvSpPr/>
          <p:nvPr/>
        </p:nvSpPr>
        <p:spPr>
          <a:xfrm>
            <a:off x="1619250" y="2952750"/>
            <a:ext cx="2000250" cy="2381250"/>
          </a:xfrm>
          <a:custGeom>
            <a:avLst/>
            <a:gdLst/>
            <a:ahLst/>
            <a:cxnLst/>
            <a:rect l="l" t="t" r="r" b="b"/>
            <a:pathLst>
              <a:path w="2000250" h="2381250">
                <a:moveTo>
                  <a:pt x="0" y="0"/>
                </a:moveTo>
                <a:lnTo>
                  <a:pt x="2000250" y="2381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52" name="Line 52"/>
          <p:cNvSpPr/>
          <p:nvPr/>
        </p:nvSpPr>
        <p:spPr>
          <a:xfrm>
            <a:off x="1619250" y="2286000"/>
            <a:ext cx="2000250" cy="2476500"/>
          </a:xfrm>
          <a:custGeom>
            <a:avLst/>
            <a:gdLst/>
            <a:ahLst/>
            <a:cxnLst/>
            <a:rect l="l" t="t" r="r" b="b"/>
            <a:pathLst>
              <a:path w="2000250" h="2476500">
                <a:moveTo>
                  <a:pt x="0" y="247650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53" name="Line 53"/>
          <p:cNvSpPr/>
          <p:nvPr/>
        </p:nvSpPr>
        <p:spPr>
          <a:xfrm>
            <a:off x="1619250" y="3238500"/>
            <a:ext cx="2000250" cy="1619250"/>
          </a:xfrm>
          <a:custGeom>
            <a:avLst/>
            <a:gdLst/>
            <a:ahLst/>
            <a:cxnLst/>
            <a:rect l="l" t="t" r="r" b="b"/>
            <a:pathLst>
              <a:path w="2000250" h="1619250">
                <a:moveTo>
                  <a:pt x="0" y="16192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54" name="Line 54"/>
          <p:cNvSpPr/>
          <p:nvPr/>
        </p:nvSpPr>
        <p:spPr>
          <a:xfrm>
            <a:off x="8953500" y="3048000"/>
            <a:ext cx="1619250" cy="1143000"/>
          </a:xfrm>
          <a:custGeom>
            <a:avLst/>
            <a:gdLst/>
            <a:ahLst/>
            <a:cxnLst/>
            <a:rect l="l" t="t" r="r" b="b"/>
            <a:pathLst>
              <a:path w="1619250" h="1143000">
                <a:moveTo>
                  <a:pt x="1619250" y="0"/>
                </a:moveTo>
                <a:lnTo>
                  <a:pt x="0" y="1143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55" name="Line 55"/>
          <p:cNvSpPr/>
          <p:nvPr/>
        </p:nvSpPr>
        <p:spPr>
          <a:xfrm>
            <a:off x="8953500" y="3238500"/>
            <a:ext cx="1619250" cy="1905000"/>
          </a:xfrm>
          <a:custGeom>
            <a:avLst/>
            <a:gdLst/>
            <a:ahLst/>
            <a:cxnLst/>
            <a:rect l="l" t="t" r="r" b="b"/>
            <a:pathLst>
              <a:path w="1619250" h="1905000">
                <a:moveTo>
                  <a:pt x="1619250" y="0"/>
                </a:moveTo>
                <a:lnTo>
                  <a:pt x="0" y="1905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grpSp>
        <p:nvGrpSpPr>
          <p:cNvPr id="58" name="Group 5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89600" cy="542639"/>
            <a:chOff x="457200" y="228600"/>
            <a:chExt cx="4389600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1709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9641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5/5 · Add to cart → Invoice → Thanh toán (7 ngày)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857500" y="1047750"/>
            <a:ext cx="6477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235338" y="1212056"/>
            <a:ext cx="172132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· Buy Now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3450" y="2743200"/>
            <a:ext cx="419100" cy="1152239"/>
            <a:chOff x="933450" y="2743200"/>
            <a:chExt cx="419100" cy="1152239"/>
          </a:xfrm>
        </p:grpSpPr>
        <p:sp>
          <p:nvSpPr>
            <p:cNvPr id="8" name="Ellipse 8"/>
            <p:cNvSpPr/>
            <p:nvPr/>
          </p:nvSpPr>
          <p:spPr>
            <a:xfrm>
              <a:off x="1028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1D4ED8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420" y="3704749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99343" y="2743200"/>
            <a:ext cx="499314" cy="1152239"/>
            <a:chOff x="10799343" y="2743200"/>
            <a:chExt cx="499314" cy="1152239"/>
          </a:xfrm>
        </p:grpSpPr>
        <p:sp>
          <p:nvSpPr>
            <p:cNvPr id="15" name="Ellipse 15"/>
            <p:cNvSpPr/>
            <p:nvPr/>
          </p:nvSpPr>
          <p:spPr>
            <a:xfrm>
              <a:off x="10934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F172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F172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99343" y="3704749"/>
              <a:ext cx="4993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4667250" y="1600200"/>
            <a:ext cx="28575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8812" y="1855470"/>
            <a:ext cx="1154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Xem listing Buy Now</a:t>
            </a:r>
          </a:p>
        </p:txBody>
      </p:sp>
      <p:sp>
        <p:nvSpPr>
          <p:cNvPr id="24" name="Ellipse 24"/>
          <p:cNvSpPr/>
          <p:nvPr/>
        </p:nvSpPr>
        <p:spPr>
          <a:xfrm>
            <a:off x="4667250" y="2362200"/>
            <a:ext cx="28575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501923" y="2617470"/>
            <a:ext cx="11881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Thêm vào giỏ (Cart)</a:t>
            </a:r>
          </a:p>
        </p:txBody>
      </p:sp>
      <p:sp>
        <p:nvSpPr>
          <p:cNvPr id="26" name="Ellipse 26"/>
          <p:cNvSpPr/>
          <p:nvPr/>
        </p:nvSpPr>
        <p:spPr>
          <a:xfrm>
            <a:off x="4667250" y="3124200"/>
            <a:ext cx="28575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489242" y="3379470"/>
            <a:ext cx="12135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hóa đơn buy_now</a:t>
            </a:r>
          </a:p>
        </p:txBody>
      </p:sp>
      <p:sp>
        <p:nvSpPr>
          <p:cNvPr id="28" name="Ellipse 28"/>
          <p:cNvSpPr/>
          <p:nvPr/>
        </p:nvSpPr>
        <p:spPr>
          <a:xfrm>
            <a:off x="4667250" y="3886200"/>
            <a:ext cx="28575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383273" y="4141470"/>
            <a:ext cx="14254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trong 7 ngày</a:t>
            </a:r>
          </a:p>
        </p:txBody>
      </p:sp>
      <p:sp>
        <p:nvSpPr>
          <p:cNvPr id="30" name="Ellipse 30"/>
          <p:cNvSpPr/>
          <p:nvPr/>
        </p:nvSpPr>
        <p:spPr>
          <a:xfrm>
            <a:off x="4667250" y="4648200"/>
            <a:ext cx="2857500" cy="6096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480265" y="4903470"/>
            <a:ext cx="12314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Hủy / hết hạn invoice</a:t>
            </a:r>
          </a:p>
        </p:txBody>
      </p:sp>
      <p:sp>
        <p:nvSpPr>
          <p:cNvPr id="32" name="Ellipse 32"/>
          <p:cNvSpPr/>
          <p:nvPr/>
        </p:nvSpPr>
        <p:spPr>
          <a:xfrm>
            <a:off x="4667250" y="5448300"/>
            <a:ext cx="2857500" cy="533400"/>
          </a:xfrm>
          <a:prstGeom prst="ellipse">
            <a:avLst/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653011" y="5665470"/>
            <a:ext cx="8859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Nhận thông báo</a:t>
            </a:r>
          </a:p>
        </p:txBody>
      </p:sp>
      <p:sp>
        <p:nvSpPr>
          <p:cNvPr id="34" name="Line 34"/>
          <p:cNvSpPr/>
          <p:nvPr/>
        </p:nvSpPr>
        <p:spPr>
          <a:xfrm>
            <a:off x="1619250" y="1905000"/>
            <a:ext cx="3048000" cy="1143000"/>
          </a:xfrm>
          <a:custGeom>
            <a:avLst/>
            <a:gdLst/>
            <a:ahLst/>
            <a:cxnLst/>
            <a:rect l="l" t="t" r="r" b="b"/>
            <a:pathLst>
              <a:path w="3048000" h="1143000">
                <a:moveTo>
                  <a:pt x="0" y="1143000"/>
                </a:moveTo>
                <a:lnTo>
                  <a:pt x="304800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5" name="Line 35"/>
          <p:cNvSpPr/>
          <p:nvPr/>
        </p:nvSpPr>
        <p:spPr>
          <a:xfrm>
            <a:off x="161925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0" y="476250"/>
                </a:moveTo>
                <a:lnTo>
                  <a:pt x="3048000" y="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6" name="Line 36"/>
          <p:cNvSpPr/>
          <p:nvPr/>
        </p:nvSpPr>
        <p:spPr>
          <a:xfrm>
            <a:off x="1619250" y="3238500"/>
            <a:ext cx="3048000" cy="190500"/>
          </a:xfrm>
          <a:custGeom>
            <a:avLst/>
            <a:gdLst/>
            <a:ahLst/>
            <a:cxnLst/>
            <a:rect l="l" t="t" r="r" b="b"/>
            <a:pathLst>
              <a:path w="3048000" h="190500">
                <a:moveTo>
                  <a:pt x="0" y="0"/>
                </a:moveTo>
                <a:lnTo>
                  <a:pt x="3048000" y="190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7" name="Line 37"/>
          <p:cNvSpPr/>
          <p:nvPr/>
        </p:nvSpPr>
        <p:spPr>
          <a:xfrm>
            <a:off x="1619250" y="3333750"/>
            <a:ext cx="3048000" cy="857250"/>
          </a:xfrm>
          <a:custGeom>
            <a:avLst/>
            <a:gdLst/>
            <a:ahLst/>
            <a:cxnLst/>
            <a:rect l="l" t="t" r="r" b="b"/>
            <a:pathLst>
              <a:path w="3048000" h="857250">
                <a:moveTo>
                  <a:pt x="0" y="0"/>
                </a:moveTo>
                <a:lnTo>
                  <a:pt x="3048000" y="85725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8" name="Line 38"/>
          <p:cNvSpPr/>
          <p:nvPr/>
        </p:nvSpPr>
        <p:spPr>
          <a:xfrm>
            <a:off x="1619250" y="342900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3048000" h="1524000">
                <a:moveTo>
                  <a:pt x="0" y="0"/>
                </a:moveTo>
                <a:lnTo>
                  <a:pt x="3048000" y="1524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39" name="Line 39"/>
          <p:cNvSpPr/>
          <p:nvPr/>
        </p:nvSpPr>
        <p:spPr>
          <a:xfrm>
            <a:off x="7524750" y="2857500"/>
            <a:ext cx="3048000" cy="571500"/>
          </a:xfrm>
          <a:custGeom>
            <a:avLst/>
            <a:gdLst/>
            <a:ahLst/>
            <a:cxnLst/>
            <a:rect l="l" t="t" r="r" b="b"/>
            <a:pathLst>
              <a:path w="3048000" h="571500">
                <a:moveTo>
                  <a:pt x="3048000" y="0"/>
                </a:moveTo>
                <a:lnTo>
                  <a:pt x="0" y="571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0" name="Line 40"/>
          <p:cNvSpPr/>
          <p:nvPr/>
        </p:nvSpPr>
        <p:spPr>
          <a:xfrm>
            <a:off x="7524750" y="304800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3048000" y="0"/>
                </a:moveTo>
                <a:lnTo>
                  <a:pt x="0" y="19050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sp>
        <p:nvSpPr>
          <p:cNvPr id="41" name="Line 41"/>
          <p:cNvSpPr/>
          <p:nvPr/>
        </p:nvSpPr>
        <p:spPr>
          <a:xfrm>
            <a:off x="7524750" y="3238500"/>
            <a:ext cx="3048000" cy="2476500"/>
          </a:xfrm>
          <a:custGeom>
            <a:avLst/>
            <a:gdLst/>
            <a:ahLst/>
            <a:cxnLst/>
            <a:rect l="l" t="t" r="r" b="b"/>
            <a:pathLst>
              <a:path w="3048000" h="2476500">
                <a:moveTo>
                  <a:pt x="3048000" y="0"/>
                </a:moveTo>
                <a:lnTo>
                  <a:pt x="0" y="2476500"/>
                </a:lnTo>
              </a:path>
            </a:pathLst>
          </a:custGeom>
          <a:noFill/>
          <a:ln w="11430">
            <a:solidFill>
              <a:srgbClr val="64748B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42" name="TextBox 42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266055" cy="542639"/>
            <a:chOff x="457200" y="228600"/>
            <a:chExt cx="4266055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0473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2887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1/5 · Dual cookie: User vs Admin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21764" y="980599"/>
            <a:ext cx="31897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751093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426173" y="980599"/>
            <a:ext cx="3881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428750"/>
            <a:ext cx="190500" cy="190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83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9145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10584" y="2055495"/>
            <a:ext cx="9413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Đăng ký / Login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295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600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2076450" y="2676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248495" y="2938462"/>
            <a:ext cx="26550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Loại?</a:t>
            </a:r>
          </a:p>
        </p:txBody>
      </p:sp>
      <p:sp>
        <p:nvSpPr>
          <p:cNvPr id="24" name="Line 24"/>
          <p:cNvSpPr/>
          <p:nvPr/>
        </p:nvSpPr>
        <p:spPr>
          <a:xfrm>
            <a:off x="2686050" y="2981325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933950" y="29432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424238" y="2824162"/>
            <a:ext cx="2347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27908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408954" y="2931795"/>
            <a:ext cx="118359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Validate credential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3171825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962650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0" y="36290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14774" y="3769995"/>
            <a:ext cx="9719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Set User cookie</a:t>
            </a:r>
          </a:p>
        </p:txBody>
      </p:sp>
      <p:sp>
        <p:nvSpPr>
          <p:cNvPr id="33" name="Line 33"/>
          <p:cNvSpPr/>
          <p:nvPr/>
        </p:nvSpPr>
        <p:spPr>
          <a:xfrm>
            <a:off x="6000750" y="4010025"/>
            <a:ext cx="9525" cy="466725"/>
          </a:xfrm>
          <a:custGeom>
            <a:avLst/>
            <a:gdLst/>
            <a:ahLst/>
            <a:cxnLst/>
            <a:rect l="l" t="t" r="r" b="b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59626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530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374882" y="4674870"/>
            <a:ext cx="1251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Redirect trang User</a:t>
            </a:r>
          </a:p>
        </p:txBody>
      </p:sp>
      <p:sp>
        <p:nvSpPr>
          <p:cNvPr id="37" name="Line 37"/>
          <p:cNvSpPr/>
          <p:nvPr/>
        </p:nvSpPr>
        <p:spPr>
          <a:xfrm>
            <a:off x="60007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5886450" y="5553075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943600" y="5610225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2381250" y="3286125"/>
            <a:ext cx="6191250" cy="523875"/>
          </a:xfrm>
          <a:custGeom>
            <a:avLst/>
            <a:gdLst/>
            <a:ahLst/>
            <a:cxnLst/>
            <a:rect l="l" t="t" r="r" b="b"/>
            <a:pathLst>
              <a:path w="6191250" h="523875">
                <a:moveTo>
                  <a:pt x="0" y="0"/>
                </a:moveTo>
                <a:lnTo>
                  <a:pt x="0" y="523875"/>
                </a:lnTo>
                <a:lnTo>
                  <a:pt x="6191250" y="523875"/>
                </a:lnTo>
              </a:path>
            </a:pathLst>
          </a:custGeom>
          <a:noFill/>
          <a:ln w="14288">
            <a:solidFill>
              <a:srgbClr val="1D4ED8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553450" y="3771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2238" y="3586162"/>
            <a:ext cx="2852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72500" y="36195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226303" y="3760470"/>
            <a:ext cx="7878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Login /Admin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4000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5725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9102509" y="4674870"/>
            <a:ext cx="103548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Set Admin cookie</a:t>
            </a:r>
          </a:p>
        </p:txBody>
      </p:sp>
      <p:sp>
        <p:nvSpPr>
          <p:cNvPr id="49" name="Line 49"/>
          <p:cNvSpPr/>
          <p:nvPr/>
        </p:nvSpPr>
        <p:spPr>
          <a:xfrm>
            <a:off x="96202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505950" y="5553075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9563100" y="5610225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428750" y="4953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8FAFC"/>
          </a:solidFill>
          <a:ln w="9525">
            <a:solidFill>
              <a:srgbClr val="BFDBFE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035713" y="5130641"/>
            <a:ext cx="69107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Dual session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995345" y="5348288"/>
            <a:ext cx="77181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 cookie độc lập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5" name="TextBox 55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15078" cy="542639"/>
            <a:chOff x="457200" y="228600"/>
            <a:chExt cx="481507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5963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3961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2/5 · confirming → Approve/Reject → live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80534" y="980599"/>
            <a:ext cx="4014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Seller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806673" y="980599"/>
            <a:ext cx="3881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70593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14190" y="1912620"/>
            <a:ext cx="9341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Điền form /Sell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62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76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951653" y="2626995"/>
            <a:ext cx="85919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Submit listing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7652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638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76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084683" y="2626995"/>
            <a:ext cx="145113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Nhận status confirming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76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257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3337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345350" y="3484245"/>
            <a:ext cx="9298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Duyệt hàng chờ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7338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1D4E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706808" y="4433888"/>
            <a:ext cx="2068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6" name="Freeform 36"/>
          <p:cNvSpPr/>
          <p:nvPr/>
        </p:nvSpPr>
        <p:spPr>
          <a:xfrm>
            <a:off x="2857500" y="3619500"/>
            <a:ext cx="2647950" cy="857250"/>
          </a:xfrm>
          <a:custGeom>
            <a:avLst/>
            <a:gdLst/>
            <a:ahLst/>
            <a:cxnLst/>
            <a:rect l="l" t="t" r="r" b="b"/>
            <a:pathLst>
              <a:path w="2647950" h="857250">
                <a:moveTo>
                  <a:pt x="26479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33738" y="4300538"/>
            <a:ext cx="32037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428750" y="3333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4288">
            <a:solidFill>
              <a:srgbClr val="DC2626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840020" y="3484245"/>
            <a:ext cx="10824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991B1B"/>
                </a:solidFill>
                <a:latin typeface="+mn-lt"/>
                <a:ea typeface="+mn-ea"/>
                <a:cs typeface="+mn-cs"/>
              </a:rPr>
              <a:t>Nhận lý do từ chối</a:t>
            </a:r>
          </a:p>
        </p:txBody>
      </p:sp>
      <p:sp>
        <p:nvSpPr>
          <p:cNvPr id="41" name="Freeform 41"/>
          <p:cNvSpPr/>
          <p:nvPr/>
        </p:nvSpPr>
        <p:spPr>
          <a:xfrm>
            <a:off x="2381250" y="3048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DC2626"/>
            </a:solidFill>
            <a:custDash>
              <a:ds d="333333" sp="25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947738" y="3062288"/>
            <a:ext cx="583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5810250" y="47815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772150" y="5114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95988" y="4967288"/>
            <a:ext cx="40138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5191125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558617" y="5341620"/>
            <a:ext cx="5032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8" name="Line 48"/>
          <p:cNvSpPr/>
          <p:nvPr/>
        </p:nvSpPr>
        <p:spPr>
          <a:xfrm>
            <a:off x="6858000" y="5391150"/>
            <a:ext cx="1447800" cy="9525"/>
          </a:xfrm>
          <a:custGeom>
            <a:avLst/>
            <a:gdLst/>
            <a:ahLst/>
            <a:cxnLst/>
            <a:rect l="l" t="t" r="r" b="b"/>
            <a:pathLst>
              <a:path w="1447800" h="952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305800" y="5353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0" y="5191125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5247" y="5341620"/>
            <a:ext cx="9700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52" name="Line 52"/>
          <p:cNvSpPr/>
          <p:nvPr/>
        </p:nvSpPr>
        <p:spPr>
          <a:xfrm>
            <a:off x="9620250" y="5591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582150" y="5829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505950" y="5981700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9563100" y="6038850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61898" cy="542639"/>
            <a:chOff x="457200" y="228600"/>
            <a:chExt cx="4361898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1432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4657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3/5 · Deposit → Bid → SignalR / Anti-fraud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55045" y="980599"/>
            <a:ext cx="395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27143" y="980599"/>
            <a:ext cx="575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27468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53189" y="980599"/>
            <a:ext cx="5818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500668" y="1903095"/>
            <a:ext cx="90391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Chọn phiên live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484530" y="2569845"/>
            <a:ext cx="9361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7" name="Line 27"/>
          <p:cNvSpPr/>
          <p:nvPr/>
        </p:nvSpPr>
        <p:spPr>
          <a:xfrm>
            <a:off x="2905125" y="261937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7338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273873" y="2569845"/>
            <a:ext cx="9772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Initiate Deposit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7244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169548" y="3379470"/>
            <a:ext cx="11859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PayPal Capture cọc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0" y="342900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913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926327" y="3379470"/>
            <a:ext cx="138734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Registration approved</a:t>
            </a:r>
          </a:p>
        </p:txBody>
      </p:sp>
      <p:sp>
        <p:nvSpPr>
          <p:cNvPr id="39" name="Line 39"/>
          <p:cNvSpPr/>
          <p:nvPr/>
        </p:nvSpPr>
        <p:spPr>
          <a:xfrm>
            <a:off x="1952625" y="2809875"/>
            <a:ext cx="9525" cy="923925"/>
          </a:xfrm>
          <a:custGeom>
            <a:avLst/>
            <a:gdLst/>
            <a:ahLst/>
            <a:cxnLst/>
            <a:rect l="l" t="t" r="r" b="b"/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1914525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000125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4288">
            <a:solidFill>
              <a:srgbClr val="1D4ED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652655" y="3942874"/>
            <a:ext cx="59994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43" name="Line 43"/>
          <p:cNvSpPr/>
          <p:nvPr/>
        </p:nvSpPr>
        <p:spPr>
          <a:xfrm>
            <a:off x="2905125" y="4000500"/>
            <a:ext cx="3686175" cy="9525"/>
          </a:xfrm>
          <a:custGeom>
            <a:avLst/>
            <a:gdLst/>
            <a:ahLst/>
            <a:cxnLst/>
            <a:rect l="l" t="t" r="r" b="b"/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67500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08824" y="3950970"/>
            <a:ext cx="122235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Validate bid + fraud</a:t>
            </a:r>
          </a:p>
        </p:txBody>
      </p:sp>
      <p:sp>
        <p:nvSpPr>
          <p:cNvPr id="47" name="Line 47"/>
          <p:cNvSpPr/>
          <p:nvPr/>
        </p:nvSpPr>
        <p:spPr>
          <a:xfrm>
            <a:off x="7620000" y="4191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581900" y="4591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7334250" y="476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1D4ED8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444207" y="5005388"/>
            <a:ext cx="35158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Hợp lệ?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0" y="4191000"/>
            <a:ext cx="2571750" cy="857250"/>
          </a:xfrm>
          <a:custGeom>
            <a:avLst/>
            <a:gdLst/>
            <a:ahLst/>
            <a:cxnLst/>
            <a:rect l="l" t="t" r="r" b="b"/>
            <a:pathLst>
              <a:path w="2571750" h="857250">
                <a:moveTo>
                  <a:pt x="25717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48238" y="4872038"/>
            <a:ext cx="3509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Từ chối</a:t>
            </a:r>
          </a:p>
        </p:txBody>
      </p:sp>
      <p:sp>
        <p:nvSpPr>
          <p:cNvPr id="53" name="Line 53"/>
          <p:cNvSpPr/>
          <p:nvPr/>
        </p:nvSpPr>
        <p:spPr>
          <a:xfrm>
            <a:off x="7905750" y="504825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9258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6738" y="4872038"/>
            <a:ext cx="14820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OK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3345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712121" y="4998720"/>
            <a:ext cx="11497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58" name="Line 58"/>
          <p:cNvSpPr/>
          <p:nvPr/>
        </p:nvSpPr>
        <p:spPr>
          <a:xfrm>
            <a:off x="10287000" y="52387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0248900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34500" y="5715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643758" y="5855970"/>
            <a:ext cx="12864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Anti-snipe (nếu cần)</a:t>
            </a:r>
          </a:p>
        </p:txBody>
      </p:sp>
      <p:sp>
        <p:nvSpPr>
          <p:cNvPr id="62" name="Line 62"/>
          <p:cNvSpPr/>
          <p:nvPr/>
        </p:nvSpPr>
        <p:spPr>
          <a:xfrm>
            <a:off x="10287000" y="6096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10248900" y="621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172700" y="6315075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229850" y="6372225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6" name="TextBox 66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339877" cy="542639"/>
            <a:chOff x="457200" y="228600"/>
            <a:chExt cx="5339877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51211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183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4/5 · Worker →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02968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17295" y="980599"/>
            <a:ext cx="395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89393" y="980599"/>
            <a:ext cx="575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87477" y="980599"/>
            <a:ext cx="5132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Kết quả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554661" y="1903095"/>
            <a:ext cx="7959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Phiên hết giờ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46187" y="2569845"/>
            <a:ext cx="12128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27" name="Line 27"/>
          <p:cNvSpPr/>
          <p:nvPr/>
        </p:nvSpPr>
        <p:spPr>
          <a:xfrm>
            <a:off x="1952625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1914525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246975" y="3388995"/>
            <a:ext cx="14113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31" name="Line 31"/>
          <p:cNvSpPr/>
          <p:nvPr/>
        </p:nvSpPr>
        <p:spPr>
          <a:xfrm>
            <a:off x="2905125" y="343852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33800" y="3400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262629" y="3388995"/>
            <a:ext cx="9997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Thông báo thắng</a:t>
            </a:r>
          </a:p>
        </p:txBody>
      </p:sp>
      <p:sp>
        <p:nvSpPr>
          <p:cNvPr id="35" name="Line 35"/>
          <p:cNvSpPr/>
          <p:nvPr/>
        </p:nvSpPr>
        <p:spPr>
          <a:xfrm>
            <a:off x="4762500" y="3638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72440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0" y="4095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428091" y="4236720"/>
            <a:ext cx="6688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Mở /Order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44767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4724400" y="4781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348726" y="4998720"/>
            <a:ext cx="8275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0" y="50482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6838950" y="4743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1D4ED8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025830" y="5005388"/>
            <a:ext cx="23583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47" name="Line 47"/>
          <p:cNvSpPr/>
          <p:nvPr/>
        </p:nvSpPr>
        <p:spPr>
          <a:xfrm>
            <a:off x="7448550" y="5048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8496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710488" y="4872038"/>
            <a:ext cx="3232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72500" y="485775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294403" y="4998720"/>
            <a:ext cx="9374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Capture PayPal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0" y="535305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0" y="0"/>
                </a:moveTo>
                <a:lnTo>
                  <a:pt x="0" y="361950"/>
                </a:lnTo>
                <a:lnTo>
                  <a:pt x="1428750" y="361950"/>
                </a:lnTo>
              </a:path>
            </a:pathLst>
          </a:custGeom>
          <a:noFill/>
          <a:ln w="14288">
            <a:solidFill>
              <a:srgbClr val="1D4ED8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8553450" y="5676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D4ED8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329488" y="5538788"/>
            <a:ext cx="2068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COD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572500" y="552450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364821" y="5665470"/>
            <a:ext cx="7966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Ghi nhận COD</a:t>
            </a:r>
          </a:p>
        </p:txBody>
      </p:sp>
      <p:sp>
        <p:nvSpPr>
          <p:cNvPr id="57" name="Line 57"/>
          <p:cNvSpPr/>
          <p:nvPr/>
        </p:nvSpPr>
        <p:spPr>
          <a:xfrm>
            <a:off x="9763125" y="5905500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9725025" y="616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9648825" y="6315075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9705975" y="6372225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1" name="TextBox 61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306157" cy="542639"/>
            <a:chOff x="457200" y="228600"/>
            <a:chExt cx="4306157" cy="54263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265748"/>
              <a:ext cx="40874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847" y="580549"/>
              <a:ext cx="3778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Luồng chính 5/5 · Cart → Invoice → Thanh toán trong 7 ngày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83670" y="980599"/>
            <a:ext cx="3951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51093" y="980599"/>
            <a:ext cx="4993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32518" y="980599"/>
            <a:ext cx="5754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990879" y="1903095"/>
            <a:ext cx="7807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Xem Buy Now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019023" y="2569845"/>
            <a:ext cx="7244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Add to Cart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1937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2887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189499" y="2569845"/>
            <a:ext cx="12415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Tạo invoice buy_now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238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4288">
            <a:solidFill>
              <a:srgbClr val="1D4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342155" y="3388995"/>
            <a:ext cx="93619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Deadline 7 ngày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638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392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07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1D4E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92330" y="4338638"/>
            <a:ext cx="23583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36" name="Line 36"/>
          <p:cNvSpPr/>
          <p:nvPr/>
        </p:nvSpPr>
        <p:spPr>
          <a:xfrm>
            <a:off x="6115050" y="43815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4288">
            <a:solidFill>
              <a:srgbClr val="16A34A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8305800" y="434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62738" y="4205288"/>
            <a:ext cx="5429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16A34A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191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218558" y="4331970"/>
            <a:ext cx="8033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41" name="Line 41"/>
          <p:cNvSpPr/>
          <p:nvPr/>
        </p:nvSpPr>
        <p:spPr>
          <a:xfrm>
            <a:off x="9620250" y="45720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95821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382000" y="51435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4288">
            <a:solidFill>
              <a:srgbClr val="16A34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94987" y="5284470"/>
            <a:ext cx="1050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166534"/>
                </a:solidFill>
                <a:latin typeface="+mn-lt"/>
                <a:ea typeface="+mn-ea"/>
                <a:cs typeface="+mn-cs"/>
              </a:rPr>
              <a:t>Order completed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55245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5924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505950" y="6124575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9563100" y="6181725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2857500" y="361950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2647950" y="762000"/>
                </a:moveTo>
                <a:lnTo>
                  <a:pt x="0" y="7620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DC2626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233738" y="4205288"/>
            <a:ext cx="6597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50" dirty="0">
                <a:solidFill>
                  <a:srgbClr val="DC2626"/>
                </a:solidFill>
                <a:latin typeface="+mn-lt"/>
                <a:ea typeface="+mn-ea"/>
                <a:cs typeface="+mn-cs"/>
              </a:rPr>
              <a:t>Hủy / hết hạn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428750" y="3333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4288">
            <a:solidFill>
              <a:srgbClr val="DC2626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2037457" y="3474720"/>
            <a:ext cx="6875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991B1B"/>
                </a:solidFill>
                <a:latin typeface="+mn-lt"/>
                <a:ea typeface="+mn-ea"/>
                <a:cs typeface="+mn-cs"/>
              </a:rPr>
              <a:t>Hủy invoice</a:t>
            </a:r>
          </a:p>
        </p:txBody>
      </p:sp>
      <p:sp>
        <p:nvSpPr>
          <p:cNvPr id="54" name="Line 54"/>
          <p:cNvSpPr/>
          <p:nvPr/>
        </p:nvSpPr>
        <p:spPr>
          <a:xfrm>
            <a:off x="2381250" y="371475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F172A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234315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F172A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266950" y="4362450"/>
            <a:ext cx="228600" cy="228600"/>
          </a:xfrm>
          <a:prstGeom prst="ellipse">
            <a:avLst/>
          </a:prstGeom>
          <a:noFill/>
          <a:ln w="28575">
            <a:solidFill>
              <a:srgbClr val="0F172A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2324100" y="4419600"/>
            <a:ext cx="114300" cy="11430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58" name="TextBox 58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3146115" cy="625411"/>
            <a:chOff x="457200" y="419100"/>
            <a:chExt cx="3146115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29297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632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085939"/>
            <a:chOff x="762000" y="1333500"/>
            <a:chExt cx="9906000" cy="4085939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532176" y="1840706"/>
                <a:ext cx="3646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7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7547" y="2523649"/>
                <a:ext cx="3367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7547" y="2790349"/>
                <a:ext cx="34345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68568" y="1650206"/>
                <a:ext cx="62586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4547" y="20664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4547" y="2333149"/>
                <a:ext cx="49825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4547" y="2599849"/>
                <a:ext cx="59449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755517" y="1840706"/>
                <a:ext cx="5859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1547" y="2256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1547" y="2523649"/>
                <a:ext cx="63776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1547" y="2790349"/>
                <a:ext cx="4493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96875" y="1459706"/>
                <a:ext cx="23725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8547" y="1875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8547" y="2142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8547" y="2409349"/>
                <a:ext cx="47600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806630" y="4126706"/>
                <a:ext cx="4837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1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1547" y="4809649"/>
                <a:ext cx="4925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1547" y="5076349"/>
                <a:ext cx="5485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890652" y="4126706"/>
                <a:ext cx="981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4547" y="4542949"/>
                <a:ext cx="1252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4547" y="4809649"/>
                <a:ext cx="6043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4547" y="5076349"/>
                <a:ext cx="48868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2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9738" y="19111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6738" y="17206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988" y="3339941"/>
              <a:ext cx="592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7238" y="3339941"/>
              <a:ext cx="4181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900047" y="5228749"/>
              <a:ext cx="434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67" name="TextBox 67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419100"/>
            <a:ext cx="2191860" cy="625411"/>
            <a:chOff x="457200" y="419100"/>
            <a:chExt cx="2191860" cy="625411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3608" y="426720"/>
              <a:ext cx="13581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839152"/>
              <a:ext cx="19685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5256" y="1663065"/>
              <a:ext cx="1166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8304" y="2156460"/>
              <a:ext cx="3939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4556" y="1663065"/>
              <a:ext cx="17378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7604" y="2156460"/>
              <a:ext cx="3119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5256" y="3568065"/>
              <a:ext cx="1068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4061460"/>
              <a:ext cx="28584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4556" y="3568065"/>
              <a:ext cx="1439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7604" y="4061460"/>
              <a:ext cx="2015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905958" y="5614035"/>
              <a:ext cx="4380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29" name="TextBox 29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753021" y="2087880"/>
              <a:ext cx="46859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52894" y="2659380"/>
              <a:ext cx="28862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27694" y="3664268"/>
              <a:ext cx="3736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7273" y="3950018"/>
              <a:ext cx="3857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2927" y="4442460"/>
              <a:ext cx="17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2438" y="6570345"/>
            <a:ext cx="11287124" cy="176212"/>
            <a:chOff x="452438" y="6570345"/>
            <a:chExt cx="11287124" cy="176212"/>
          </a:xfrm>
        </p:grpSpPr>
        <p:sp>
          <p:nvSpPr>
            <p:cNvPr id="14" name="TextBox 14"/>
            <p:cNvSpPr txBox="1"/>
            <p:nvPr/>
          </p:nvSpPr>
          <p:spPr>
            <a:xfrm>
              <a:off x="452438" y="6570345"/>
              <a:ext cx="12480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4158" y="6570345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2026-07-21T10:53:31Z</dcterms:created>
  <dcterms:modified xsi:type="dcterms:W3CDTF">2026-07-21T10:53:31Z</dcterms:modified>
  <cp:category/>
  <cp:contentStatus/>
</cp:coreProperties>
</file>