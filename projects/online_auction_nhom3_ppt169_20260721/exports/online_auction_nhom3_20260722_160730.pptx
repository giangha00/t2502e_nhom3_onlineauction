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  <Relationship Id="rId37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Chào hội đồng. Nhóm 3 xin trình bày đề tài CardMarket — RareCard Vault.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nline_auction_nhom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nline_auction_nhom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30dba5c045853a4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c2dc02600981ba0.jp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fa088799e2d4b5d.jpg"/>
  <Relationship Id="rId3" Type="http://schemas.openxmlformats.org/officeDocument/2006/relationships/image" Target="../media/image_81df634087482f29.jp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8e80bc5d3dabcf3.png"/>
  <Relationship Id="rId3" Type="http://schemas.openxmlformats.org/officeDocument/2006/relationships/image" Target="../media/image_3259057c2e4e875b.png"/>
  <Relationship Id="rId4" Type="http://schemas.openxmlformats.org/officeDocument/2006/relationships/image" Target="../media/image_843cb8508b5dc608.png"/>
  <Relationship Id="rId5" Type="http://schemas.openxmlformats.org/officeDocument/2006/relationships/image" Target="../media/image_337d0b68db0e6635.png"/>
  <Relationship Id="rId6" Type="http://schemas.openxmlformats.org/officeDocument/2006/relationships/image" Target="../media/image_7f21cd39eba5c21f.png"/>
  <Relationship Id="rId7" Type="http://schemas.openxmlformats.org/officeDocument/2006/relationships/image" Target="../media/image_c6fd1b521b6d434d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a3620a30fbde69d.jp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16600edddcc1002.jp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0c3d57ee15ef0e0.jp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cb1a34380f9fb1d.jp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8dff8553051aaa.jpg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5a8cd2f45a59ab3.jpg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31cc2670fdda5af.jpg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cf54e45f5dda66e.jpg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94fe5f0ee7be91b.jpg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6d11390c4b9040c.jpg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f6059d612d103d4.jpg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00fc9a4b0ed78b3.jpg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c8621fa6fccfe93.jpg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7c55441b1be235.jpg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58dd0b47e13facf.jpg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20989f27a5ed24c.jpg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0c84129c7b6fcbc.jpg"/>
</Relationships>
</file>

<file path=ppt/slides/_rels/slide2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62e977eefb37d79.jpg"/>
</Relationships>
</file>

<file path=ppt/slides/_rels/slide2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d963b90079e0d64.jpg"/>
</Relationships>
</file>

<file path=ppt/slides/_rels/slide2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5a06789898c891e.jpg"/>
</Relationships>
</file>

<file path=ppt/slides/_rels/slide2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55000"/>
          </a:blip>
          <a:srcRect l="28516" t="0" r="28516" b="0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5334000" y="0"/>
            <a:ext cx="6858000" cy="6858000"/>
          </a:xfrm>
          <a:prstGeom prst="rect">
            <a:avLst/>
          </a:prstGeom>
          <a:solidFill>
            <a:srgbClr val="0F172A">
              <a:alpha val="3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02742" y="1568768"/>
            <a:ext cx="66899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93C5FD"/>
                </a:solidFill>
                <a:latin typeface="+mn-lt"/>
                <a:ea typeface="+mn-ea"/>
                <a:cs typeface="+mn-cs"/>
              </a:rPr>
              <a:t>NHÓM 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0550" y="2118360"/>
            <a:ext cx="346035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CardMarket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8932" y="2821305"/>
            <a:ext cx="208337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60A5FA"/>
                </a:solidFill>
                <a:latin typeface="+mn-lt"/>
                <a:ea typeface="+mn-ea"/>
                <a:cs typeface="+mn-cs"/>
              </a:rPr>
              <a:t>RareCard Vault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1980" y="3457575"/>
            <a:ext cx="34549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Nền tảng đấu giá thẻ bài trực tuyến</a:t>
            </a:r>
          </a:p>
        </p:txBody>
      </p:sp>
      <p:sp>
        <p:nvSpPr>
          <p:cNvPr id="9" name="Rectangle 9"/>
          <p:cNvSpPr/>
          <p:nvPr/>
        </p:nvSpPr>
        <p:spPr>
          <a:xfrm>
            <a:off x="609600" y="4000500"/>
            <a:ext cx="2667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02742" y="4331018"/>
            <a:ext cx="18898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Đồ án ASP.NET Core 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3504" y="4728210"/>
            <a:ext cx="25865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Auction · Buy Now · Admin Verify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12" name="TextBox 12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01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667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3608" y="255270"/>
            <a:ext cx="25116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dự án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0085" y="659606"/>
            <a:ext cx="37998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CardMarket (RareCard Vault) - giao diện người dùng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1047750"/>
            <a:ext cx="685800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328788"/>
            <a:ext cx="6477000" cy="2390924"/>
          </a:xfrm>
          <a:prstGeom prst="rect">
            <a:avLst/>
          </a:prstGeom>
        </p:spPr>
      </p:pic>
      <p:sp>
        <p:nvSpPr>
          <p:cNvPr id="7" name="Rectangle 7"/>
          <p:cNvSpPr/>
          <p:nvPr/>
        </p:nvSpPr>
        <p:spPr>
          <a:xfrm>
            <a:off x="7620000" y="1047750"/>
            <a:ext cx="4114800" cy="4953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878318" y="1441132"/>
            <a:ext cx="208577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CardMarket là gì?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80604" y="1965960"/>
            <a:ext cx="219864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Website đấu giá và mua ngay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80604" y="2232660"/>
            <a:ext cx="25363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thẻ bài sưu tầm (TCG / sports).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80604" y="2727960"/>
            <a:ext cx="2268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Người bán đăng listing, Admin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80604" y="2994660"/>
            <a:ext cx="23868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duyệt, người mua đặt cọc &amp; bid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80604" y="3261360"/>
            <a:ext cx="27066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realtime, thanh toán PayPal/COD.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886700" y="3810000"/>
            <a:ext cx="3429000" cy="9525"/>
          </a:xfrm>
          <a:prstGeom prst="rect">
            <a:avLst/>
          </a:prstGeom>
          <a:solidFill>
            <a:srgbClr val="BFDB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880985" y="4164806"/>
            <a:ext cx="7209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Đối tượng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80985" y="4469606"/>
            <a:ext cx="16189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Buyer · Seller · Admin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80985" y="4926806"/>
            <a:ext cx="6737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Nền tảng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80985" y="5231606"/>
            <a:ext cx="14825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ASP.NET Core 8 MVC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19" name="TextBox 1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02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667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3608" y="255270"/>
            <a:ext cx="124005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Mục lục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89785" y="392906"/>
            <a:ext cx="202188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Theo cấu trúc thuyết trình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952500"/>
            <a:ext cx="552450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6" name="Ellipse 6"/>
          <p:cNvSpPr/>
          <p:nvPr/>
        </p:nvSpPr>
        <p:spPr>
          <a:xfrm>
            <a:off x="742950" y="1219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65536" y="1372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5880" y="1323975"/>
            <a:ext cx="10294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Tên đề tài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73180" y="1372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0" name="Ellipse 10"/>
          <p:cNvSpPr/>
          <p:nvPr/>
        </p:nvSpPr>
        <p:spPr>
          <a:xfrm>
            <a:off x="742950" y="1885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65536" y="2039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5880" y="1990725"/>
            <a:ext cx="15697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dự án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73180" y="20393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4" name="Ellipse 14"/>
          <p:cNvSpPr/>
          <p:nvPr/>
        </p:nvSpPr>
        <p:spPr>
          <a:xfrm>
            <a:off x="742950" y="25527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65536" y="27060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5880" y="2657475"/>
            <a:ext cx="7750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Mục lục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73180" y="27060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8" name="Ellipse 18"/>
          <p:cNvSpPr/>
          <p:nvPr/>
        </p:nvSpPr>
        <p:spPr>
          <a:xfrm>
            <a:off x="742950" y="32194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65536" y="33728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5880" y="3324225"/>
            <a:ext cx="20996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thành viên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73180" y="33728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22" name="Ellipse 22"/>
          <p:cNvSpPr/>
          <p:nvPr/>
        </p:nvSpPr>
        <p:spPr>
          <a:xfrm>
            <a:off x="742950" y="3886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65536" y="4039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5880" y="3990975"/>
            <a:ext cx="10188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Tổng quan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73180" y="4039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26" name="Ellipse 26"/>
          <p:cNvSpPr/>
          <p:nvPr/>
        </p:nvSpPr>
        <p:spPr>
          <a:xfrm>
            <a:off x="742950" y="4552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65536" y="4706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5880" y="4657725"/>
            <a:ext cx="1549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Mục tiêu đề tài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173180" y="47063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210300" y="952500"/>
            <a:ext cx="552450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6496050" y="1219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618636" y="1372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078980" y="1323975"/>
            <a:ext cx="10188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Công nghệ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83430" y="1372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  <p:sp>
        <p:nvSpPr>
          <p:cNvPr id="35" name="Ellipse 35"/>
          <p:cNvSpPr/>
          <p:nvPr/>
        </p:nvSpPr>
        <p:spPr>
          <a:xfrm>
            <a:off x="6496050" y="1885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618636" y="2039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78980" y="1990725"/>
            <a:ext cx="173959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Phân bố thời gian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983430" y="20393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  <p:sp>
        <p:nvSpPr>
          <p:cNvPr id="39" name="Ellipse 39"/>
          <p:cNvSpPr/>
          <p:nvPr/>
        </p:nvSpPr>
        <p:spPr>
          <a:xfrm>
            <a:off x="6496050" y="25527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618636" y="27060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78980" y="2657475"/>
            <a:ext cx="9093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Use Case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750201" y="270605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09-18</a:t>
            </a:r>
          </a:p>
        </p:txBody>
      </p:sp>
      <p:sp>
        <p:nvSpPr>
          <p:cNvPr id="43" name="Ellipse 43"/>
          <p:cNvSpPr/>
          <p:nvPr/>
        </p:nvSpPr>
        <p:spPr>
          <a:xfrm>
            <a:off x="6496050" y="32194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618636" y="33728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078980" y="3324225"/>
            <a:ext cx="172425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Activity Diagram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750201" y="337280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19-27</a:t>
            </a:r>
          </a:p>
        </p:txBody>
      </p:sp>
      <p:sp>
        <p:nvSpPr>
          <p:cNvPr id="47" name="Ellipse 47"/>
          <p:cNvSpPr/>
          <p:nvPr/>
        </p:nvSpPr>
        <p:spPr>
          <a:xfrm>
            <a:off x="6496050" y="3886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18636" y="4039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078980" y="3990975"/>
            <a:ext cx="112471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Db diagram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983430" y="4039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28</a:t>
            </a:r>
          </a:p>
        </p:txBody>
      </p:sp>
      <p:sp>
        <p:nvSpPr>
          <p:cNvPr id="51" name="Ellipse 51"/>
          <p:cNvSpPr/>
          <p:nvPr/>
        </p:nvSpPr>
        <p:spPr>
          <a:xfrm>
            <a:off x="6496050" y="4552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18636" y="4706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078980" y="4657725"/>
            <a:ext cx="21515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Kết luận · Lời cảm ơn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750201" y="470630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29-30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55" name="TextBox 55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03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314945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thành viên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66666" y="362902"/>
            <a:ext cx="2411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Chèn ảnh vào khung dashed bên dưới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57200" y="952500"/>
            <a:ext cx="3619500" cy="2381250"/>
            <a:chOff x="457200" y="952500"/>
            <a:chExt cx="3619500" cy="2381250"/>
          </a:xfrm>
        </p:grpSpPr>
        <p:sp>
          <p:nvSpPr>
            <p:cNvPr id="5" name="Rectangle 5"/>
            <p:cNvSpPr/>
            <p:nvPr/>
          </p:nvSpPr>
          <p:spPr>
            <a:xfrm>
              <a:off x="457200" y="952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23812">
              <a:solidFill>
                <a:srgbClr val="1D4ED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47700" y="1143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9525">
              <a:solidFill>
                <a:srgbClr val="94A3B8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7446" r="0" b="7446"/>
            <a:stretch>
              <a:fillRect/>
            </a:stretch>
          </p:blipFill>
          <p:spPr>
            <a:xfrm>
              <a:off x="647700" y="1143000"/>
              <a:ext cx="1143000" cy="13335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974342" y="1473518"/>
              <a:ext cx="14635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Giang Hà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75866" y="1791652"/>
              <a:ext cx="8635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 trưởng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286250" y="952500"/>
            <a:ext cx="3619500" cy="2381250"/>
            <a:chOff x="4286250" y="952500"/>
            <a:chExt cx="3619500" cy="2381250"/>
          </a:xfrm>
        </p:grpSpPr>
        <p:sp>
          <p:nvSpPr>
            <p:cNvPr id="11" name="Rectangle 11"/>
            <p:cNvSpPr/>
            <p:nvPr/>
          </p:nvSpPr>
          <p:spPr>
            <a:xfrm>
              <a:off x="4286250" y="952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4476750" y="1143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790052" y="1664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82774" y="1863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03392" y="1473518"/>
              <a:ext cx="15119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Văn Hưng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04916" y="1791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15300" y="952500"/>
            <a:ext cx="3619500" cy="2381250"/>
            <a:chOff x="8115300" y="952500"/>
            <a:chExt cx="3619500" cy="2381250"/>
          </a:xfrm>
        </p:grpSpPr>
        <p:sp>
          <p:nvSpPr>
            <p:cNvPr id="18" name="Rectangle 18"/>
            <p:cNvSpPr/>
            <p:nvPr/>
          </p:nvSpPr>
          <p:spPr>
            <a:xfrm>
              <a:off x="8115300" y="952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05800" y="1143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9525">
              <a:solidFill>
                <a:srgbClr val="94A3B8"/>
              </a:solidFill>
            </a:ln>
          </p:spPr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rcRect l="0" t="6307" r="0" b="6307"/>
            <a:stretch>
              <a:fillRect/>
            </a:stretch>
          </p:blipFill>
          <p:spPr>
            <a:xfrm>
              <a:off x="8305800" y="1143000"/>
              <a:ext cx="1143000" cy="1333500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9632442" y="1473518"/>
              <a:ext cx="1100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Đinh Văn Hải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633966" y="1791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7200" y="3619500"/>
            <a:ext cx="3619500" cy="2381250"/>
            <a:chOff x="457200" y="3619500"/>
            <a:chExt cx="3619500" cy="2381250"/>
          </a:xfrm>
        </p:grpSpPr>
        <p:sp>
          <p:nvSpPr>
            <p:cNvPr id="24" name="Rectangle 24"/>
            <p:cNvSpPr/>
            <p:nvPr/>
          </p:nvSpPr>
          <p:spPr>
            <a:xfrm>
              <a:off x="457200" y="3619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7700" y="3810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61002" y="4331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3724" y="4530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74342" y="4140518"/>
              <a:ext cx="12925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Phạm Việt Anh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75866" y="4458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286250" y="3619500"/>
            <a:ext cx="3619500" cy="2381250"/>
            <a:chOff x="4286250" y="3619500"/>
            <a:chExt cx="3619500" cy="2381250"/>
          </a:xfrm>
        </p:grpSpPr>
        <p:sp>
          <p:nvSpPr>
            <p:cNvPr id="31" name="Rectangle 31"/>
            <p:cNvSpPr/>
            <p:nvPr/>
          </p:nvSpPr>
          <p:spPr>
            <a:xfrm>
              <a:off x="4286250" y="3619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476750" y="3810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90052" y="4331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82774" y="4530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03392" y="4140518"/>
              <a:ext cx="1550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Hữu Quân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04916" y="4458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15300" y="3619500"/>
            <a:ext cx="3619500" cy="2381250"/>
            <a:chOff x="8115300" y="3619500"/>
            <a:chExt cx="3619500" cy="2381250"/>
          </a:xfrm>
        </p:grpSpPr>
        <p:sp>
          <p:nvSpPr>
            <p:cNvPr id="38" name="Rectangle 38"/>
            <p:cNvSpPr/>
            <p:nvPr/>
          </p:nvSpPr>
          <p:spPr>
            <a:xfrm>
              <a:off x="8115300" y="3619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305800" y="3810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619102" y="4331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11824" y="4530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32442" y="4140518"/>
              <a:ext cx="1462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Danil Famil Long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33966" y="4458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45" name="TextBox 45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04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152822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Tổng quan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89785" y="354806"/>
            <a:ext cx="25797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Hệ thống đấu giá thẻ bài trực tuyến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857250"/>
            <a:ext cx="11277600" cy="857250"/>
          </a:xfrm>
          <a:prstGeom prst="roundRect">
            <a:avLst>
              <a:gd name="adj" fmla="val 15556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55142" y="1092518"/>
            <a:ext cx="53150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DBEAFE"/>
                </a:solidFill>
                <a:latin typeface="+mn-lt"/>
                <a:ea typeface="+mn-ea"/>
                <a:cs typeface="+mn-cs"/>
              </a:rPr>
              <a:t>CardMarket giúp người dùng mua - bán thẻ bài đã grading qua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142" y="1359218"/>
            <a:ext cx="66522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hai kênh: Đấu giá (Auction) và Mua ngay (Buy Now), có Admin duyệt listing.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2000250"/>
            <a:ext cx="352425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9" name="Ellipse 9"/>
          <p:cNvSpPr/>
          <p:nvPr/>
        </p:nvSpPr>
        <p:spPr>
          <a:xfrm>
            <a:off x="723900" y="224790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53112" y="24041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5880" y="2371725"/>
            <a:ext cx="9654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Người bán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904" y="2918460"/>
            <a:ext cx="23694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Tạo listing Auction / Buy Now,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5904" y="3185160"/>
            <a:ext cx="22958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upload ảnh, chờ Admin duyệt,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5904" y="3451860"/>
            <a:ext cx="19022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theo dõi trạng thái bán.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333875" y="2000250"/>
            <a:ext cx="352425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4600575" y="224790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729787" y="24041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2555" y="2371725"/>
            <a:ext cx="10081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Người mua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32579" y="2918460"/>
            <a:ext cx="19085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Đăng ký phiên + đặt cọc,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32579" y="3185160"/>
            <a:ext cx="21930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đặt giá realtime, mua ngay,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32579" y="3451860"/>
            <a:ext cx="20058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thanh toán PayPal / COD.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210550" y="2000250"/>
            <a:ext cx="352425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8477250" y="224790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606462" y="24041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079230" y="2371725"/>
            <a:ext cx="5941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09254" y="2918460"/>
            <a:ext cx="218245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Duyệt listing, quản lý user,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09254" y="3185160"/>
            <a:ext cx="19103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phiên đấu giá, khiếu nại,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09254" y="3451860"/>
            <a:ext cx="15387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thống kê &amp; báo cáo.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1104" y="4251960"/>
            <a:ext cx="10516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LUỒNG CHÍNH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5720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929099" y="4842510"/>
            <a:ext cx="9612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1. Đăng bán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1574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33" name="Rectangle 33"/>
          <p:cNvSpPr/>
          <p:nvPr/>
        </p:nvSpPr>
        <p:spPr>
          <a:xfrm>
            <a:off x="276225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352706" y="4842510"/>
            <a:ext cx="7240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2. Duyệt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2079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06730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5512521" y="4842510"/>
            <a:ext cx="10145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3. Bid / Mua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12584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39" name="Rectangle 39"/>
          <p:cNvSpPr/>
          <p:nvPr/>
        </p:nvSpPr>
        <p:spPr>
          <a:xfrm>
            <a:off x="737235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7751216" y="4842510"/>
            <a:ext cx="114726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4. Thanh toán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3089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42" name="Rectangle 42"/>
          <p:cNvSpPr/>
          <p:nvPr/>
        </p:nvSpPr>
        <p:spPr>
          <a:xfrm>
            <a:off x="9677400" y="4572000"/>
            <a:ext cx="2057400" cy="666750"/>
          </a:xfrm>
          <a:prstGeom prst="roundRect">
            <a:avLst>
              <a:gd name="adj" fmla="val 17143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0225499" y="4842510"/>
            <a:ext cx="9612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5. Hoàn tất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1485" y="5593556"/>
            <a:ext cx="649356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Hỗ trợ: Watchlist · Thông báo realtime · Khiếu nại/hoàn tiền · Đa ngôn ngữ (vi/en/ja/ko)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45" name="TextBox 45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05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352866" cy="692659"/>
            <a:chOff x="457200" y="378142"/>
            <a:chExt cx="3352866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29431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tiêu đề tài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3131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Bốn mục tiêu chính của CardMarket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" y="1238250"/>
            <a:ext cx="5524500" cy="2095500"/>
            <a:chOff x="457200" y="1238250"/>
            <a:chExt cx="5524500" cy="2095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477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0165" y="1600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1694" y="1551622"/>
              <a:ext cx="27029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Hệ thống hoàn chỉnh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580" y="2124075"/>
              <a:ext cx="3977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Xây dựng nền tảng đấu giá online đầy đủ: MVC, Identity, database và luồng nghiệp vụ end-to-end.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86500" y="1238250"/>
            <a:ext cx="5524500" cy="2095500"/>
            <a:chOff x="6286500" y="1238250"/>
            <a:chExt cx="55245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64770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9465" y="1600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90994" y="1551622"/>
              <a:ext cx="28959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Quy trình thương mại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9880" y="2124075"/>
              <a:ext cx="3663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Mô phỏng thực tế: xác thực listing, cọc đăng ký, chống gian lận bid, thanh toán và phí nền tảng.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" y="3619500"/>
            <a:ext cx="5524500" cy="2095500"/>
            <a:chOff x="457200" y="3619500"/>
            <a:chExt cx="5524500" cy="2095500"/>
          </a:xfrm>
        </p:grpSpPr>
        <p:sp>
          <p:nvSpPr>
            <p:cNvPr id="18" name="Rectangle 18"/>
            <p:cNvSpPr/>
            <p:nvPr/>
          </p:nvSpPr>
          <p:spPr>
            <a:xfrm>
              <a:off x="4572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6477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0165" y="3981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1694" y="3932872"/>
              <a:ext cx="22344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Bảo mật tách lớp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0580" y="450532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Tách bảo mật Admin / User bằng dual-session cookies và phân quyền động.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3619500"/>
            <a:ext cx="5524500" cy="2095500"/>
            <a:chOff x="6286500" y="3619500"/>
            <a:chExt cx="55245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4770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9465" y="3981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90994" y="3932872"/>
              <a:ext cx="300553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Trải nghiệm người dùng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9880" y="4505325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Realtime (SignalR / push) và đa ngôn ngữ để phục vụ người dùng quốc tế.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06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667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3608" y="255270"/>
            <a:ext cx="163010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Công nghệ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5" y="1524000"/>
            <a:ext cx="1047750" cy="104775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865841" y="2867025"/>
            <a:ext cx="160231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ASP.NET Core 8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25" y="1524000"/>
            <a:ext cx="1047750" cy="10477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881154" y="2867025"/>
            <a:ext cx="4296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SQL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25" y="1524000"/>
            <a:ext cx="1047750" cy="10477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187939" y="2867025"/>
            <a:ext cx="6741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PayPal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25" y="3810000"/>
            <a:ext cx="1047750" cy="104775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98492" y="5153025"/>
            <a:ext cx="73701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SignalR</a:t>
            </a:r>
          </a:p>
        </p:txBody>
      </p:sp>
      <p:pic>
        <p:nvPicPr>
          <p:cNvPr id="12" name="Imag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2125" y="3810000"/>
            <a:ext cx="1047750" cy="104775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555313" y="5153025"/>
            <a:ext cx="10813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Cloudinary</a:t>
            </a:r>
          </a:p>
        </p:txBody>
      </p:sp>
      <p:pic>
        <p:nvPicPr>
          <p:cNvPr id="14" name="Imag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1125" y="3810000"/>
            <a:ext cx="1047750" cy="10477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8889847" y="5153025"/>
            <a:ext cx="12703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Tailwind CSS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16" name="TextBox 16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07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260939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Phân bố thời gian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23285" y="354806"/>
            <a:ext cx="185738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Lịch theo tuần (12 tuần)</a:t>
            </a:r>
          </a:p>
        </p:txBody>
      </p:sp>
      <p:sp>
        <p:nvSpPr>
          <p:cNvPr id="5" name="Rectangle 5"/>
          <p:cNvSpPr/>
          <p:nvPr/>
        </p:nvSpPr>
        <p:spPr>
          <a:xfrm>
            <a:off x="2667000" y="952500"/>
            <a:ext cx="8763000" cy="3810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288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527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766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005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244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483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722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961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200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03709" y="1094899"/>
            <a:ext cx="2806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27609" y="1094899"/>
            <a:ext cx="2806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51509" y="1094899"/>
            <a:ext cx="2806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1485" y="1707356"/>
            <a:ext cx="11255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G1 · Phân tích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2438" y="1941195"/>
            <a:ext cx="117175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Use Case, DB design</a:t>
            </a:r>
          </a:p>
        </p:txBody>
      </p:sp>
      <p:sp>
        <p:nvSpPr>
          <p:cNvPr id="20" name="Rectangle 20"/>
          <p:cNvSpPr/>
          <p:nvPr/>
        </p:nvSpPr>
        <p:spPr>
          <a:xfrm>
            <a:off x="2667000" y="1695450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2705100" y="1752600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094442" y="1856899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1-2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1485" y="2421731"/>
            <a:ext cx="13477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G2 · Auth &amp; Admin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2438" y="2655570"/>
            <a:ext cx="12611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Identity dual-session</a:t>
            </a:r>
          </a:p>
        </p:txBody>
      </p:sp>
      <p:sp>
        <p:nvSpPr>
          <p:cNvPr id="25" name="Rectangle 25"/>
          <p:cNvSpPr/>
          <p:nvPr/>
        </p:nvSpPr>
        <p:spPr>
          <a:xfrm>
            <a:off x="2667000" y="2409825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4152900" y="2466975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542242" y="2571274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3-4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1485" y="3136106"/>
            <a:ext cx="136810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G3 · Listing &amp; Sell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2438" y="3369945"/>
            <a:ext cx="9927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Verify, Sell flow</a:t>
            </a:r>
          </a:p>
        </p:txBody>
      </p:sp>
      <p:sp>
        <p:nvSpPr>
          <p:cNvPr id="30" name="Rectangle 30"/>
          <p:cNvSpPr/>
          <p:nvPr/>
        </p:nvSpPr>
        <p:spPr>
          <a:xfrm>
            <a:off x="2667000" y="3124200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5600700" y="3181350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990042" y="3285649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5-6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1485" y="3850481"/>
            <a:ext cx="12978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G4 · Bid realtime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2438" y="4084320"/>
            <a:ext cx="14703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Cọc, anti-fraud, SignalR</a:t>
            </a:r>
          </a:p>
        </p:txBody>
      </p:sp>
      <p:sp>
        <p:nvSpPr>
          <p:cNvPr id="35" name="Rectangle 35"/>
          <p:cNvSpPr/>
          <p:nvPr/>
        </p:nvSpPr>
        <p:spPr>
          <a:xfrm>
            <a:off x="2667000" y="3838575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7048500" y="3895725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437842" y="4000024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7-8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1485" y="4564856"/>
            <a:ext cx="13018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G5 · Order &amp; Pay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52438" y="4798695"/>
            <a:ext cx="96004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PayPal, Buy Now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667000" y="4552950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8496300" y="4610100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847009" y="4714399"/>
            <a:ext cx="670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9-10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51485" y="5279231"/>
            <a:ext cx="139394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G6 · Polish &amp; Demo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2438" y="5513070"/>
            <a:ext cx="140284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i18n, smoke test, demo</a:t>
            </a:r>
          </a:p>
        </p:txBody>
      </p:sp>
      <p:sp>
        <p:nvSpPr>
          <p:cNvPr id="45" name="Rectangle 45"/>
          <p:cNvSpPr/>
          <p:nvPr/>
        </p:nvSpPr>
        <p:spPr>
          <a:xfrm>
            <a:off x="2667000" y="5267325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9944100" y="5324475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0256176" y="5428774"/>
            <a:ext cx="74744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11-12</a:t>
            </a:r>
          </a:p>
        </p:txBody>
      </p:sp>
      <p:sp>
        <p:nvSpPr>
          <p:cNvPr id="48" name="Rectangle 48"/>
          <p:cNvSpPr/>
          <p:nvPr/>
        </p:nvSpPr>
        <p:spPr>
          <a:xfrm>
            <a:off x="457200" y="5905500"/>
            <a:ext cx="11277600" cy="3810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3745121" y="6039802"/>
            <a:ext cx="470175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Tổng thời gian dự kiến: 12 tuần · có thể điều chỉnh theo tiến độ nhóm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08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439851" cy="530161"/>
            <a:chOff x="457200" y="152400"/>
            <a:chExt cx="4439851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2211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Browse Marketplace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6555" y="781050"/>
              <a:ext cx="9718890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09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5095268" cy="530161"/>
            <a:chOff x="457200" y="152400"/>
            <a:chExt cx="5095268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8765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Personal Activity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61879" y="781050"/>
              <a:ext cx="8468242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667033" cy="530161"/>
            <a:chOff x="457200" y="152400"/>
            <a:chExt cx="4667033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448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Participate In Auction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620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+ PayPal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1073" y="781050"/>
              <a:ext cx="944985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11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095332" cy="530161"/>
            <a:chOff x="457200" y="152400"/>
            <a:chExt cx="4095332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8766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Purchase Product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620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+ PayPal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545" y="781050"/>
              <a:ext cx="8866909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12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519389" cy="530161"/>
            <a:chOff x="457200" y="152400"/>
            <a:chExt cx="451938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3006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Own Listings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200" y="781050"/>
              <a:ext cx="8601600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13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930039" cy="530161"/>
            <a:chOff x="457200" y="152400"/>
            <a:chExt cx="393003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7113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Admin Dashboard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2358" y="781050"/>
              <a:ext cx="966728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14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5457089" cy="530161"/>
            <a:chOff x="457200" y="152400"/>
            <a:chExt cx="545708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52383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Users &amp; Permissions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850069"/>
              <a:ext cx="10858500" cy="5195962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15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930039" cy="530161"/>
            <a:chOff x="457200" y="152400"/>
            <a:chExt cx="393003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7113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Auctions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6833" y="781050"/>
              <a:ext cx="823833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735014" cy="530161"/>
            <a:chOff x="457200" y="152400"/>
            <a:chExt cx="3735014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5163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Verify Listings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3270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Email/Firebase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624161"/>
              <a:ext cx="10858500" cy="3647777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17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847155" cy="530161"/>
            <a:chOff x="457200" y="152400"/>
            <a:chExt cx="3847155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62846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Buy Now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765" y="781050"/>
              <a:ext cx="10040471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18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397633" cy="479107"/>
            <a:chOff x="457200" y="114300"/>
            <a:chExt cx="3397633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177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Đăng ký (Sign Up)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2662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dùng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19113" y="685800"/>
              <a:ext cx="6353774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19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446303" cy="479107"/>
            <a:chOff x="457200" y="114300"/>
            <a:chExt cx="3446303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226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Đăng nhập (Login)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2662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dùng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0277" y="685800"/>
              <a:ext cx="10691446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20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4690031" cy="479107"/>
            <a:chOff x="457200" y="114300"/>
            <a:chExt cx="4690031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44698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Tạo đấu giá (Create Auction)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1997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bán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0536" y="685800"/>
              <a:ext cx="5370928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21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2417248" cy="479107"/>
            <a:chOff x="457200" y="114300"/>
            <a:chExt cx="2417248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21970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Place Bid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2241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mua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37941" y="685800"/>
              <a:ext cx="6116119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22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936332" cy="479107"/>
            <a:chOff x="457200" y="114300"/>
            <a:chExt cx="3936332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7161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Thanh toán (Payment)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7423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mua + Hệ thống + PayPal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7962" y="685800"/>
              <a:ext cx="6556075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23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910857" cy="479107"/>
            <a:chOff x="457200" y="114300"/>
            <a:chExt cx="3910857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6906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Duyệt listing (Verify)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42862" y="685800"/>
              <a:ext cx="6906276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24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4042847" cy="479107"/>
            <a:chOff x="457200" y="114300"/>
            <a:chExt cx="4042847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8226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Duyệt listing (chi tiết)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4178" y="685800"/>
              <a:ext cx="6863644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25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362873" cy="479107"/>
            <a:chOff x="457200" y="114300"/>
            <a:chExt cx="3362873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1426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Quản lý Category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38990" y="685800"/>
              <a:ext cx="9114020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26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234700" cy="479107"/>
            <a:chOff x="457200" y="114300"/>
            <a:chExt cx="3234700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0144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Quản lý Product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9069" y="685800"/>
              <a:ext cx="8513862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27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1905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5894" y="208598"/>
            <a:ext cx="146212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Db diagram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80666" y="305752"/>
            <a:ext cx="17006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RareCard Vault - schema</a:t>
            </a: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896" y="838200"/>
            <a:ext cx="4374207" cy="554355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6" name="TextBox 6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28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127324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Kết luận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89785" y="354806"/>
            <a:ext cx="156469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Về đề tài CardMarket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857250"/>
            <a:ext cx="11277600" cy="952500"/>
          </a:xfrm>
          <a:prstGeom prst="roundRect">
            <a:avLst>
              <a:gd name="adj" fmla="val 14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55142" y="1140142"/>
            <a:ext cx="62991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DBEAFE"/>
                </a:solidFill>
                <a:latin typeface="+mn-lt"/>
                <a:ea typeface="+mn-ea"/>
                <a:cs typeface="+mn-cs"/>
              </a:rPr>
              <a:t>Đề tài đã xây dựng được nền tảng đấu giá thẻ bài trực tuyến hoàn chỉnh,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142" y="1425892"/>
            <a:ext cx="56929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mô phỏng đúng quy trình thương mại từ đăng bán đến thanh toán.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209550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55142" y="2426018"/>
            <a:ext cx="23969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1. Đạt mục tiêu chức năng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6285" y="2831306"/>
            <a:ext cx="291537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Hỗ trợ Auction &amp; Buy Now, đăng ký/cọc,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6285" y="3098006"/>
            <a:ext cx="30751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bid realtime, PayPal/COD, khu vực Admin.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0300" y="209550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508242" y="2426018"/>
            <a:ext cx="20829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2. An toàn &amp; kiểm soát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09385" y="2831306"/>
            <a:ext cx="29519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Dual-session User/Admin, duyệt listing,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09385" y="3098006"/>
            <a:ext cx="265752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chống gian lận bid, phân quyền động.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57200" y="390525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55142" y="4235768"/>
            <a:ext cx="234870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3. Trải nghiệm người dùng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6285" y="4641056"/>
            <a:ext cx="2832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Cập nhật giá realtime (SignalR), push,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6285" y="4907756"/>
            <a:ext cx="29189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đa ngôn ngữ, giao diện Tailwind hiện đại.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10300" y="390525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508242" y="4235768"/>
            <a:ext cx="182429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4. Hướng phát triển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09385" y="4641056"/>
            <a:ext cx="30248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Mở rộng thanh toán, đánh giá người dùng,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09385" y="4907756"/>
            <a:ext cx="27329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tối ưu mobile và vận hành production.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57200" y="5715000"/>
            <a:ext cx="11277600" cy="476250"/>
          </a:xfrm>
          <a:prstGeom prst="roundRect">
            <a:avLst>
              <a:gd name="adj" fmla="val 24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876705" y="5890260"/>
            <a:ext cx="64385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CardMarket chứng minh tính khả thi của hệ thống đấu giá TCG trên ASP.NET Core 8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29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-381000"/>
            <a:ext cx="12573000" cy="8001000"/>
            <a:chOff x="0" y="-381000"/>
            <a:chExt cx="12573000" cy="8001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0" y="-381000"/>
              <a:ext cx="3048000" cy="3048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763000" y="3810000"/>
              <a:ext cx="3810000" cy="3810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286000" y="1524000"/>
            <a:ext cx="7620000" cy="3429000"/>
            <a:chOff x="2286000" y="1524000"/>
            <a:chExt cx="7620000" cy="3429000"/>
          </a:xfrm>
        </p:grpSpPr>
        <p:sp>
          <p:nvSpPr>
            <p:cNvPr id="6" name="Rectangle 6"/>
            <p:cNvSpPr/>
            <p:nvPr/>
          </p:nvSpPr>
          <p:spPr>
            <a:xfrm>
              <a:off x="2286000" y="1524000"/>
              <a:ext cx="7620000" cy="34290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9050">
              <a:solidFill>
                <a:srgbClr val="BFDBF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364811" y="2023110"/>
              <a:ext cx="546237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Cảm ơn quý thầy cô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14662" y="2594610"/>
              <a:ext cx="336267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và hội đồng!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0" y="333375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812515" y="3631882"/>
              <a:ext cx="45669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Cảm ơn các thành viên nhóm và những người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38667" y="3917632"/>
              <a:ext cx="471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đã hỗ trợ trong quá trình phát triển dự án.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04659" y="4410075"/>
              <a:ext cx="2182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CardMarket · Nhóm 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30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2026-07-22T09:07:30Z</dcterms:created>
  <dcterms:modified xsi:type="dcterms:W3CDTF">2026-07-22T09:07:30Z</dcterms:modified>
  <cp:category/>
  <cp:contentStatus/>
</cp:coreProperties>
</file>