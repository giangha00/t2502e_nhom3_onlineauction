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Vault, nền tảng đấu giá thẻ bài trực tuyến xây dựng trên ASP.NET Core 8.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thuyết trình gồm 12 phần theo cấu trúc đề bài: từ giới thiệu nhóm, tổng quan, mục tiêu, công nghệ đến Use Case, Activity Diagram, DB diagram và kết luận.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Nhóm gồm 5 thành viên chính. Danh sách lấy từ lịch sử git — nhóm có thể bổ sung vai trò cụ thể khi trình bày.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CardMarket hỗ trợ đấu giá và mua ngay thẻ bài sưu tầm. Seller đăng listing, Admin duyệt, Buyer đăng ký đặt cọc, đặt giá realtime và thanh toán qua PayPal.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Bốn mục tiêu: hệ thống đấu giá hoàn chỉnh, mô phỏng quy trình thương mại, dual-session auth, trải nghiệm realtime đa ngôn ngữ.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Stack: ASP.NET Core 8, EF Core, MySQL, Identity dual cookie, PayPal, SignalR, RabbitMQ, Cloudinary, Firebase, Tailwind CSS.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Timeline là khung gợi ý vì repo không có Gantt chính thức. Sáu giai đoạn từ phân tích đến polish và demo.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Bốn actor: Guest, Buyer, Seller, Admin — mỗi actor có các use case tương ứng trên hệ thống.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Luồng chính: đăng bán → duyệt → đăng ký/cọc → bid realtime → kết thúc phiên → thanh toán.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Các entity chính: User, Product, Auction, Bid, AuctionRegistration, AuctionOrder và quan hệ giữa chúng.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nổi bật: dual auth, verify listing, chống gian lận bid, SignalR, đa ngôn ngữ 4 locale, PayPal end-to-end.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giảng viên hướng dẫn, hội đồng và các thành viên nhóm. Xin mời hỏi đáp.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2095500" y="-1333500"/>
            <a:ext cx="15430500" cy="9144000"/>
            <a:chOff x="-2095500" y="-1333500"/>
            <a:chExt cx="15430500" cy="9144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144000" y="-1333500"/>
              <a:ext cx="4191000" cy="4191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2095500" y="4381500"/>
              <a:ext cx="3429000" cy="3429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1143000"/>
            <a:ext cx="1600200" cy="342900"/>
            <a:chOff x="762000" y="1143000"/>
            <a:chExt cx="1600200" cy="342900"/>
          </a:xfrm>
        </p:grpSpPr>
        <p:sp>
          <p:nvSpPr>
            <p:cNvPr id="6" name="Rectangle 6"/>
            <p:cNvSpPr/>
            <p:nvPr/>
          </p:nvSpPr>
          <p:spPr>
            <a:xfrm>
              <a:off x="762000" y="11430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01934" y="1258252"/>
              <a:ext cx="5203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NHÓM 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2950" y="1958340"/>
            <a:ext cx="3949245" cy="1615249"/>
            <a:chOff x="742950" y="1958340"/>
            <a:chExt cx="3949245" cy="1615249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1958340"/>
              <a:ext cx="394924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332" y="2726055"/>
              <a:ext cx="2083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RareCard Vault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618" y="3250882"/>
              <a:ext cx="3800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Nền tảng đấu giá thẻ bài trực tuyến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5142" y="3810000"/>
            <a:ext cx="4007358" cy="499301"/>
            <a:chOff x="755142" y="3810000"/>
            <a:chExt cx="4007358" cy="499301"/>
          </a:xfrm>
        </p:grpSpPr>
        <p:sp>
          <p:nvSpPr>
            <p:cNvPr id="13" name="Rectangle 13"/>
            <p:cNvSpPr/>
            <p:nvPr/>
          </p:nvSpPr>
          <p:spPr>
            <a:xfrm>
              <a:off x="762000" y="381000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142" y="4045268"/>
              <a:ext cx="2704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Đồ án ASP.NET Core 8 · Nhóm 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2286000"/>
            <a:ext cx="2667000" cy="2667000"/>
            <a:chOff x="8572500" y="2286000"/>
            <a:chExt cx="2667000" cy="2667000"/>
          </a:xfrm>
        </p:grpSpPr>
        <p:sp>
          <p:nvSpPr>
            <p:cNvPr id="16" name="Rectangle 16"/>
            <p:cNvSpPr/>
            <p:nvPr/>
          </p:nvSpPr>
          <p:spPr>
            <a:xfrm>
              <a:off x="8572500" y="2286000"/>
              <a:ext cx="2667000" cy="2667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FDE68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58250" y="257175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4137" y="2945130"/>
              <a:ext cx="9237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TCG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65301" y="4251960"/>
              <a:ext cx="1481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Auction &amp; Buy Now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31054" y="4542949"/>
              <a:ext cx="1549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Thẻ bài sưu tầm · Online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22" name="TextBox 2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402169" cy="625411"/>
            <a:chOff x="457200" y="419100"/>
            <a:chExt cx="2402169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12400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Mục lục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178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Nội dung thuyết trình · 12 phần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200" y="1238250"/>
            <a:ext cx="5143500" cy="4762500"/>
            <a:chOff x="457200" y="1238250"/>
            <a:chExt cx="5143500" cy="4762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143500" cy="47625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04850" y="14097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7436" y="1563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06830" y="1514475"/>
              <a:ext cx="10294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Tên đề tài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314450" y="19050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04850" y="20955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7436" y="22488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06830" y="2200275"/>
              <a:ext cx="7750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Mục lục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314450" y="25908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704850" y="27813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7436" y="2934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06830" y="2886075"/>
              <a:ext cx="20996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Giới thiệu thành viên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314450" y="32766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704850" y="34671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7436" y="36204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06830" y="3571875"/>
              <a:ext cx="19626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Tổng quan hệ thống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314450" y="39624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04850" y="41529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7436" y="43062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06830" y="4257675"/>
              <a:ext cx="1549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1314450" y="46482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704850" y="48387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7436" y="4992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06830" y="4943475"/>
              <a:ext cx="1018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Công nghệ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829300" y="1238250"/>
            <a:ext cx="5143500" cy="4762500"/>
            <a:chOff x="5829300" y="1238250"/>
            <a:chExt cx="5143500" cy="4762500"/>
          </a:xfrm>
        </p:grpSpPr>
        <p:sp>
          <p:nvSpPr>
            <p:cNvPr id="31" name="Rectangle 31"/>
            <p:cNvSpPr/>
            <p:nvPr/>
          </p:nvSpPr>
          <p:spPr>
            <a:xfrm>
              <a:off x="5829300" y="1238250"/>
              <a:ext cx="5143500" cy="47625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076950" y="14097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99536" y="1563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78930" y="1514475"/>
              <a:ext cx="17395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Phân bố thời gian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686550" y="19050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076950" y="20955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99536" y="22488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78930" y="2200275"/>
              <a:ext cx="909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 Case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686550" y="25908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6076950" y="27813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99536" y="2934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78930" y="2886075"/>
              <a:ext cx="17242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Activity Diagram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686550" y="32766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076950" y="34671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99536" y="36204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78930" y="3571875"/>
              <a:ext cx="1831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686550" y="39624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076950" y="41529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99536" y="43062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78930" y="4257675"/>
              <a:ext cx="848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Kết luận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686550" y="464820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rgbClr val="FEF3C7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6076950" y="4838700"/>
              <a:ext cx="419100" cy="419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99536" y="4992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78930" y="4943475"/>
              <a:ext cx="10721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Lời cảm ơn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56" name="TextBox 56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3575822" cy="625411"/>
            <a:chOff x="457200" y="419100"/>
            <a:chExt cx="3575822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33594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Giới thiệu thành viên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333500"/>
            <a:ext cx="3429000" cy="1333500"/>
            <a:chOff x="457200" y="1333500"/>
            <a:chExt cx="3429000" cy="133350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66750" y="15906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6486" y="18011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54455" y="1647825"/>
              <a:ext cx="855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Giang Hà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56741" y="1982152"/>
              <a:ext cx="1153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Thành viên chính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333500"/>
            <a:ext cx="3429000" cy="1333500"/>
            <a:chOff x="4381500" y="1333500"/>
            <a:chExt cx="3429000" cy="13335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333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591050" y="15906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70786" y="18011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78755" y="1647825"/>
              <a:ext cx="12589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Nguyễn Hưng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81041" y="19821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305800" y="1333500"/>
            <a:ext cx="3429000" cy="1333500"/>
            <a:chOff x="8305800" y="1333500"/>
            <a:chExt cx="3429000" cy="1333500"/>
          </a:xfrm>
        </p:grpSpPr>
        <p:sp>
          <p:nvSpPr>
            <p:cNvPr id="18" name="Rectangle 18"/>
            <p:cNvSpPr/>
            <p:nvPr/>
          </p:nvSpPr>
          <p:spPr>
            <a:xfrm>
              <a:off x="8305800" y="1333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515350" y="15906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95086" y="18011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03055" y="1647825"/>
              <a:ext cx="14362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05341" y="19821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381250" y="3048000"/>
            <a:ext cx="3429000" cy="1333500"/>
            <a:chOff x="2381250" y="3048000"/>
            <a:chExt cx="34290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2381250" y="30480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590800" y="33051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70536" y="35156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78505" y="3362325"/>
              <a:ext cx="17228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80791" y="3696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381750" y="3048000"/>
            <a:ext cx="3429000" cy="1333500"/>
            <a:chOff x="6381750" y="3048000"/>
            <a:chExt cx="3429000" cy="1333500"/>
          </a:xfrm>
        </p:grpSpPr>
        <p:sp>
          <p:nvSpPr>
            <p:cNvPr id="30" name="Rectangle 30"/>
            <p:cNvSpPr/>
            <p:nvPr/>
          </p:nvSpPr>
          <p:spPr>
            <a:xfrm>
              <a:off x="6381750" y="30480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591300" y="3305175"/>
              <a:ext cx="533400" cy="53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71036" y="35156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79005" y="336232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azhai4123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81291" y="3696652"/>
              <a:ext cx="1393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Cần xác nhận vai trò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7488" y="4074795"/>
              <a:ext cx="13652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※ Ghi chú: cần xác nhận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4762500"/>
            <a:ext cx="11277600" cy="1143000"/>
            <a:chOff x="457200" y="4762500"/>
            <a:chExt cx="11277600" cy="1143000"/>
          </a:xfrm>
        </p:grpSpPr>
        <p:sp>
          <p:nvSpPr>
            <p:cNvPr id="37" name="Rectangle 37"/>
            <p:cNvSpPr/>
            <p:nvPr/>
          </p:nvSpPr>
          <p:spPr>
            <a:xfrm>
              <a:off x="457200" y="4762500"/>
              <a:ext cx="11277600" cy="11430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5904" y="5061585"/>
              <a:ext cx="442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Lưu 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285" y="5355431"/>
              <a:ext cx="6738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Danh sách theo lịch sử git của repository. Vai trò chi tiết cần nhóm xác nhận trước khi nộp.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666" y="5601652"/>
              <a:ext cx="5515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Không dùng nhân vật giả trên trang About (Julian Thorne…) làm thành viên nhóm.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3356573" cy="625411"/>
            <a:chOff x="457200" y="419100"/>
            <a:chExt cx="3356573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314016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Tổng quan hệ thống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416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Đấu giá &amp; Buy Now · thẻ bài sưu tầm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238250"/>
            <a:ext cx="5524500" cy="1333500"/>
            <a:chOff x="457200" y="1238250"/>
            <a:chExt cx="5524500" cy="1333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6280" y="1504950"/>
              <a:ext cx="18010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Đấu giá (Auction)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8185" y="1878806"/>
              <a:ext cx="3880358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Seller đăng listing → Admin duyệt → Buyer đăng ký &amp; cọc → Bid realtime (SignalR) → Kết thúc → Order &amp; thanh toán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10300" y="1238250"/>
            <a:ext cx="5524500" cy="1333500"/>
            <a:chOff x="6210300" y="1238250"/>
            <a:chExt cx="55245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62103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69380" y="1504950"/>
              <a:ext cx="20665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Mua ngay (Buy Now)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71285" y="1878806"/>
              <a:ext cx="3645662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Thêm vào giỏ → Tạo hóa đơn → Thanh toán PayPal / COD Hạn thanh toán 7 ngày · Watchlist &amp; thông báo hỗ trợ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57200" y="2857500"/>
            <a:ext cx="11049000" cy="952500"/>
            <a:chOff x="457200" y="2857500"/>
            <a:chExt cx="11049000" cy="952500"/>
          </a:xfrm>
        </p:grpSpPr>
        <p:sp>
          <p:nvSpPr>
            <p:cNvPr id="14" name="Rectangle 14"/>
            <p:cNvSpPr/>
            <p:nvPr/>
          </p:nvSpPr>
          <p:spPr>
            <a:xfrm>
              <a:off x="457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8804" y="3261360"/>
              <a:ext cx="721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Đăng bán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68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43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14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39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84804" y="3261360"/>
              <a:ext cx="9930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Admin duyệt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4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9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200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25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70804" y="3261360"/>
              <a:ext cx="1111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Đăng ký + Cọc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40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15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486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11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56804" y="3261360"/>
              <a:ext cx="1068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Đặt giá (Bid)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6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601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772650" y="31623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97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42804" y="326136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4381500"/>
            <a:ext cx="11277600" cy="1524000"/>
            <a:chOff x="457200" y="4381500"/>
            <a:chExt cx="11277600" cy="1524000"/>
          </a:xfrm>
        </p:grpSpPr>
        <p:sp>
          <p:nvSpPr>
            <p:cNvPr id="39" name="Rectangle 39"/>
            <p:cNvSpPr/>
            <p:nvPr/>
          </p:nvSpPr>
          <p:spPr>
            <a:xfrm>
              <a:off x="457200" y="4381500"/>
              <a:ext cx="11277600" cy="1524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5142" y="4664392"/>
              <a:ext cx="1489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Hỗ trợ kèm theo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6285" y="5069681"/>
              <a:ext cx="4164838" cy="5057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Watchlist · Thông báo realtime / push · Khiếu nại &amp; hoàn tiền Đa ngôn ngữ (vi / en / ja / ko) · Khu vực Admin riêng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3" name="TextBox 43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694859" cy="625411"/>
            <a:chOff x="457200" y="419100"/>
            <a:chExt cx="2694859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24784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4353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5012" y="16325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3218" y="1584008"/>
              <a:ext cx="22870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156460"/>
              <a:ext cx="318211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44312" y="16325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2518" y="1584008"/>
              <a:ext cx="24504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1404" y="2156460"/>
              <a:ext cx="293065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5012" y="4013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3218" y="3965258"/>
              <a:ext cx="18907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104" y="4537710"/>
              <a:ext cx="306019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44312" y="4013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2518" y="3965258"/>
              <a:ext cx="25431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1404" y="4537710"/>
              <a:ext cx="297637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30" name="TextBox 30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359200" cy="625411"/>
            <a:chOff x="457200" y="419100"/>
            <a:chExt cx="2359200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16301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Công nghệ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135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Stack kỹ thuật chính của dự án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7200" y="1143000"/>
            <a:ext cx="11277600" cy="4762500"/>
            <a:chOff x="457200" y="1143000"/>
            <a:chExt cx="11277600" cy="4762500"/>
          </a:xfrm>
        </p:grpSpPr>
        <p:sp>
          <p:nvSpPr>
            <p:cNvPr id="6" name="Rectangle 6"/>
            <p:cNvSpPr/>
            <p:nvPr/>
          </p:nvSpPr>
          <p:spPr>
            <a:xfrm>
              <a:off x="457200" y="1143000"/>
              <a:ext cx="11277600" cy="47625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43000"/>
              <a:ext cx="11277600" cy="533400"/>
            </a:xfrm>
            <a:prstGeom prst="roundRect">
              <a:avLst>
                <a:gd name="adj" fmla="val 28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09700"/>
              <a:ext cx="11277600" cy="26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904" y="1356360"/>
              <a:ext cx="425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Nhóm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41904" y="1356360"/>
              <a:ext cx="1483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Công nghệ / Stack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904" y="1680210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Backend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1904" y="1680210"/>
              <a:ext cx="31965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ASP.NET Core 8 MVC · EF Core · Identity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904" y="2175510"/>
              <a:ext cx="763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Database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41904" y="2175510"/>
              <a:ext cx="31285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MySQL (Pomelo) · SQL Server / SQLite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904" y="2670810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Auth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1904" y="2670810"/>
              <a:ext cx="26300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Dual cookie: User / Admin session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30289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5904" y="316611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1904" y="3166110"/>
              <a:ext cx="1694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PayPal Sandbox · COD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904" y="3661410"/>
              <a:ext cx="712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1904" y="3661410"/>
              <a:ext cx="1789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SignalR · Firebase FCM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195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5904" y="4156710"/>
              <a:ext cx="848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Messaging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41904" y="4156710"/>
              <a:ext cx="762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RabbitMQ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904" y="4652010"/>
              <a:ext cx="47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Media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41904" y="4652010"/>
              <a:ext cx="824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Cloudinary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50101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904" y="5147310"/>
              <a:ext cx="763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Frontend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41904" y="5147310"/>
              <a:ext cx="2464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Razor · Tailwind CSS 4 · jQuery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999765" cy="625411"/>
            <a:chOff x="457200" y="419100"/>
            <a:chExt cx="2999765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2783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Phân bố thời gian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633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Sáu giai đoạn phát triển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1104" y="1394460"/>
            <a:ext cx="7393541" cy="3663029"/>
            <a:chOff x="451104" y="1394460"/>
            <a:chExt cx="7393541" cy="3663029"/>
          </a:xfrm>
        </p:grpSpPr>
        <p:sp>
          <p:nvSpPr>
            <p:cNvPr id="6" name="TextBox 6"/>
            <p:cNvSpPr txBox="1"/>
            <p:nvPr/>
          </p:nvSpPr>
          <p:spPr>
            <a:xfrm>
              <a:off x="451104" y="14706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6404" y="1394460"/>
              <a:ext cx="14768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Phân tích yêu cầu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7547" y="1628299"/>
              <a:ext cx="12754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Use Case, DB design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000500" y="14097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61404" y="14897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1104" y="21183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404" y="2042160"/>
              <a:ext cx="1051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Auth &amp; Admin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547" y="2275999"/>
              <a:ext cx="13728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Identity dual-session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00500" y="20574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8654" y="21374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1104" y="27660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689860"/>
              <a:ext cx="1074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Listing &amp; Sell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7547" y="2923699"/>
              <a:ext cx="10805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Verify, Sell flow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00500" y="27051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18654" y="27851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104" y="34137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404" y="3337560"/>
              <a:ext cx="10010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Bid 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547" y="3571399"/>
              <a:ext cx="15847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Đăng ký/cọc, anti-fraud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00500" y="33528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8654" y="34328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104" y="4061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3985260"/>
              <a:ext cx="1001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Order &amp; Pay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547" y="4219099"/>
              <a:ext cx="10449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PayPal, Buy Now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000500" y="40005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1404" y="40805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104" y="47091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404" y="4632960"/>
              <a:ext cx="1101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Polish &amp;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7547" y="4866799"/>
              <a:ext cx="10983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i18n, smoke test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00500" y="4648200"/>
              <a:ext cx="1714500" cy="304800"/>
            </a:xfrm>
            <a:prstGeom prst="roundRec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04154" y="47282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5334000"/>
            <a:ext cx="11277600" cy="762000"/>
            <a:chOff x="457200" y="5334000"/>
            <a:chExt cx="11277600" cy="762000"/>
          </a:xfrm>
        </p:grpSpPr>
        <p:sp>
          <p:nvSpPr>
            <p:cNvPr id="37" name="Rectangle 37"/>
            <p:cNvSpPr/>
            <p:nvPr/>
          </p:nvSpPr>
          <p:spPr>
            <a:xfrm>
              <a:off x="457200" y="5334000"/>
              <a:ext cx="11277600" cy="7620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6666" y="5554028"/>
              <a:ext cx="1002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666" y="5792152"/>
              <a:ext cx="6537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Tỷ lệ gợi ý cho thuyết trình — không có Gantt chính thức trong repository; cần nhóm xác nhận.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66700"/>
            <a:ext cx="6934920" cy="431673"/>
            <a:chOff x="457200" y="266700"/>
            <a:chExt cx="6934920" cy="431673"/>
          </a:xfrm>
        </p:grpSpPr>
        <p:sp>
          <p:nvSpPr>
            <p:cNvPr id="2" name="Rectangle 2"/>
            <p:cNvSpPr/>
            <p:nvPr/>
          </p:nvSpPr>
          <p:spPr>
            <a:xfrm>
              <a:off x="457200" y="2667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132" y="287655"/>
              <a:ext cx="24999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Use Case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995166" y="401002"/>
              <a:ext cx="3396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CardMarket — Hệ thống đấu giá thẻ bài trực tuyến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81250" y="857250"/>
            <a:ext cx="7429500" cy="5334000"/>
            <a:chOff x="2381250" y="857250"/>
            <a:chExt cx="7429500" cy="5334000"/>
          </a:xfrm>
        </p:grpSpPr>
        <p:sp>
          <p:nvSpPr>
            <p:cNvPr id="6" name="Rectangle 6"/>
            <p:cNvSpPr/>
            <p:nvPr/>
          </p:nvSpPr>
          <p:spPr>
            <a:xfrm>
              <a:off x="2381250" y="857250"/>
              <a:ext cx="7429500" cy="5334000"/>
            </a:xfrm>
            <a:prstGeom prst="roundRect">
              <a:avLst>
                <a:gd name="adj" fmla="val 1429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  <a:prstDash val="lgDash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75652" y="994410"/>
              <a:ext cx="1640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CardMarket System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" y="1485900"/>
            <a:ext cx="571500" cy="1368361"/>
            <a:chOff x="666750" y="1485900"/>
            <a:chExt cx="571500" cy="1368361"/>
          </a:xfrm>
        </p:grpSpPr>
        <p:sp>
          <p:nvSpPr>
            <p:cNvPr id="9" name="Ellipse 9"/>
            <p:cNvSpPr/>
            <p:nvPr/>
          </p:nvSpPr>
          <p:spPr>
            <a:xfrm>
              <a:off x="819150" y="1485900"/>
              <a:ext cx="266700" cy="2667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" y="17526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6675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42950" y="2190750"/>
              <a:ext cx="209550" cy="333375"/>
            </a:xfrm>
            <a:custGeom>
              <a:avLst/>
              <a:gdLst/>
              <a:ahLst/>
              <a:cxnLst/>
              <a:rect l="l" t="t" r="r" b="b"/>
              <a:pathLst>
                <a:path w="209550" h="333375">
                  <a:moveTo>
                    <a:pt x="209550" y="0"/>
                  </a:moveTo>
                  <a:lnTo>
                    <a:pt x="0" y="33337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52500" y="2190750"/>
              <a:ext cx="209550" cy="333375"/>
            </a:xfrm>
            <a:custGeom>
              <a:avLst/>
              <a:gdLst/>
              <a:ahLst/>
              <a:cxnLst/>
              <a:rect l="l" t="t" r="r" b="b"/>
              <a:pathLst>
                <a:path w="209550" h="333375">
                  <a:moveTo>
                    <a:pt x="0" y="0"/>
                  </a:moveTo>
                  <a:lnTo>
                    <a:pt x="209550" y="333375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0780" y="2648902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Guest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6750" y="3390900"/>
            <a:ext cx="571500" cy="1368361"/>
            <a:chOff x="666750" y="3390900"/>
            <a:chExt cx="571500" cy="1368361"/>
          </a:xfrm>
        </p:grpSpPr>
        <p:sp>
          <p:nvSpPr>
            <p:cNvPr id="16" name="Ellipse 16"/>
            <p:cNvSpPr/>
            <p:nvPr/>
          </p:nvSpPr>
          <p:spPr>
            <a:xfrm>
              <a:off x="819150" y="3390900"/>
              <a:ext cx="266700" cy="2667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52500" y="36576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66750" y="3810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42950" y="4095750"/>
              <a:ext cx="209550" cy="333375"/>
            </a:xfrm>
            <a:custGeom>
              <a:avLst/>
              <a:gdLst/>
              <a:ahLst/>
              <a:cxnLst/>
              <a:rect l="l" t="t" r="r" b="b"/>
              <a:pathLst>
                <a:path w="209550" h="333375">
                  <a:moveTo>
                    <a:pt x="209550" y="0"/>
                  </a:moveTo>
                  <a:lnTo>
                    <a:pt x="0" y="33337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952500" y="4095750"/>
              <a:ext cx="209550" cy="333375"/>
            </a:xfrm>
            <a:custGeom>
              <a:avLst/>
              <a:gdLst/>
              <a:ahLst/>
              <a:cxnLst/>
              <a:rect l="l" t="t" r="r" b="b"/>
              <a:pathLst>
                <a:path w="209550" h="333375">
                  <a:moveTo>
                    <a:pt x="0" y="0"/>
                  </a:moveTo>
                  <a:lnTo>
                    <a:pt x="209550" y="33337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0780" y="4553902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Buyer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5010150"/>
            <a:ext cx="571500" cy="1225487"/>
            <a:chOff x="666750" y="5010150"/>
            <a:chExt cx="571500" cy="1225487"/>
          </a:xfrm>
        </p:grpSpPr>
        <p:sp>
          <p:nvSpPr>
            <p:cNvPr id="23" name="Ellipse 23"/>
            <p:cNvSpPr/>
            <p:nvPr/>
          </p:nvSpPr>
          <p:spPr>
            <a:xfrm>
              <a:off x="819150" y="5010150"/>
              <a:ext cx="266700" cy="2667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52500" y="52768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66750" y="54102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42950" y="5619750"/>
              <a:ext cx="209550" cy="285750"/>
            </a:xfrm>
            <a:custGeom>
              <a:avLst/>
              <a:gdLst/>
              <a:ahLst/>
              <a:cxnLst/>
              <a:rect l="l" t="t" r="r" b="b"/>
              <a:pathLst>
                <a:path w="209550" h="285750">
                  <a:moveTo>
                    <a:pt x="20955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952500" y="5619750"/>
              <a:ext cx="209550" cy="285750"/>
            </a:xfrm>
            <a:custGeom>
              <a:avLst/>
              <a:gdLst/>
              <a:ahLst/>
              <a:cxnLst/>
              <a:rect l="l" t="t" r="r" b="b"/>
              <a:pathLst>
                <a:path w="209550" h="285750">
                  <a:moveTo>
                    <a:pt x="0" y="0"/>
                  </a:moveTo>
                  <a:lnTo>
                    <a:pt x="209550" y="28575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7420" y="6030278"/>
              <a:ext cx="430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Seller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953750" y="3105150"/>
            <a:ext cx="571500" cy="1368361"/>
            <a:chOff x="10953750" y="3105150"/>
            <a:chExt cx="571500" cy="1368361"/>
          </a:xfrm>
        </p:grpSpPr>
        <p:sp>
          <p:nvSpPr>
            <p:cNvPr id="30" name="Ellipse 30"/>
            <p:cNvSpPr/>
            <p:nvPr/>
          </p:nvSpPr>
          <p:spPr>
            <a:xfrm>
              <a:off x="11106150" y="3105150"/>
              <a:ext cx="266700" cy="2667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1239500" y="337185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953750" y="35242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1029950" y="3810000"/>
              <a:ext cx="209550" cy="333375"/>
            </a:xfrm>
            <a:custGeom>
              <a:avLst/>
              <a:gdLst/>
              <a:ahLst/>
              <a:cxnLst/>
              <a:rect l="l" t="t" r="r" b="b"/>
              <a:pathLst>
                <a:path w="209550" h="333375">
                  <a:moveTo>
                    <a:pt x="209550" y="0"/>
                  </a:moveTo>
                  <a:lnTo>
                    <a:pt x="0" y="33337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239500" y="3810000"/>
              <a:ext cx="209550" cy="333375"/>
            </a:xfrm>
            <a:custGeom>
              <a:avLst/>
              <a:gdLst/>
              <a:ahLst/>
              <a:cxnLst/>
              <a:rect l="l" t="t" r="r" b="b"/>
              <a:pathLst>
                <a:path w="209550" h="333375">
                  <a:moveTo>
                    <a:pt x="0" y="0"/>
                  </a:moveTo>
                  <a:lnTo>
                    <a:pt x="209550" y="33337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031533" y="4268152"/>
              <a:ext cx="4159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Admin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667000" y="1257300"/>
            <a:ext cx="2095500" cy="1104900"/>
            <a:chOff x="2667000" y="1257300"/>
            <a:chExt cx="2095500" cy="1104900"/>
          </a:xfrm>
        </p:grpSpPr>
        <p:sp>
          <p:nvSpPr>
            <p:cNvPr id="37" name="Ellipse 37"/>
            <p:cNvSpPr/>
            <p:nvPr/>
          </p:nvSpPr>
          <p:spPr>
            <a:xfrm>
              <a:off x="2667000" y="1257300"/>
              <a:ext cx="2095500" cy="5334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071790" y="1474470"/>
              <a:ext cx="1285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Xem danh sách đấu giá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2667000" y="1828800"/>
              <a:ext cx="2095500" cy="5334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353594" y="2045970"/>
              <a:ext cx="7223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Đổi ngôn ngữ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667000" y="2495550"/>
            <a:ext cx="2095500" cy="2819400"/>
            <a:chOff x="2667000" y="2495550"/>
            <a:chExt cx="2095500" cy="2819400"/>
          </a:xfrm>
        </p:grpSpPr>
        <p:sp>
          <p:nvSpPr>
            <p:cNvPr id="42" name="Ellipse 42"/>
            <p:cNvSpPr/>
            <p:nvPr/>
          </p:nvSpPr>
          <p:spPr>
            <a:xfrm>
              <a:off x="2667000" y="2495550"/>
              <a:ext cx="2095500" cy="5334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132887" y="2712720"/>
              <a:ext cx="11637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Đăng ký / Đăng nhập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2667000" y="3067050"/>
              <a:ext cx="2095500" cy="5334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096574" y="3284220"/>
              <a:ext cx="12363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Đăng ký đấu giá + Cọc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2667000" y="3638550"/>
              <a:ext cx="2095500" cy="5334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332740" y="3855720"/>
              <a:ext cx="7640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Đặt giá (Bid)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2667000" y="4210050"/>
              <a:ext cx="2095500" cy="5334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123901" y="4427220"/>
              <a:ext cx="1181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Mua ngay (Buy Now)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2667000" y="4781550"/>
              <a:ext cx="2095500" cy="5334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048328" y="4998720"/>
              <a:ext cx="13328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Thanh toán / Hoàn tiền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048250" y="2781300"/>
            <a:ext cx="2095500" cy="1866900"/>
            <a:chOff x="5048250" y="2781300"/>
            <a:chExt cx="2095500" cy="1866900"/>
          </a:xfrm>
        </p:grpSpPr>
        <p:sp>
          <p:nvSpPr>
            <p:cNvPr id="53" name="Ellipse 53"/>
            <p:cNvSpPr/>
            <p:nvPr/>
          </p:nvSpPr>
          <p:spPr>
            <a:xfrm>
              <a:off x="5048250" y="2781300"/>
              <a:ext cx="2095500" cy="533400"/>
            </a:xfrm>
            <a:prstGeom prst="ellipse">
              <a:avLst/>
            </a:prstGeom>
            <a:solidFill>
              <a:srgbClr val="FFF7ED"/>
            </a:solidFill>
            <a:ln w="14288">
              <a:solidFill>
                <a:schemeClr val="accent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551320" y="2998470"/>
              <a:ext cx="1089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Theo dõi Watchlist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048250" y="3448050"/>
              <a:ext cx="2095500" cy="533400"/>
            </a:xfrm>
            <a:prstGeom prst="ellipse">
              <a:avLst/>
            </a:prstGeom>
            <a:solidFill>
              <a:srgbClr val="FFF7ED"/>
            </a:solidFill>
            <a:ln w="14288">
              <a:solidFill>
                <a:schemeClr val="accent1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53011" y="3665220"/>
              <a:ext cx="8859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Nhận thông báo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048250" y="4114800"/>
              <a:ext cx="2095500" cy="533400"/>
            </a:xfrm>
            <a:prstGeom prst="ellipse">
              <a:avLst/>
            </a:prstGeom>
            <a:solidFill>
              <a:srgbClr val="FFF7ED"/>
            </a:solidFill>
            <a:ln w="14288">
              <a:solidFill>
                <a:schemeClr val="accent1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466168" y="4331970"/>
              <a:ext cx="12596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Khiếu nại (Complaint)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953000" y="5067300"/>
            <a:ext cx="2286000" cy="1047750"/>
            <a:chOff x="4953000" y="5067300"/>
            <a:chExt cx="2286000" cy="1047750"/>
          </a:xfrm>
        </p:grpSpPr>
        <p:sp>
          <p:nvSpPr>
            <p:cNvPr id="60" name="Ellipse 60"/>
            <p:cNvSpPr/>
            <p:nvPr/>
          </p:nvSpPr>
          <p:spPr>
            <a:xfrm>
              <a:off x="4953000" y="5067300"/>
              <a:ext cx="2286000" cy="5334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446157" y="5284470"/>
              <a:ext cx="12996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Tạo Auction / Buy Now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4953000" y="5695950"/>
              <a:ext cx="2286000" cy="4191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534791" y="5864066"/>
              <a:ext cx="11224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Quản lý listing đã gửi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429500" y="2019300"/>
            <a:ext cx="2095500" cy="2819400"/>
            <a:chOff x="7429500" y="2019300"/>
            <a:chExt cx="2095500" cy="2819400"/>
          </a:xfrm>
        </p:grpSpPr>
        <p:sp>
          <p:nvSpPr>
            <p:cNvPr id="65" name="Ellipse 65"/>
            <p:cNvSpPr/>
            <p:nvPr/>
          </p:nvSpPr>
          <p:spPr>
            <a:xfrm>
              <a:off x="7429500" y="2019300"/>
              <a:ext cx="2095500" cy="5334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001967" y="2236470"/>
              <a:ext cx="9505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Đăng nhập Admin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429500" y="2590800"/>
              <a:ext cx="2095500" cy="5334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098169" y="2807970"/>
              <a:ext cx="7581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Duyệt listing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429500" y="3162300"/>
              <a:ext cx="2095500" cy="5334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924225" y="3379470"/>
              <a:ext cx="11060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CRUD Auction/User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429500" y="3733800"/>
              <a:ext cx="2095500" cy="5334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152448" y="3950970"/>
              <a:ext cx="649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Phân quyền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429500" y="4305300"/>
              <a:ext cx="2095500" cy="5334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817168" y="4522470"/>
              <a:ext cx="1320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Dashboard / Complaint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238250" y="1524000"/>
            <a:ext cx="1428750" cy="571500"/>
            <a:chOff x="1238250" y="1524000"/>
            <a:chExt cx="1428750" cy="571500"/>
          </a:xfrm>
        </p:grpSpPr>
        <p:sp>
          <p:nvSpPr>
            <p:cNvPr id="76" name="Line 76"/>
            <p:cNvSpPr/>
            <p:nvPr/>
          </p:nvSpPr>
          <p:spPr>
            <a:xfrm>
              <a:off x="1238250" y="1524000"/>
              <a:ext cx="1428750" cy="381000"/>
            </a:xfrm>
            <a:custGeom>
              <a:avLst/>
              <a:gdLst/>
              <a:ahLst/>
              <a:cxnLst/>
              <a:rect l="l" t="t" r="r" b="b"/>
              <a:pathLst>
                <a:path w="1428750" h="381000">
                  <a:moveTo>
                    <a:pt x="0" y="381000"/>
                  </a:moveTo>
                  <a:lnTo>
                    <a:pt x="1428750" y="0"/>
                  </a:lnTo>
                </a:path>
              </a:pathLst>
            </a:custGeom>
            <a:noFill/>
            <a:ln w="11430">
              <a:solidFill>
                <a:schemeClr val="accent3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1238250" y="2000250"/>
              <a:ext cx="1428750" cy="95250"/>
            </a:xfrm>
            <a:custGeom>
              <a:avLst/>
              <a:gdLst/>
              <a:ahLst/>
              <a:cxnLst/>
              <a:rect l="l" t="t" r="r" b="b"/>
              <a:pathLst>
                <a:path w="1428750" h="95250">
                  <a:moveTo>
                    <a:pt x="0" y="0"/>
                  </a:moveTo>
                  <a:lnTo>
                    <a:pt x="1428750" y="95250"/>
                  </a:lnTo>
                </a:path>
              </a:pathLst>
            </a:custGeom>
            <a:noFill/>
            <a:ln w="11430">
              <a:solidFill>
                <a:schemeClr val="accent3"/>
              </a:solidFill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1238250" y="2762250"/>
            <a:ext cx="3810000" cy="2286000"/>
            <a:chOff x="1238250" y="2762250"/>
            <a:chExt cx="3810000" cy="2286000"/>
          </a:xfrm>
        </p:grpSpPr>
        <p:sp>
          <p:nvSpPr>
            <p:cNvPr id="79" name="Line 79"/>
            <p:cNvSpPr/>
            <p:nvPr/>
          </p:nvSpPr>
          <p:spPr>
            <a:xfrm>
              <a:off x="1238250" y="2762250"/>
              <a:ext cx="1428750" cy="857250"/>
            </a:xfrm>
            <a:custGeom>
              <a:avLst/>
              <a:gdLst/>
              <a:ahLst/>
              <a:cxnLst/>
              <a:rect l="l" t="t" r="r" b="b"/>
              <a:pathLst>
                <a:path w="1428750" h="857250">
                  <a:moveTo>
                    <a:pt x="0" y="857250"/>
                  </a:moveTo>
                  <a:lnTo>
                    <a:pt x="1428750" y="0"/>
                  </a:lnTo>
                </a:path>
              </a:pathLst>
            </a:custGeom>
            <a:noFill/>
            <a:ln w="11430">
              <a:solidFill>
                <a:schemeClr val="accent1"/>
              </a:solidFill>
            </a:ln>
          </p:spPr>
        </p:sp>
        <p:sp>
          <p:nvSpPr>
            <p:cNvPr id="80" name="Line 80"/>
            <p:cNvSpPr/>
            <p:nvPr/>
          </p:nvSpPr>
          <p:spPr>
            <a:xfrm>
              <a:off x="1238250" y="3333750"/>
              <a:ext cx="1428750" cy="381000"/>
            </a:xfrm>
            <a:custGeom>
              <a:avLst/>
              <a:gdLst/>
              <a:ahLst/>
              <a:cxnLst/>
              <a:rect l="l" t="t" r="r" b="b"/>
              <a:pathLst>
                <a:path w="1428750" h="381000">
                  <a:moveTo>
                    <a:pt x="0" y="381000"/>
                  </a:moveTo>
                  <a:lnTo>
                    <a:pt x="1428750" y="0"/>
                  </a:lnTo>
                </a:path>
              </a:pathLst>
            </a:custGeom>
            <a:noFill/>
            <a:ln w="11430">
              <a:solidFill>
                <a:schemeClr val="accent1"/>
              </a:solidFill>
            </a:ln>
          </p:spPr>
        </p:sp>
        <p:sp>
          <p:nvSpPr>
            <p:cNvPr id="81" name="Line 81"/>
            <p:cNvSpPr/>
            <p:nvPr/>
          </p:nvSpPr>
          <p:spPr>
            <a:xfrm>
              <a:off x="1238250" y="3810000"/>
              <a:ext cx="1428750" cy="95250"/>
            </a:xfrm>
            <a:custGeom>
              <a:avLst/>
              <a:gdLst/>
              <a:ahLst/>
              <a:cxnLst/>
              <a:rect l="l" t="t" r="r" b="b"/>
              <a:pathLst>
                <a:path w="1428750" h="95250">
                  <a:moveTo>
                    <a:pt x="0" y="0"/>
                  </a:moveTo>
                  <a:lnTo>
                    <a:pt x="1428750" y="95250"/>
                  </a:lnTo>
                </a:path>
              </a:pathLst>
            </a:custGeom>
            <a:noFill/>
            <a:ln w="11430">
              <a:solidFill>
                <a:schemeClr val="accent1"/>
              </a:solidFill>
            </a:ln>
          </p:spPr>
        </p:sp>
        <p:sp>
          <p:nvSpPr>
            <p:cNvPr id="82" name="Line 82"/>
            <p:cNvSpPr/>
            <p:nvPr/>
          </p:nvSpPr>
          <p:spPr>
            <a:xfrm>
              <a:off x="1238250" y="3905250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0" y="0"/>
                  </a:moveTo>
                  <a:lnTo>
                    <a:pt x="1428750" y="571500"/>
                  </a:lnTo>
                </a:path>
              </a:pathLst>
            </a:custGeom>
            <a:noFill/>
            <a:ln w="11430">
              <a:solidFill>
                <a:schemeClr val="accent1"/>
              </a:solidFill>
            </a:ln>
          </p:spPr>
        </p:sp>
        <p:sp>
          <p:nvSpPr>
            <p:cNvPr id="83" name="Line 83"/>
            <p:cNvSpPr/>
            <p:nvPr/>
          </p:nvSpPr>
          <p:spPr>
            <a:xfrm>
              <a:off x="1238250" y="4000500"/>
              <a:ext cx="1428750" cy="1047750"/>
            </a:xfrm>
            <a:custGeom>
              <a:avLst/>
              <a:gdLst/>
              <a:ahLst/>
              <a:cxnLst/>
              <a:rect l="l" t="t" r="r" b="b"/>
              <a:pathLst>
                <a:path w="1428750" h="1047750">
                  <a:moveTo>
                    <a:pt x="0" y="0"/>
                  </a:moveTo>
                  <a:lnTo>
                    <a:pt x="1428750" y="1047750"/>
                  </a:lnTo>
                </a:path>
              </a:pathLst>
            </a:custGeom>
            <a:noFill/>
            <a:ln w="11430">
              <a:solidFill>
                <a:schemeClr val="accent1"/>
              </a:solidFill>
            </a:ln>
          </p:spPr>
        </p:sp>
        <p:sp>
          <p:nvSpPr>
            <p:cNvPr id="84" name="Line 84"/>
            <p:cNvSpPr/>
            <p:nvPr/>
          </p:nvSpPr>
          <p:spPr>
            <a:xfrm>
              <a:off x="1238250" y="3048000"/>
              <a:ext cx="3810000" cy="762000"/>
            </a:xfrm>
            <a:custGeom>
              <a:avLst/>
              <a:gdLst/>
              <a:ahLst/>
              <a:cxnLst/>
              <a:rect l="l" t="t" r="r" b="b"/>
              <a:pathLst>
                <a:path w="3810000" h="762000">
                  <a:moveTo>
                    <a:pt x="0" y="76200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custDash>
                <a:ds d="400000" sp="300000"/>
              </a:custDash>
            </a:ln>
          </p:spPr>
        </p:sp>
        <p:sp>
          <p:nvSpPr>
            <p:cNvPr id="85" name="Line 85"/>
            <p:cNvSpPr/>
            <p:nvPr/>
          </p:nvSpPr>
          <p:spPr>
            <a:xfrm>
              <a:off x="1238250" y="3714750"/>
              <a:ext cx="3810000" cy="190500"/>
            </a:xfrm>
            <a:custGeom>
              <a:avLst/>
              <a:gdLst/>
              <a:ahLst/>
              <a:cxnLst/>
              <a:rect l="l" t="t" r="r" b="b"/>
              <a:pathLst>
                <a:path w="3810000" h="190500">
                  <a:moveTo>
                    <a:pt x="0" y="19050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custDash>
                <a:ds d="400000" sp="300000"/>
              </a:custDash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1238250" y="5334000"/>
            <a:ext cx="3714750" cy="571500"/>
            <a:chOff x="1238250" y="5334000"/>
            <a:chExt cx="3714750" cy="571500"/>
          </a:xfrm>
        </p:grpSpPr>
        <p:sp>
          <p:nvSpPr>
            <p:cNvPr id="87" name="Line 87"/>
            <p:cNvSpPr/>
            <p:nvPr/>
          </p:nvSpPr>
          <p:spPr>
            <a:xfrm>
              <a:off x="1238250" y="5334000"/>
              <a:ext cx="3714750" cy="190500"/>
            </a:xfrm>
            <a:custGeom>
              <a:avLst/>
              <a:gdLst/>
              <a:ahLst/>
              <a:cxnLst/>
              <a:rect l="l" t="t" r="r" b="b"/>
              <a:pathLst>
                <a:path w="3714750" h="190500">
                  <a:moveTo>
                    <a:pt x="0" y="190500"/>
                  </a:moveTo>
                  <a:lnTo>
                    <a:pt x="3714750" y="0"/>
                  </a:lnTo>
                </a:path>
              </a:pathLst>
            </a:custGeom>
            <a:noFill/>
            <a:ln w="11430">
              <a:solidFill>
                <a:schemeClr val="accent3"/>
              </a:solidFill>
            </a:ln>
          </p:spPr>
        </p:sp>
        <p:sp>
          <p:nvSpPr>
            <p:cNvPr id="88" name="Line 88"/>
            <p:cNvSpPr/>
            <p:nvPr/>
          </p:nvSpPr>
          <p:spPr>
            <a:xfrm>
              <a:off x="1238250" y="5715000"/>
              <a:ext cx="3714750" cy="190500"/>
            </a:xfrm>
            <a:custGeom>
              <a:avLst/>
              <a:gdLst/>
              <a:ahLst/>
              <a:cxnLst/>
              <a:rect l="l" t="t" r="r" b="b"/>
              <a:pathLst>
                <a:path w="3714750" h="190500">
                  <a:moveTo>
                    <a:pt x="0" y="0"/>
                  </a:moveTo>
                  <a:lnTo>
                    <a:pt x="3714750" y="190500"/>
                  </a:lnTo>
                </a:path>
              </a:pathLst>
            </a:custGeom>
            <a:noFill/>
            <a:ln w="11430">
              <a:solidFill>
                <a:schemeClr val="accent3"/>
              </a:solidFill>
            </a:ln>
          </p:spPr>
        </p:sp>
      </p:grpSp>
      <p:grpSp>
        <p:nvGrpSpPr>
          <p:cNvPr id="96" name="Group 96"/>
          <p:cNvGrpSpPr/>
          <p:nvPr/>
        </p:nvGrpSpPr>
        <p:grpSpPr>
          <a:xfrm>
            <a:off x="7143750" y="2286000"/>
            <a:ext cx="3810000" cy="2286000"/>
            <a:chOff x="7143750" y="2286000"/>
            <a:chExt cx="3810000" cy="2286000"/>
          </a:xfrm>
        </p:grpSpPr>
        <p:sp>
          <p:nvSpPr>
            <p:cNvPr id="90" name="Line 90"/>
            <p:cNvSpPr/>
            <p:nvPr/>
          </p:nvSpPr>
          <p:spPr>
            <a:xfrm>
              <a:off x="9525000" y="2286000"/>
              <a:ext cx="1428750" cy="1143000"/>
            </a:xfrm>
            <a:custGeom>
              <a:avLst/>
              <a:gdLst/>
              <a:ahLst/>
              <a:cxnLst/>
              <a:rect l="l" t="t" r="r" b="b"/>
              <a:pathLst>
                <a:path w="1428750" h="1143000">
                  <a:moveTo>
                    <a:pt x="1428750" y="114300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chemeClr val="accent1"/>
              </a:solidFill>
            </a:ln>
          </p:spPr>
        </p:sp>
        <p:sp>
          <p:nvSpPr>
            <p:cNvPr id="91" name="Line 91"/>
            <p:cNvSpPr/>
            <p:nvPr/>
          </p:nvSpPr>
          <p:spPr>
            <a:xfrm>
              <a:off x="9525000" y="2857500"/>
              <a:ext cx="1428750" cy="619125"/>
            </a:xfrm>
            <a:custGeom>
              <a:avLst/>
              <a:gdLst/>
              <a:ahLst/>
              <a:cxnLst/>
              <a:rect l="l" t="t" r="r" b="b"/>
              <a:pathLst>
                <a:path w="1428750" h="619125">
                  <a:moveTo>
                    <a:pt x="1428750" y="61912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chemeClr val="accent1"/>
              </a:solidFill>
            </a:ln>
          </p:spPr>
        </p:sp>
        <p:sp>
          <p:nvSpPr>
            <p:cNvPr id="92" name="Line 92"/>
            <p:cNvSpPr/>
            <p:nvPr/>
          </p:nvSpPr>
          <p:spPr>
            <a:xfrm>
              <a:off x="9525000" y="3429000"/>
              <a:ext cx="1428750" cy="95250"/>
            </a:xfrm>
            <a:custGeom>
              <a:avLst/>
              <a:gdLst/>
              <a:ahLst/>
              <a:cxnLst/>
              <a:rect l="l" t="t" r="r" b="b"/>
              <a:pathLst>
                <a:path w="1428750" h="95250">
                  <a:moveTo>
                    <a:pt x="1428750" y="9525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chemeClr val="accent1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9525000" y="3571875"/>
              <a:ext cx="1428750" cy="428625"/>
            </a:xfrm>
            <a:custGeom>
              <a:avLst/>
              <a:gdLst/>
              <a:ahLst/>
              <a:cxnLst/>
              <a:rect l="l" t="t" r="r" b="b"/>
              <a:pathLst>
                <a:path w="1428750" h="428625">
                  <a:moveTo>
                    <a:pt x="1428750" y="0"/>
                  </a:moveTo>
                  <a:lnTo>
                    <a:pt x="0" y="428625"/>
                  </a:lnTo>
                </a:path>
              </a:pathLst>
            </a:custGeom>
            <a:noFill/>
            <a:ln w="11430">
              <a:solidFill>
                <a:schemeClr val="accent1"/>
              </a:solidFill>
            </a:ln>
          </p:spPr>
        </p:sp>
        <p:sp>
          <p:nvSpPr>
            <p:cNvPr id="94" name="Line 94"/>
            <p:cNvSpPr/>
            <p:nvPr/>
          </p:nvSpPr>
          <p:spPr>
            <a:xfrm>
              <a:off x="9525000" y="3619500"/>
              <a:ext cx="1428750" cy="952500"/>
            </a:xfrm>
            <a:custGeom>
              <a:avLst/>
              <a:gdLst/>
              <a:ahLst/>
              <a:cxnLst/>
              <a:rect l="l" t="t" r="r" b="b"/>
              <a:pathLst>
                <a:path w="1428750" h="952500">
                  <a:moveTo>
                    <a:pt x="1428750" y="0"/>
                  </a:moveTo>
                  <a:lnTo>
                    <a:pt x="0" y="952500"/>
                  </a:lnTo>
                </a:path>
              </a:pathLst>
            </a:custGeom>
            <a:noFill/>
            <a:ln w="11430">
              <a:solidFill>
                <a:schemeClr val="accent1"/>
              </a:solidFill>
            </a:ln>
          </p:spPr>
        </p:sp>
        <p:sp>
          <p:nvSpPr>
            <p:cNvPr id="95" name="Line 95"/>
            <p:cNvSpPr/>
            <p:nvPr/>
          </p:nvSpPr>
          <p:spPr>
            <a:xfrm>
              <a:off x="7143750" y="3714750"/>
              <a:ext cx="3810000" cy="666750"/>
            </a:xfrm>
            <a:custGeom>
              <a:avLst/>
              <a:gdLst/>
              <a:ahLst/>
              <a:cxnLst/>
              <a:rect l="l" t="t" r="r" b="b"/>
              <a:pathLst>
                <a:path w="3810000" h="666750">
                  <a:moveTo>
                    <a:pt x="381000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custDash>
                <a:ds d="400000" sp="300000"/>
              </a:custDash>
            </a:ln>
          </p:spPr>
        </p:sp>
      </p:grpSp>
      <p:grpSp>
        <p:nvGrpSpPr>
          <p:cNvPr id="99" name="Group 99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97" name="TextBox 97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71450"/>
            <a:ext cx="6386789" cy="399479"/>
            <a:chOff x="457200" y="171450"/>
            <a:chExt cx="6386789" cy="399479"/>
          </a:xfrm>
        </p:grpSpPr>
        <p:sp>
          <p:nvSpPr>
            <p:cNvPr id="2" name="Rectangle 2"/>
            <p:cNvSpPr/>
            <p:nvPr/>
          </p:nvSpPr>
          <p:spPr>
            <a:xfrm>
              <a:off x="457200" y="17145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89548"/>
              <a:ext cx="22415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Activity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33547" y="294799"/>
              <a:ext cx="36104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Luồng đấu giá: Đăng bán → Duyệt → Cọc → Bid → Thanh toán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81000" y="609600"/>
            <a:ext cx="11430000" cy="5715000"/>
            <a:chOff x="381000" y="609600"/>
            <a:chExt cx="11430000" cy="5715000"/>
          </a:xfrm>
        </p:grpSpPr>
        <p:sp>
          <p:nvSpPr>
            <p:cNvPr id="6" name="Rectangle 6"/>
            <p:cNvSpPr/>
            <p:nvPr/>
          </p:nvSpPr>
          <p:spPr>
            <a:xfrm>
              <a:off x="381000" y="609600"/>
              <a:ext cx="2286000" cy="57150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667000" y="609600"/>
              <a:ext cx="2286000" cy="57150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rgbClr val="FDE68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4953000" y="609600"/>
              <a:ext cx="2667000" cy="57150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0" y="609600"/>
              <a:ext cx="2095500" cy="57150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rgbClr val="FDE68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715500" y="609600"/>
              <a:ext cx="2095500" cy="57150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81000" y="609600"/>
              <a:ext cx="228600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08920" y="743902"/>
              <a:ext cx="430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Seller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67000" y="609600"/>
              <a:ext cx="2286000" cy="381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02033" y="743902"/>
              <a:ext cx="4159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Admin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953000" y="609600"/>
              <a:ext cx="266700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74780" y="743902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Buyer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0" y="609600"/>
              <a:ext cx="2095500" cy="3810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00233" y="743902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715500" y="609600"/>
              <a:ext cx="209550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FDE68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54938" y="743902"/>
              <a:ext cx="616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Payment</a:t>
              </a:r>
            </a:p>
          </p:txBody>
        </p:sp>
      </p:grpSp>
      <p:sp>
        <p:nvSpPr>
          <p:cNvPr id="22" name="Ellipse 22"/>
          <p:cNvSpPr/>
          <p:nvPr/>
        </p:nvSpPr>
        <p:spPr>
          <a:xfrm>
            <a:off x="1419225" y="1133475"/>
            <a:ext cx="209550" cy="2095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1524000" y="1343025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485900" y="15525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66750" y="1628775"/>
            <a:ext cx="17145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037056" y="1788795"/>
            <a:ext cx="97388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Đăng bán listing</a:t>
            </a:r>
          </a:p>
        </p:txBody>
      </p:sp>
      <p:sp>
        <p:nvSpPr>
          <p:cNvPr id="27" name="Line 27"/>
          <p:cNvSpPr/>
          <p:nvPr/>
        </p:nvSpPr>
        <p:spPr>
          <a:xfrm>
            <a:off x="2381250" y="1828800"/>
            <a:ext cx="523875" cy="9525"/>
          </a:xfrm>
          <a:custGeom>
            <a:avLst/>
            <a:gdLst/>
            <a:ahLst/>
            <a:cxnLst/>
            <a:rect l="l" t="t" r="r" b="b"/>
            <a:pathLst>
              <a:path w="523875" h="952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2886075" y="17907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2952750" y="1628775"/>
            <a:ext cx="1714500" cy="40005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412203" y="1788795"/>
            <a:ext cx="79559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Duyệt listing</a:t>
            </a:r>
          </a:p>
        </p:txBody>
      </p:sp>
      <p:sp>
        <p:nvSpPr>
          <p:cNvPr id="31" name="Line 31"/>
          <p:cNvSpPr/>
          <p:nvPr/>
        </p:nvSpPr>
        <p:spPr>
          <a:xfrm>
            <a:off x="3810000" y="2028825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3771900" y="23145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3" name="Polygon 33"/>
          <p:cNvSpPr/>
          <p:nvPr/>
        </p:nvSpPr>
        <p:spPr>
          <a:xfrm>
            <a:off x="3543300" y="23907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533400" y="266700"/>
                </a:lnTo>
                <a:lnTo>
                  <a:pt x="266700" y="533400"/>
                </a:lnTo>
                <a:lnTo>
                  <a:pt x="0" y="2667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chemeClr val="accent1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706558" y="2614612"/>
            <a:ext cx="20688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OK?</a:t>
            </a:r>
          </a:p>
        </p:txBody>
      </p:sp>
      <p:sp>
        <p:nvSpPr>
          <p:cNvPr id="35" name="Freeform 35"/>
          <p:cNvSpPr/>
          <p:nvPr/>
        </p:nvSpPr>
        <p:spPr>
          <a:xfrm>
            <a:off x="2857500" y="2657475"/>
            <a:ext cx="685800" cy="581025"/>
          </a:xfrm>
          <a:custGeom>
            <a:avLst/>
            <a:gdLst/>
            <a:ahLst/>
            <a:cxnLst/>
            <a:rect l="l" t="t" r="r" b="b"/>
            <a:pathLst>
              <a:path w="685800" h="581025">
                <a:moveTo>
                  <a:pt x="685800" y="0"/>
                </a:moveTo>
                <a:lnTo>
                  <a:pt x="0" y="0"/>
                </a:lnTo>
                <a:lnTo>
                  <a:pt x="0" y="581025"/>
                </a:lnTo>
              </a:path>
            </a:pathLst>
          </a:custGeom>
          <a:noFill/>
          <a:ln w="14288">
            <a:solidFill>
              <a:srgbClr val="DC2626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2819400" y="32194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947988" y="2509838"/>
            <a:ext cx="32037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DC2626"/>
                </a:solidFill>
                <a:latin typeface="+mn-lt"/>
                <a:ea typeface="+mn-ea"/>
                <a:cs typeface="+mn-cs"/>
              </a:rPr>
              <a:t>Reject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095500" y="3295650"/>
            <a:ext cx="1524000" cy="3429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4288">
            <a:solidFill>
              <a:srgbClr val="DC2626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478068" y="3425666"/>
            <a:ext cx="75886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991B1B"/>
                </a:solidFill>
                <a:latin typeface="+mn-lt"/>
                <a:ea typeface="+mn-ea"/>
                <a:cs typeface="+mn-cs"/>
              </a:rPr>
              <a:t>Từ chối + lý do</a:t>
            </a:r>
          </a:p>
        </p:txBody>
      </p:sp>
      <p:sp>
        <p:nvSpPr>
          <p:cNvPr id="40" name="Freeform 40"/>
          <p:cNvSpPr/>
          <p:nvPr/>
        </p:nvSpPr>
        <p:spPr>
          <a:xfrm>
            <a:off x="1524000" y="2190750"/>
            <a:ext cx="571500" cy="1276350"/>
          </a:xfrm>
          <a:custGeom>
            <a:avLst/>
            <a:gdLst/>
            <a:ahLst/>
            <a:cxnLst/>
            <a:rect l="l" t="t" r="r" b="b"/>
            <a:pathLst>
              <a:path w="571500" h="1276350">
                <a:moveTo>
                  <a:pt x="571500" y="1276350"/>
                </a:moveTo>
                <a:lnTo>
                  <a:pt x="0" y="1276350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DC2626"/>
            </a:solidFill>
            <a:custDash>
              <a:ds d="333333" sp="250000"/>
            </a:custDash>
          </a:ln>
        </p:spPr>
      </p:sp>
      <p:sp>
        <p:nvSpPr>
          <p:cNvPr id="41" name="Polygon 41"/>
          <p:cNvSpPr/>
          <p:nvPr/>
        </p:nvSpPr>
        <p:spPr>
          <a:xfrm>
            <a:off x="1485900" y="211455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47738" y="2776538"/>
            <a:ext cx="583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DC2626"/>
                </a:solidFill>
                <a:latin typeface="+mn-lt"/>
                <a:ea typeface="+mn-ea"/>
                <a:cs typeface="+mn-cs"/>
              </a:rPr>
              <a:t>Sửa &amp; gửi lại</a:t>
            </a:r>
          </a:p>
        </p:txBody>
      </p:sp>
      <p:sp>
        <p:nvSpPr>
          <p:cNvPr id="43" name="Line 43"/>
          <p:cNvSpPr/>
          <p:nvPr/>
        </p:nvSpPr>
        <p:spPr>
          <a:xfrm>
            <a:off x="3810000" y="2924175"/>
            <a:ext cx="9525" cy="504825"/>
          </a:xfrm>
          <a:custGeom>
            <a:avLst/>
            <a:gdLst/>
            <a:ahLst/>
            <a:cxnLst/>
            <a:rect l="l" t="t" r="r" b="b"/>
            <a:pathLst>
              <a:path w="9525" h="504825">
                <a:moveTo>
                  <a:pt x="0" y="0"/>
                </a:moveTo>
                <a:lnTo>
                  <a:pt x="0" y="504825"/>
                </a:lnTo>
              </a:path>
            </a:pathLst>
          </a:custGeom>
          <a:noFill/>
          <a:ln w="14288">
            <a:solidFill>
              <a:srgbClr val="16A34A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3771900" y="34099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919538" y="3157538"/>
            <a:ext cx="40138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6A34A"/>
                </a:solidFill>
                <a:latin typeface="+mn-lt"/>
                <a:ea typeface="+mn-ea"/>
                <a:cs typeface="+mn-cs"/>
              </a:rPr>
              <a:t>Approve</a:t>
            </a:r>
          </a:p>
        </p:txBody>
      </p:sp>
      <p:sp>
        <p:nvSpPr>
          <p:cNvPr id="46" name="Rectangle 46"/>
          <p:cNvSpPr/>
          <p:nvPr/>
        </p:nvSpPr>
        <p:spPr>
          <a:xfrm>
            <a:off x="2952750" y="3486150"/>
            <a:ext cx="1714500" cy="3429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347866" y="3608070"/>
            <a:ext cx="92426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scheduled / live</a:t>
            </a:r>
          </a:p>
        </p:txBody>
      </p:sp>
      <p:sp>
        <p:nvSpPr>
          <p:cNvPr id="48" name="Line 48"/>
          <p:cNvSpPr/>
          <p:nvPr/>
        </p:nvSpPr>
        <p:spPr>
          <a:xfrm>
            <a:off x="4667250" y="3657600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49" name="Polygon 49"/>
          <p:cNvSpPr/>
          <p:nvPr/>
        </p:nvSpPr>
        <p:spPr>
          <a:xfrm>
            <a:off x="5267325" y="36195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5286375" y="3409950"/>
            <a:ext cx="2000250" cy="4953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5818405" y="3522345"/>
            <a:ext cx="93619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Đăng ký đấu giá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845131" y="3701891"/>
            <a:ext cx="8827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+ Đặt cọc PayPal</a:t>
            </a:r>
          </a:p>
        </p:txBody>
      </p:sp>
      <p:sp>
        <p:nvSpPr>
          <p:cNvPr id="53" name="Freeform 53"/>
          <p:cNvSpPr/>
          <p:nvPr/>
        </p:nvSpPr>
        <p:spPr>
          <a:xfrm>
            <a:off x="7286625" y="1714500"/>
            <a:ext cx="3476625" cy="1943100"/>
          </a:xfrm>
          <a:custGeom>
            <a:avLst/>
            <a:gdLst/>
            <a:ahLst/>
            <a:cxnLst/>
            <a:rect l="l" t="t" r="r" b="b"/>
            <a:pathLst>
              <a:path w="3476625" h="1943100">
                <a:moveTo>
                  <a:pt x="0" y="1943100"/>
                </a:moveTo>
                <a:lnTo>
                  <a:pt x="3476625" y="1943100"/>
                </a:lnTo>
                <a:lnTo>
                  <a:pt x="3476625" y="0"/>
                </a:lnTo>
              </a:path>
            </a:pathLst>
          </a:custGeom>
          <a:noFill/>
          <a:ln w="11430">
            <a:solidFill>
              <a:schemeClr val="accent3"/>
            </a:solidFill>
            <a:custDash>
              <a:ds d="333333" sp="250000"/>
            </a:custDash>
          </a:ln>
        </p:spPr>
      </p:sp>
      <p:sp>
        <p:nvSpPr>
          <p:cNvPr id="54" name="Rectangle 54"/>
          <p:cNvSpPr/>
          <p:nvPr/>
        </p:nvSpPr>
        <p:spPr>
          <a:xfrm>
            <a:off x="10001250" y="1428750"/>
            <a:ext cx="1524000" cy="34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1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10420452" y="1558766"/>
            <a:ext cx="6855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Capture cọc</a:t>
            </a:r>
          </a:p>
        </p:txBody>
      </p:sp>
      <p:sp>
        <p:nvSpPr>
          <p:cNvPr id="56" name="Freeform 56"/>
          <p:cNvSpPr/>
          <p:nvPr/>
        </p:nvSpPr>
        <p:spPr>
          <a:xfrm>
            <a:off x="7286625" y="1771650"/>
            <a:ext cx="3476625" cy="2038350"/>
          </a:xfrm>
          <a:custGeom>
            <a:avLst/>
            <a:gdLst/>
            <a:ahLst/>
            <a:cxnLst/>
            <a:rect l="l" t="t" r="r" b="b"/>
            <a:pathLst>
              <a:path w="3476625" h="2038350">
                <a:moveTo>
                  <a:pt x="3476625" y="0"/>
                </a:moveTo>
                <a:lnTo>
                  <a:pt x="3476625" y="1085850"/>
                </a:lnTo>
                <a:lnTo>
                  <a:pt x="0" y="2038350"/>
                </a:lnTo>
              </a:path>
            </a:pathLst>
          </a:custGeom>
          <a:noFill/>
          <a:ln w="11430">
            <a:solidFill>
              <a:schemeClr val="accent3"/>
            </a:solidFill>
            <a:custDash>
              <a:ds d="333333" sp="250000"/>
            </a:custDash>
          </a:ln>
        </p:spPr>
      </p:sp>
      <p:sp>
        <p:nvSpPr>
          <p:cNvPr id="57" name="Line 57"/>
          <p:cNvSpPr/>
          <p:nvPr/>
        </p:nvSpPr>
        <p:spPr>
          <a:xfrm>
            <a:off x="6286500" y="3905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58" name="Polygon 58"/>
          <p:cNvSpPr/>
          <p:nvPr/>
        </p:nvSpPr>
        <p:spPr>
          <a:xfrm>
            <a:off x="6248400" y="4267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5286375" y="4343400"/>
            <a:ext cx="2000250" cy="4000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986530" y="4495324"/>
            <a:ext cx="59994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Place Bid</a:t>
            </a:r>
          </a:p>
        </p:txBody>
      </p:sp>
      <p:sp>
        <p:nvSpPr>
          <p:cNvPr id="61" name="Line 61"/>
          <p:cNvSpPr/>
          <p:nvPr/>
        </p:nvSpPr>
        <p:spPr>
          <a:xfrm>
            <a:off x="7286625" y="4543425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62" name="Polygon 62"/>
          <p:cNvSpPr/>
          <p:nvPr/>
        </p:nvSpPr>
        <p:spPr>
          <a:xfrm>
            <a:off x="7839075" y="45053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905750" y="4143375"/>
            <a:ext cx="1619250" cy="34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2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8254917" y="4273391"/>
            <a:ext cx="9209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SignalR cập nhật</a:t>
            </a:r>
          </a:p>
        </p:txBody>
      </p:sp>
      <p:sp>
        <p:nvSpPr>
          <p:cNvPr id="65" name="Line 65"/>
          <p:cNvSpPr/>
          <p:nvPr/>
        </p:nvSpPr>
        <p:spPr>
          <a:xfrm>
            <a:off x="8715375" y="4486275"/>
            <a:ext cx="9525" cy="180975"/>
          </a:xfrm>
          <a:custGeom>
            <a:avLst/>
            <a:gdLst/>
            <a:ahLst/>
            <a:cxnLst/>
            <a:rect l="l" t="t" r="r" b="b"/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1430">
            <a:solidFill>
              <a:schemeClr val="accent2"/>
            </a:solidFill>
          </a:ln>
        </p:spPr>
      </p:sp>
      <p:sp>
        <p:nvSpPr>
          <p:cNvPr id="66" name="Rectangle 66"/>
          <p:cNvSpPr/>
          <p:nvPr/>
        </p:nvSpPr>
        <p:spPr>
          <a:xfrm>
            <a:off x="7905750" y="4667250"/>
            <a:ext cx="1619250" cy="3429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14288">
            <a:solidFill>
              <a:schemeClr val="accent2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8190652" y="4797266"/>
            <a:ext cx="10494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Anti-snipe / Fraud</a:t>
            </a:r>
          </a:p>
        </p:txBody>
      </p:sp>
      <p:sp>
        <p:nvSpPr>
          <p:cNvPr id="68" name="Line 68"/>
          <p:cNvSpPr/>
          <p:nvPr/>
        </p:nvSpPr>
        <p:spPr>
          <a:xfrm>
            <a:off x="6286500" y="4743450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69" name="Polygon 69"/>
          <p:cNvSpPr/>
          <p:nvPr/>
        </p:nvSpPr>
        <p:spPr>
          <a:xfrm>
            <a:off x="6048375" y="5095875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0" y="238125"/>
                </a:moveTo>
                <a:lnTo>
                  <a:pt x="238125" y="0"/>
                </a:lnTo>
                <a:lnTo>
                  <a:pt x="476250" y="238125"/>
                </a:lnTo>
                <a:lnTo>
                  <a:pt x="238125" y="47625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chemeClr val="accent1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6101547" y="5299234"/>
            <a:ext cx="369905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8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Hết giờ?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586538" y="5138738"/>
            <a:ext cx="7199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Chưa → bid tiếp</a:t>
            </a:r>
          </a:p>
        </p:txBody>
      </p:sp>
      <p:sp>
        <p:nvSpPr>
          <p:cNvPr id="72" name="Freeform 72"/>
          <p:cNvSpPr/>
          <p:nvPr/>
        </p:nvSpPr>
        <p:spPr>
          <a:xfrm>
            <a:off x="6524625" y="5143500"/>
            <a:ext cx="2190750" cy="190500"/>
          </a:xfrm>
          <a:custGeom>
            <a:avLst/>
            <a:gdLst/>
            <a:ahLst/>
            <a:cxnLst/>
            <a:rect l="l" t="t" r="r" b="b"/>
            <a:pathLst>
              <a:path w="2190750" h="190500">
                <a:moveTo>
                  <a:pt x="0" y="190500"/>
                </a:moveTo>
                <a:lnTo>
                  <a:pt x="2190750" y="190500"/>
                </a:lnTo>
                <a:lnTo>
                  <a:pt x="2190750" y="0"/>
                </a:lnTo>
              </a:path>
            </a:pathLst>
          </a:custGeom>
          <a:noFill/>
          <a:ln w="14288">
            <a:solidFill>
              <a:srgbClr val="16A34A"/>
            </a:solidFill>
          </a:ln>
        </p:spPr>
      </p:sp>
      <p:sp>
        <p:nvSpPr>
          <p:cNvPr id="73" name="Polygon 73"/>
          <p:cNvSpPr/>
          <p:nvPr/>
        </p:nvSpPr>
        <p:spPr>
          <a:xfrm>
            <a:off x="8677275" y="50673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7424738" y="5176838"/>
            <a:ext cx="12373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6A34A"/>
                </a:solidFill>
                <a:latin typeface="+mn-lt"/>
                <a:ea typeface="+mn-ea"/>
                <a:cs typeface="+mn-cs"/>
              </a:rPr>
              <a:t>Có</a:t>
            </a:r>
          </a:p>
        </p:txBody>
      </p:sp>
      <p:sp>
        <p:nvSpPr>
          <p:cNvPr id="75" name="Rectangle 75"/>
          <p:cNvSpPr/>
          <p:nvPr/>
        </p:nvSpPr>
        <p:spPr>
          <a:xfrm>
            <a:off x="7905750" y="5143500"/>
            <a:ext cx="1619250" cy="3429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8245867" y="5273516"/>
            <a:ext cx="93901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Tạo Order thắng</a:t>
            </a:r>
          </a:p>
        </p:txBody>
      </p:sp>
      <p:sp>
        <p:nvSpPr>
          <p:cNvPr id="77" name="Line 77"/>
          <p:cNvSpPr/>
          <p:nvPr/>
        </p:nvSpPr>
        <p:spPr>
          <a:xfrm>
            <a:off x="9525000" y="5314950"/>
            <a:ext cx="714375" cy="9525"/>
          </a:xfrm>
          <a:custGeom>
            <a:avLst/>
            <a:gdLst/>
            <a:ahLst/>
            <a:cxnLst/>
            <a:rect l="l" t="t" r="r" b="b"/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78" name="Polygon 78"/>
          <p:cNvSpPr/>
          <p:nvPr/>
        </p:nvSpPr>
        <p:spPr>
          <a:xfrm>
            <a:off x="10220325" y="527685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9" name="Rectangle 79"/>
          <p:cNvSpPr/>
          <p:nvPr/>
        </p:nvSpPr>
        <p:spPr>
          <a:xfrm>
            <a:off x="10287000" y="5105400"/>
            <a:ext cx="1333500" cy="4191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10552058" y="5265420"/>
            <a:ext cx="8033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PayPal / COD</a:t>
            </a:r>
          </a:p>
        </p:txBody>
      </p:sp>
      <p:sp>
        <p:nvSpPr>
          <p:cNvPr id="81" name="Line 81"/>
          <p:cNvSpPr/>
          <p:nvPr/>
        </p:nvSpPr>
        <p:spPr>
          <a:xfrm>
            <a:off x="10953750" y="552450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4288">
            <a:solidFill>
              <a:schemeClr val="accent2"/>
            </a:solidFill>
          </a:ln>
        </p:spPr>
      </p:sp>
      <p:sp>
        <p:nvSpPr>
          <p:cNvPr id="82" name="Ellipse 82"/>
          <p:cNvSpPr/>
          <p:nvPr/>
        </p:nvSpPr>
        <p:spPr>
          <a:xfrm>
            <a:off x="10839450" y="5886450"/>
            <a:ext cx="228600" cy="2286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</p:sp>
      <p:sp>
        <p:nvSpPr>
          <p:cNvPr id="83" name="Ellipse 83"/>
          <p:cNvSpPr/>
          <p:nvPr/>
        </p:nvSpPr>
        <p:spPr>
          <a:xfrm>
            <a:off x="10896600" y="59436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1" name="Group 91"/>
          <p:cNvGrpSpPr/>
          <p:nvPr/>
        </p:nvGrpSpPr>
        <p:grpSpPr>
          <a:xfrm>
            <a:off x="571500" y="5772150"/>
            <a:ext cx="1069848" cy="523876"/>
            <a:chOff x="571500" y="5772150"/>
            <a:chExt cx="1069848" cy="523876"/>
          </a:xfrm>
        </p:grpSpPr>
        <p:sp>
          <p:nvSpPr>
            <p:cNvPr id="84" name="Ellipse 84"/>
            <p:cNvSpPr/>
            <p:nvPr/>
          </p:nvSpPr>
          <p:spPr>
            <a:xfrm>
              <a:off x="628650" y="57721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14388" y="5786438"/>
              <a:ext cx="2903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Start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1276350" y="5772150"/>
              <a:ext cx="114300" cy="1143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1304925" y="58007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462088" y="5786438"/>
              <a:ext cx="1792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End</a:t>
              </a:r>
            </a:p>
          </p:txBody>
        </p:sp>
        <p:sp>
          <p:nvSpPr>
            <p:cNvPr id="89" name="Polygon 89"/>
            <p:cNvSpPr/>
            <p:nvPr/>
          </p:nvSpPr>
          <p:spPr>
            <a:xfrm>
              <a:off x="571500" y="6096000"/>
              <a:ext cx="228600" cy="190500"/>
            </a:xfrm>
            <a:custGeom>
              <a:avLst/>
              <a:gdLst/>
              <a:ahLst/>
              <a:cxnLst/>
              <a:rect l="l" t="t" r="r" b="b"/>
              <a:pathLst>
                <a:path w="228600" h="190500">
                  <a:moveTo>
                    <a:pt x="114300" y="0"/>
                  </a:moveTo>
                  <a:lnTo>
                    <a:pt x="228600" y="95250"/>
                  </a:lnTo>
                  <a:lnTo>
                    <a:pt x="114300" y="19050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accent1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90588" y="6148388"/>
              <a:ext cx="40607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Decision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92" name="TextBox 9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3146115" cy="625411"/>
            <a:chOff x="457200" y="419100"/>
            <a:chExt cx="3146115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29297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632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ER — các thực thể chính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1333500"/>
            <a:ext cx="9906000" cy="4085939"/>
            <a:chOff x="762000" y="1333500"/>
            <a:chExt cx="9906000" cy="4085939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714500"/>
              <a:ext cx="1905000" cy="1333500"/>
              <a:chOff x="762000" y="1714500"/>
              <a:chExt cx="19050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943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532176" y="1840706"/>
                <a:ext cx="3646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User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7547" y="2256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7547" y="2523649"/>
                <a:ext cx="3367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Email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7547" y="2790349"/>
                <a:ext cx="34345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Roles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429000" y="1524000"/>
              <a:ext cx="1905000" cy="1333500"/>
              <a:chOff x="3429000" y="1524000"/>
              <a:chExt cx="190500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15240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29000" y="15240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429000" y="17526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068568" y="1650206"/>
                <a:ext cx="62586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Product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4547" y="20664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4547" y="2333149"/>
                <a:ext cx="49825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SellerId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14547" y="2599849"/>
                <a:ext cx="59449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Category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1714500"/>
              <a:ext cx="1905000" cy="1333500"/>
              <a:chOff x="6096000" y="1714500"/>
              <a:chExt cx="1905000" cy="1333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096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0" y="1943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755517" y="1840706"/>
                <a:ext cx="5859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Auction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1547" y="2256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1547" y="2523649"/>
                <a:ext cx="63776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ProductId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81547" y="2790349"/>
                <a:ext cx="44937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Status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763000" y="1333500"/>
              <a:ext cx="1905000" cy="1333500"/>
              <a:chOff x="8763000" y="1333500"/>
              <a:chExt cx="1905000" cy="1333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763000" y="1333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763000" y="1333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763000" y="1562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596875" y="1459706"/>
                <a:ext cx="2372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48547" y="1875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8547" y="2142649"/>
                <a:ext cx="60436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48547" y="2409349"/>
                <a:ext cx="47600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Amount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096000" y="4000500"/>
              <a:ext cx="1905000" cy="1333500"/>
              <a:chOff x="6096000" y="4000500"/>
              <a:chExt cx="1905000" cy="1333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096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0" y="4229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806630" y="4126706"/>
                <a:ext cx="4837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Order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81547" y="4542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81547" y="4809649"/>
                <a:ext cx="49252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BuyerId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1547" y="5076349"/>
                <a:ext cx="5485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Payment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29000" y="4000500"/>
              <a:ext cx="1905000" cy="1333500"/>
              <a:chOff x="3429000" y="4000500"/>
              <a:chExt cx="1905000" cy="1333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429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FDE68A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429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429000" y="4229100"/>
                <a:ext cx="19050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890652" y="4126706"/>
                <a:ext cx="9816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Registration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14547" y="4542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14547" y="4809649"/>
                <a:ext cx="60436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614547" y="5076349"/>
                <a:ext cx="48868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Deposit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2667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334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001000" y="190500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048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4381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334000" y="4286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52738" y="19111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19738" y="19111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6738" y="17206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8988" y="3339941"/>
              <a:ext cx="5928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N—1 Winner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67238" y="3339941"/>
              <a:ext cx="4181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1—N Reg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900047" y="5228749"/>
              <a:ext cx="43436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User 1—N Product · Auction 1—N Bid/Registration · Order N—1 Buyer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67" name="TextBox 67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191860" cy="625411"/>
            <a:chOff x="457200" y="419100"/>
            <a:chExt cx="2191860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13581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Kết luận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9685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Điểm nổi bật của CardMarket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333500"/>
            <a:ext cx="5524500" cy="1619250"/>
            <a:chOff x="457200" y="1333500"/>
            <a:chExt cx="5524500" cy="161925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5256" y="1663065"/>
              <a:ext cx="1166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Dual Auth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304" y="2156460"/>
              <a:ext cx="3939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Cookie User và Admin độc lập — tách phiên an toàn.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0" y="1333500"/>
            <a:ext cx="5524500" cy="1619250"/>
            <a:chOff x="6286500" y="1333500"/>
            <a:chExt cx="55245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62865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34556" y="1663065"/>
              <a:ext cx="1737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Verify Listing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37604" y="2156460"/>
              <a:ext cx="31191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Admin duyệt trước khi listing công khai.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3238500"/>
            <a:ext cx="5524500" cy="1619250"/>
            <a:chOff x="457200" y="3238500"/>
            <a:chExt cx="5524500" cy="1619250"/>
          </a:xfrm>
        </p:grpSpPr>
        <p:sp>
          <p:nvSpPr>
            <p:cNvPr id="16" name="Rectangle 16"/>
            <p:cNvSpPr/>
            <p:nvPr/>
          </p:nvSpPr>
          <p:spPr>
            <a:xfrm>
              <a:off x="4572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5256" y="3568065"/>
              <a:ext cx="10688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8304" y="4061460"/>
              <a:ext cx="28584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SignalR + Firebase push + RabbitMQ.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3238500"/>
            <a:ext cx="5524500" cy="1619250"/>
            <a:chOff x="6286500" y="3238500"/>
            <a:chExt cx="5524500" cy="1619250"/>
          </a:xfrm>
        </p:grpSpPr>
        <p:sp>
          <p:nvSpPr>
            <p:cNvPr id="21" name="Rectangle 21"/>
            <p:cNvSpPr/>
            <p:nvPr/>
          </p:nvSpPr>
          <p:spPr>
            <a:xfrm>
              <a:off x="62865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FDE68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4556" y="3568065"/>
              <a:ext cx="14392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Đa ngôn ngữ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7604" y="4061460"/>
              <a:ext cx="2015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locale: vi · en · ja · ko.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5334000"/>
            <a:ext cx="11277600" cy="666750"/>
            <a:chOff x="457200" y="5334000"/>
            <a:chExt cx="11277600" cy="666750"/>
          </a:xfrm>
        </p:grpSpPr>
        <p:sp>
          <p:nvSpPr>
            <p:cNvPr id="26" name="Rectangle 26"/>
            <p:cNvSpPr/>
            <p:nvPr/>
          </p:nvSpPr>
          <p:spPr>
            <a:xfrm>
              <a:off x="457200" y="5334000"/>
              <a:ext cx="11277600" cy="666750"/>
            </a:xfrm>
            <a:prstGeom prst="roundRect">
              <a:avLst>
                <a:gd name="adj" fmla="val 2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905958" y="5614035"/>
              <a:ext cx="43800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Vòng đời đấu giá thẻ bài hoàn chỉnh trên ASP.NET Core 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29" name="TextBox 29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FDE68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753021" y="2087880"/>
              <a:ext cx="468595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652894" y="2659380"/>
              <a:ext cx="288621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27694" y="3664268"/>
              <a:ext cx="3736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67273" y="3950018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22927" y="4442460"/>
              <a:ext cx="17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14" name="TextBox 14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2026-07-21T10:44:36Z</dcterms:created>
  <dcterms:modified xsi:type="dcterms:W3CDTF">2026-07-21T10:44:36Z</dcterms:modified>
  <cp:category/>
  <cp:contentStatus/>
</cp:coreProperties>
</file>