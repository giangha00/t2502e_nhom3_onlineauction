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  <Relationship Id="rId27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Chào hội đồng. Nhóm 3 xin trình bày đề tài CardMarket — RareCard Vault.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20 trang: phần chung, 5 Use Case, 5 Activity, DB, kết luận.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Giới thiệu thành viên nhóm.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Tổng quan hệ thống đấu giá &amp; Buy Now.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Bốn mục tiêu chính của đề tài.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Stack ASP.NET Core 8, Identity, PayPal, SignalR…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Khung giai đoạn phát triển (scenario).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Use Case đăng ký / đăng nhập — dual session User &amp; Admin.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Seller tạo listing; Admin approve/reject.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Buyer đăng ký, đặt cọc, place bid; System anti-fraud &amp; SignalR.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Finalization, Order, thanh toán PayPal/COD.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Mua ngay: cart → invoice → thanh toán trong 7 ngày.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Activity dual cookie: nhánh User và nhánh Admin độc lập.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Submit → confirming → Approve/Reject → live; Seller có thể sửa gửi lại.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Deposit → Place Bid → validate/fraud → SignalR cập nhật giá.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Hết giờ → Worker tạo Order → Buyer thanh toán PayPal hoặc COD.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Add to cart → invoice deadline 7 ngày → thanh toán hoặc hủy/hết hạn.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ER các entity chính.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Điểm nổi bật dual auth, verify, realtime, i18n.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Cảm ơn hội đồng, xin hỏi đáp.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nline_auction_nhom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nline_auction_nhom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2095500" y="-1333500"/>
            <a:ext cx="15430500" cy="9144000"/>
            <a:chOff x="-2095500" y="-1333500"/>
            <a:chExt cx="15430500" cy="9144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9144000" y="-1333500"/>
              <a:ext cx="4191000" cy="4191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2095500" y="4381500"/>
              <a:ext cx="3429000" cy="3429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1143000"/>
            <a:ext cx="1600200" cy="342900"/>
            <a:chOff x="762000" y="1143000"/>
            <a:chExt cx="1600200" cy="342900"/>
          </a:xfrm>
        </p:grpSpPr>
        <p:sp>
          <p:nvSpPr>
            <p:cNvPr id="6" name="Rectangle 6"/>
            <p:cNvSpPr/>
            <p:nvPr/>
          </p:nvSpPr>
          <p:spPr>
            <a:xfrm>
              <a:off x="762000" y="1143000"/>
              <a:ext cx="1600200" cy="342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01934" y="1258252"/>
              <a:ext cx="5203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NHÓM 3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42950" y="1958340"/>
            <a:ext cx="3949245" cy="1615249"/>
            <a:chOff x="742950" y="1958340"/>
            <a:chExt cx="3949245" cy="1615249"/>
          </a:xfrm>
        </p:grpSpPr>
        <p:sp>
          <p:nvSpPr>
            <p:cNvPr id="9" name="TextBox 9"/>
            <p:cNvSpPr txBox="1"/>
            <p:nvPr/>
          </p:nvSpPr>
          <p:spPr>
            <a:xfrm>
              <a:off x="742950" y="1958340"/>
              <a:ext cx="3949245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1332" y="2726055"/>
              <a:ext cx="20833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RareCard Vault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3618" y="3250882"/>
              <a:ext cx="38004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Nền tảng đấu giá thẻ bài trực tuyến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5142" y="3810000"/>
            <a:ext cx="4007358" cy="499301"/>
            <a:chOff x="755142" y="3810000"/>
            <a:chExt cx="4007358" cy="499301"/>
          </a:xfrm>
        </p:grpSpPr>
        <p:sp>
          <p:nvSpPr>
            <p:cNvPr id="13" name="Rectangle 13"/>
            <p:cNvSpPr/>
            <p:nvPr/>
          </p:nvSpPr>
          <p:spPr>
            <a:xfrm>
              <a:off x="762000" y="3810000"/>
              <a:ext cx="400050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5142" y="4045268"/>
              <a:ext cx="27047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Đồ án ASP.NET Core 8 · Nhóm 3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0" y="2286000"/>
            <a:ext cx="2667000" cy="2667000"/>
            <a:chOff x="8572500" y="2286000"/>
            <a:chExt cx="2667000" cy="2667000"/>
          </a:xfrm>
        </p:grpSpPr>
        <p:sp>
          <p:nvSpPr>
            <p:cNvPr id="16" name="Rectangle 16"/>
            <p:cNvSpPr/>
            <p:nvPr/>
          </p:nvSpPr>
          <p:spPr>
            <a:xfrm>
              <a:off x="8572500" y="2286000"/>
              <a:ext cx="2667000" cy="26670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19050">
              <a:solidFill>
                <a:srgbClr val="FDE68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858250" y="2571750"/>
              <a:ext cx="2095500" cy="1333500"/>
            </a:xfrm>
            <a:prstGeom prst="roundRect">
              <a:avLst>
                <a:gd name="adj" fmla="val 857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4137" y="2945130"/>
              <a:ext cx="92372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TCG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165301" y="4251960"/>
              <a:ext cx="14813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Auction &amp; Buy Now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31054" y="4542949"/>
              <a:ext cx="15498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Thẻ bài sưu tầm · Online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22" name="TextBox 22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4854605" cy="431673"/>
            <a:chOff x="457200" y="228600"/>
            <a:chExt cx="4854605" cy="431673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132" y="249555"/>
              <a:ext cx="108504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Mục lục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090166" y="362902"/>
              <a:ext cx="32216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20 trang · Use Case &amp; Activity mỗi luồng 1 slide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457200" y="857250"/>
            <a:ext cx="3619500" cy="5334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FDE68A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80847" y="1037749"/>
            <a:ext cx="77832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PHẦN CHUNG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0085" y="1354931"/>
            <a:ext cx="94525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01 Tên đề tài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0085" y="1640681"/>
            <a:ext cx="7648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02 Mục lục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0085" y="1926431"/>
            <a:ext cx="170541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03 Giới thiệu thành viên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0085" y="2212181"/>
            <a:ext cx="93766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04 Tổng quan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0085" y="2497931"/>
            <a:ext cx="131420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05 Mục tiêu đề tài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0085" y="2783681"/>
            <a:ext cx="93766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06 Công nghệ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0085" y="3069431"/>
            <a:ext cx="144957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07 Phân bố thời gian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0847" y="3561874"/>
            <a:ext cx="25140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KẾT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0085" y="3879056"/>
            <a:ext cx="151536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18 Database Diagram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0085" y="4164806"/>
            <a:ext cx="8169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19 Kết luận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0085" y="4450556"/>
            <a:ext cx="9756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20 Lời cảm ơn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286250" y="857250"/>
            <a:ext cx="3619500" cy="5334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FDE68A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4509897" y="1037749"/>
            <a:ext cx="196647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USE CASE (mỗi luồng 1 trang)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09135" y="1450181"/>
            <a:ext cx="201452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08 UC · Đăng ký / Đăng nhập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09135" y="1831181"/>
            <a:ext cx="18040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09 UC · Đăng bán &amp; Duyệt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09135" y="2212181"/>
            <a:ext cx="20663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10 UC · Đăng ký đấu giá &amp; Bid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09135" y="2593181"/>
            <a:ext cx="21793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11 UC · Kết thúc &amp; Thanh toán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09135" y="2974181"/>
            <a:ext cx="11664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12 UC · Buy Now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514850" y="3524250"/>
            <a:ext cx="3143250" cy="762000"/>
          </a:xfrm>
          <a:prstGeom prst="roundRect">
            <a:avLst>
              <a:gd name="adj" fmla="val 15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700397" y="3752374"/>
            <a:ext cx="14808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5 luồng nghiệp vụ chính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700397" y="3971449"/>
            <a:ext cx="140936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UML Use Case Diagram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115300" y="857250"/>
            <a:ext cx="3619500" cy="5334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FDE68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338947" y="1037749"/>
            <a:ext cx="193445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ACTIVITY (mỗi luồng 1 trang)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38185" y="1450181"/>
            <a:ext cx="99199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13 Act · Auth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38185" y="1831181"/>
            <a:ext cx="18793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14 Act · Đăng bán &amp; Duyệt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38185" y="2212181"/>
            <a:ext cx="15940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15 Act · Đăng ký &amp; Bid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38185" y="2593181"/>
            <a:ext cx="225522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16 Act · Kết thúc &amp; Thanh toán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38185" y="2974181"/>
            <a:ext cx="124038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17 Act · Buy Now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343900" y="3524250"/>
            <a:ext cx="3143250" cy="762000"/>
          </a:xfrm>
          <a:prstGeom prst="roundRect">
            <a:avLst>
              <a:gd name="adj" fmla="val 15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529447" y="3752374"/>
            <a:ext cx="125215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Swimlane + Decision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529447" y="3971449"/>
            <a:ext cx="137002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UML Activity Diagram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39" name="TextBox 39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419100"/>
            <a:ext cx="3575822" cy="625411"/>
            <a:chOff x="457200" y="419100"/>
            <a:chExt cx="3575822" cy="625411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3608" y="426720"/>
              <a:ext cx="33594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Giới thiệu thành viên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839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57200" y="1333500"/>
            <a:ext cx="3429000" cy="1333500"/>
            <a:chOff x="457200" y="1333500"/>
            <a:chExt cx="3429000" cy="1333500"/>
          </a:xfrm>
        </p:grpSpPr>
        <p:sp>
          <p:nvSpPr>
            <p:cNvPr id="6" name="Rectangle 6"/>
            <p:cNvSpPr/>
            <p:nvPr/>
          </p:nvSpPr>
          <p:spPr>
            <a:xfrm>
              <a:off x="457200" y="1333500"/>
              <a:ext cx="34290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66750" y="1590675"/>
              <a:ext cx="533400" cy="53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6486" y="18011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54455" y="1647825"/>
              <a:ext cx="8555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Giang Hà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56741" y="1982152"/>
              <a:ext cx="11531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Thành viên chính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81500" y="1333500"/>
            <a:ext cx="3429000" cy="1333500"/>
            <a:chOff x="4381500" y="1333500"/>
            <a:chExt cx="3429000" cy="1333500"/>
          </a:xfrm>
        </p:grpSpPr>
        <p:sp>
          <p:nvSpPr>
            <p:cNvPr id="12" name="Rectangle 12"/>
            <p:cNvSpPr/>
            <p:nvPr/>
          </p:nvSpPr>
          <p:spPr>
            <a:xfrm>
              <a:off x="4381500" y="1333500"/>
              <a:ext cx="34290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4591050" y="1590675"/>
              <a:ext cx="533400" cy="53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770786" y="18011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78755" y="1647825"/>
              <a:ext cx="12589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Nguyễn Hưng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81041" y="19821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305800" y="1333500"/>
            <a:ext cx="3429000" cy="1333500"/>
            <a:chOff x="8305800" y="1333500"/>
            <a:chExt cx="3429000" cy="1333500"/>
          </a:xfrm>
        </p:grpSpPr>
        <p:sp>
          <p:nvSpPr>
            <p:cNvPr id="18" name="Rectangle 18"/>
            <p:cNvSpPr/>
            <p:nvPr/>
          </p:nvSpPr>
          <p:spPr>
            <a:xfrm>
              <a:off x="8305800" y="1333500"/>
              <a:ext cx="34290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8515350" y="1590675"/>
              <a:ext cx="533400" cy="53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95086" y="18011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203055" y="1647825"/>
              <a:ext cx="14362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Phạm Việt Anh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05341" y="19821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381250" y="3048000"/>
            <a:ext cx="3429000" cy="1333500"/>
            <a:chOff x="2381250" y="3048000"/>
            <a:chExt cx="3429000" cy="1333500"/>
          </a:xfrm>
        </p:grpSpPr>
        <p:sp>
          <p:nvSpPr>
            <p:cNvPr id="24" name="Rectangle 24"/>
            <p:cNvSpPr/>
            <p:nvPr/>
          </p:nvSpPr>
          <p:spPr>
            <a:xfrm>
              <a:off x="2381250" y="3048000"/>
              <a:ext cx="34290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2590800" y="3305175"/>
              <a:ext cx="533400" cy="53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770536" y="35156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78505" y="3362325"/>
              <a:ext cx="17228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Nguyễn Hữu Quân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280791" y="36966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381750" y="3048000"/>
            <a:ext cx="3429000" cy="1333500"/>
            <a:chOff x="6381750" y="3048000"/>
            <a:chExt cx="3429000" cy="1333500"/>
          </a:xfrm>
        </p:grpSpPr>
        <p:sp>
          <p:nvSpPr>
            <p:cNvPr id="30" name="Rectangle 30"/>
            <p:cNvSpPr/>
            <p:nvPr/>
          </p:nvSpPr>
          <p:spPr>
            <a:xfrm>
              <a:off x="6381750" y="3048000"/>
              <a:ext cx="34290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6591300" y="3305175"/>
              <a:ext cx="533400" cy="53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71036" y="35156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79005" y="3362325"/>
              <a:ext cx="10117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azhai4123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81291" y="3696652"/>
              <a:ext cx="13937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Cần xác nhận vai trò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67488" y="4074795"/>
              <a:ext cx="13652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※ Ghi chú: cần xác nhận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57200" y="4762500"/>
            <a:ext cx="11277600" cy="1143000"/>
            <a:chOff x="457200" y="4762500"/>
            <a:chExt cx="11277600" cy="1143000"/>
          </a:xfrm>
        </p:grpSpPr>
        <p:sp>
          <p:nvSpPr>
            <p:cNvPr id="37" name="Rectangle 37"/>
            <p:cNvSpPr/>
            <p:nvPr/>
          </p:nvSpPr>
          <p:spPr>
            <a:xfrm>
              <a:off x="457200" y="4762500"/>
              <a:ext cx="11277600" cy="114300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5904" y="5061585"/>
              <a:ext cx="4422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Lưu ý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6285" y="5355431"/>
              <a:ext cx="67389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Danh sách theo lịch sử git của repository. Vai trò chi tiết cần nhóm xác nhận trước khi nộp.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6666" y="5601652"/>
              <a:ext cx="5515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Không dùng nhân vật giả trên trang About (Julian Thorne…) làm thành viên nhóm.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42" name="TextBox 42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419100"/>
            <a:ext cx="3356573" cy="625411"/>
            <a:chOff x="457200" y="419100"/>
            <a:chExt cx="3356573" cy="625411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3608" y="426720"/>
              <a:ext cx="314016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Tổng quan hệ thống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839152"/>
              <a:ext cx="24164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Đấu giá &amp; Buy Now · thẻ bài sưu tầm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1238250"/>
            <a:ext cx="5524500" cy="1333500"/>
            <a:chOff x="457200" y="1238250"/>
            <a:chExt cx="5524500" cy="1333500"/>
          </a:xfrm>
        </p:grpSpPr>
        <p:sp>
          <p:nvSpPr>
            <p:cNvPr id="6" name="Rectangle 6"/>
            <p:cNvSpPr/>
            <p:nvPr/>
          </p:nvSpPr>
          <p:spPr>
            <a:xfrm>
              <a:off x="457200" y="1238250"/>
              <a:ext cx="55245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16280" y="1504950"/>
              <a:ext cx="18010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Đấu giá (Auction)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18185" y="1878806"/>
              <a:ext cx="3880358" cy="4867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Seller đăng listing → Admin duyệt → Buyer đăng ký &amp; cọc → Bid realtime (SignalR) → Kết thúc → Order &amp; thanh toán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210300" y="1238250"/>
            <a:ext cx="5524500" cy="1333500"/>
            <a:chOff x="6210300" y="1238250"/>
            <a:chExt cx="5524500" cy="1333500"/>
          </a:xfrm>
        </p:grpSpPr>
        <p:sp>
          <p:nvSpPr>
            <p:cNvPr id="10" name="Rectangle 10"/>
            <p:cNvSpPr/>
            <p:nvPr/>
          </p:nvSpPr>
          <p:spPr>
            <a:xfrm>
              <a:off x="6210300" y="1238250"/>
              <a:ext cx="55245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469380" y="1504950"/>
              <a:ext cx="20665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Mua ngay (Buy Now)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71285" y="1878806"/>
              <a:ext cx="3645662" cy="4867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Thêm vào giỏ → Tạo hóa đơn → Thanh toán PayPal / COD Hạn thanh toán 7 ngày · Watchlist &amp; thông báo hỗ trợ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57200" y="2857500"/>
            <a:ext cx="11049000" cy="952500"/>
            <a:chOff x="457200" y="2857500"/>
            <a:chExt cx="11049000" cy="952500"/>
          </a:xfrm>
        </p:grpSpPr>
        <p:sp>
          <p:nvSpPr>
            <p:cNvPr id="14" name="Rectangle 14"/>
            <p:cNvSpPr/>
            <p:nvPr/>
          </p:nvSpPr>
          <p:spPr>
            <a:xfrm>
              <a:off x="457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628650" y="31623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3951" y="32775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8804" y="3261360"/>
              <a:ext cx="721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Đăng bán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68118" y="325088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743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914650" y="31623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039951" y="32775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84804" y="3261360"/>
              <a:ext cx="9930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Admin duyệt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54118" y="325088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029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5200650" y="31623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325951" y="32775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70804" y="3261360"/>
              <a:ext cx="11114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Đăng ký + Cọc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40118" y="325088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315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486650" y="31623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11951" y="32775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56804" y="3261360"/>
              <a:ext cx="1068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Đặt giá (Bid)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26118" y="325088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601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9772650" y="31623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897951" y="32775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242804" y="3261360"/>
              <a:ext cx="908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Thanh toán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57200" y="4381500"/>
            <a:ext cx="11277600" cy="1524000"/>
            <a:chOff x="457200" y="4381500"/>
            <a:chExt cx="11277600" cy="1524000"/>
          </a:xfrm>
        </p:grpSpPr>
        <p:sp>
          <p:nvSpPr>
            <p:cNvPr id="39" name="Rectangle 39"/>
            <p:cNvSpPr/>
            <p:nvPr/>
          </p:nvSpPr>
          <p:spPr>
            <a:xfrm>
              <a:off x="457200" y="4381500"/>
              <a:ext cx="11277600" cy="1524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5142" y="4664392"/>
              <a:ext cx="14899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Hỗ trợ kèm theo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6285" y="5069681"/>
              <a:ext cx="4164838" cy="5057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Watchlist · Thông báo realtime / push · Khiếu nại &amp; hoàn tiền Đa ngôn ngữ (vi / en / ja / ko) · Khu vực Admin riêng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43" name="TextBox 43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419100"/>
            <a:ext cx="2694859" cy="625411"/>
            <a:chOff x="457200" y="419100"/>
            <a:chExt cx="2694859" cy="625411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3608" y="426720"/>
              <a:ext cx="24784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Mục tiêu đề tài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839152"/>
              <a:ext cx="24353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Bốn mục tiêu chính của CardMarket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57200" y="1238250"/>
            <a:ext cx="5524500" cy="2095500"/>
            <a:chOff x="457200" y="1238250"/>
            <a:chExt cx="5524500" cy="2095500"/>
          </a:xfrm>
        </p:grpSpPr>
        <p:sp>
          <p:nvSpPr>
            <p:cNvPr id="6" name="Rectangle 6"/>
            <p:cNvSpPr/>
            <p:nvPr/>
          </p:nvSpPr>
          <p:spPr>
            <a:xfrm>
              <a:off x="457200" y="123825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47700" y="142875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5012" y="163258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63218" y="1584008"/>
              <a:ext cx="22870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Hệ thống hoàn chỉnh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104" y="2156460"/>
              <a:ext cx="3182112" cy="806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Xây dựng nền tảng đấu giá online đầy đủ: MVC, Identity, database và luồng nghiệp vụ end-to-end.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286500" y="1238250"/>
            <a:ext cx="5524500" cy="2095500"/>
            <a:chOff x="6286500" y="1238250"/>
            <a:chExt cx="55245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6286500" y="123825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6477000" y="142875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44312" y="163258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92518" y="1584008"/>
              <a:ext cx="24504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Quy trình thương mại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1404" y="2156460"/>
              <a:ext cx="2930652" cy="806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Mô phỏng thực tế: xác thực listing, cọc đăng ký, chống gian lận bid, thanh toán và phí nền tảng.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7200" y="3619500"/>
            <a:ext cx="5524500" cy="2095500"/>
            <a:chOff x="457200" y="3619500"/>
            <a:chExt cx="5524500" cy="2095500"/>
          </a:xfrm>
        </p:grpSpPr>
        <p:sp>
          <p:nvSpPr>
            <p:cNvPr id="18" name="Rectangle 18"/>
            <p:cNvSpPr/>
            <p:nvPr/>
          </p:nvSpPr>
          <p:spPr>
            <a:xfrm>
              <a:off x="457200" y="361950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647700" y="381000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5012" y="40138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63218" y="3965258"/>
              <a:ext cx="18907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Bảo mật tách lớp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2104" y="4537710"/>
              <a:ext cx="3060192" cy="5204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Tách bảo mật Admin / User bằng dual-session cookies và phân quyền động.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86500" y="3619500"/>
            <a:ext cx="5524500" cy="2095500"/>
            <a:chOff x="6286500" y="3619500"/>
            <a:chExt cx="55245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6286500" y="361950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6477000" y="381000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44312" y="40138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92518" y="3965258"/>
              <a:ext cx="25431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Trải nghiệm người dùng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61404" y="4537710"/>
              <a:ext cx="2976372" cy="5204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Realtime (SignalR / push) và đa ngôn ngữ để phục vụ người dùng quốc tế.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30" name="TextBox 30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419100"/>
            <a:ext cx="2359200" cy="625411"/>
            <a:chOff x="457200" y="419100"/>
            <a:chExt cx="2359200" cy="625411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3608" y="426720"/>
              <a:ext cx="163010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Công nghệ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839152"/>
              <a:ext cx="21359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Stack kỹ thuật chính của dự án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57200" y="1143000"/>
            <a:ext cx="11277600" cy="4762500"/>
            <a:chOff x="457200" y="1143000"/>
            <a:chExt cx="11277600" cy="4762500"/>
          </a:xfrm>
        </p:grpSpPr>
        <p:sp>
          <p:nvSpPr>
            <p:cNvPr id="6" name="Rectangle 6"/>
            <p:cNvSpPr/>
            <p:nvPr/>
          </p:nvSpPr>
          <p:spPr>
            <a:xfrm>
              <a:off x="457200" y="1143000"/>
              <a:ext cx="11277600" cy="476250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143000"/>
              <a:ext cx="11277600" cy="533400"/>
            </a:xfrm>
            <a:prstGeom prst="roundRect">
              <a:avLst>
                <a:gd name="adj" fmla="val 2857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57200" y="1409700"/>
              <a:ext cx="11277600" cy="266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5904" y="1356360"/>
              <a:ext cx="4250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Nhóm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41904" y="1356360"/>
              <a:ext cx="14836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Công nghệ / Stack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904" y="1680210"/>
              <a:ext cx="6705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Backend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41904" y="1680210"/>
              <a:ext cx="31965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ASP.NET Core 8 MVC · EF Core · Identity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9600" y="20383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5904" y="2175510"/>
              <a:ext cx="7638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Database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41904" y="2175510"/>
              <a:ext cx="31285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MySQL (Pomelo) · SQL Server / SQLite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5904" y="2670810"/>
              <a:ext cx="390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Auth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41904" y="2670810"/>
              <a:ext cx="26300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Dual cookie: User / Admin session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" y="30289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5904" y="3166110"/>
              <a:ext cx="908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Thanh toán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41904" y="3166110"/>
              <a:ext cx="16949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PayPal Sandbox · COD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5904" y="3661410"/>
              <a:ext cx="7125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Realtime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41904" y="3661410"/>
              <a:ext cx="17897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SignalR · Firebase FCM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9600" y="40195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5904" y="4156710"/>
              <a:ext cx="8485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Messaging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41904" y="4156710"/>
              <a:ext cx="7628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RabbitMQ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5904" y="4652010"/>
              <a:ext cx="475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Media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41904" y="4652010"/>
              <a:ext cx="824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Cloudinary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9600" y="50101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5904" y="5147310"/>
              <a:ext cx="7638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Frontend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41904" y="5147310"/>
              <a:ext cx="24645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Razor · Tailwind CSS 4 · jQuery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32" name="TextBox 32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06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419100"/>
            <a:ext cx="2999765" cy="625411"/>
            <a:chOff x="457200" y="419100"/>
            <a:chExt cx="2999765" cy="625411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3608" y="426720"/>
              <a:ext cx="27833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Phân bố thời gian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839152"/>
              <a:ext cx="16337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Sáu giai đoạn phát triển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51104" y="1394460"/>
            <a:ext cx="7393541" cy="3663029"/>
            <a:chOff x="451104" y="1394460"/>
            <a:chExt cx="7393541" cy="3663029"/>
          </a:xfrm>
        </p:grpSpPr>
        <p:sp>
          <p:nvSpPr>
            <p:cNvPr id="6" name="TextBox 6"/>
            <p:cNvSpPr txBox="1"/>
            <p:nvPr/>
          </p:nvSpPr>
          <p:spPr>
            <a:xfrm>
              <a:off x="451104" y="14706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46404" y="1394460"/>
              <a:ext cx="14768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Phân tích yêu cầu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7547" y="1628299"/>
              <a:ext cx="12754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Use Case, DB design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000500" y="1409700"/>
              <a:ext cx="2571750" cy="3048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61404" y="1489710"/>
              <a:ext cx="325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15%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1104" y="21183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6404" y="2042160"/>
              <a:ext cx="10513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Auth &amp; Admin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7547" y="2275999"/>
              <a:ext cx="13728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Identity dual-session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000500" y="2057400"/>
              <a:ext cx="3429000" cy="304800"/>
            </a:xfrm>
            <a:prstGeom prst="roundRec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18654" y="2137410"/>
              <a:ext cx="325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1104" y="27660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2689860"/>
              <a:ext cx="10746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Listing &amp; Sell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7547" y="2923699"/>
              <a:ext cx="10805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Verify, Sell flow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00500" y="2705100"/>
              <a:ext cx="3429000" cy="3048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18654" y="2785110"/>
              <a:ext cx="325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1104" y="34137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404" y="3337560"/>
              <a:ext cx="10010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Bid realtime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547" y="3571399"/>
              <a:ext cx="15847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Đăng ký/cọc, anti-fraud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000500" y="3352800"/>
              <a:ext cx="3429000" cy="304800"/>
            </a:xfrm>
            <a:prstGeom prst="roundRec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18654" y="3432810"/>
              <a:ext cx="325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1104" y="40614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404" y="3985260"/>
              <a:ext cx="10013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Order &amp; Pay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7547" y="4219099"/>
              <a:ext cx="10449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PayPal, Buy Now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000500" y="4000500"/>
              <a:ext cx="2571750" cy="3048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61404" y="4080510"/>
              <a:ext cx="325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15%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104" y="47091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6404" y="4632960"/>
              <a:ext cx="11014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Polish &amp; Demo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7547" y="4866799"/>
              <a:ext cx="10983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i18n, smoke test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000500" y="4648200"/>
              <a:ext cx="1714500" cy="304800"/>
            </a:xfrm>
            <a:prstGeom prst="roundRec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804154" y="4728210"/>
              <a:ext cx="325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10%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57200" y="5334000"/>
            <a:ext cx="11277600" cy="762000"/>
            <a:chOff x="457200" y="5334000"/>
            <a:chExt cx="11277600" cy="762000"/>
          </a:xfrm>
        </p:grpSpPr>
        <p:sp>
          <p:nvSpPr>
            <p:cNvPr id="37" name="Rectangle 37"/>
            <p:cNvSpPr/>
            <p:nvPr/>
          </p:nvSpPr>
          <p:spPr>
            <a:xfrm>
              <a:off x="457200" y="5334000"/>
              <a:ext cx="11277600" cy="762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6666" y="5554028"/>
              <a:ext cx="10023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Scenario data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6666" y="5792152"/>
              <a:ext cx="6537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Tỷ lệ gợi ý cho thuyết trình — không có Gantt chính thức trong repository; cần nhóm xác nhận.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41" name="TextBox 41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07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4347948" cy="542639"/>
            <a:chOff x="457200" y="228600"/>
            <a:chExt cx="4347948" cy="542639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265748"/>
              <a:ext cx="412925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Use Case — Đăng ký / Đăng nhập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847" y="580549"/>
              <a:ext cx="32902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Luồng chính 1/5 · Auth (dual session User &amp; Admin)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3048000" y="1047750"/>
            <a:ext cx="6096000" cy="49530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lgDash"/>
          </a:ln>
        </p:spPr>
      </p:sp>
      <p:sp>
        <p:nvSpPr>
          <p:cNvPr id="7" name="TextBox 7"/>
          <p:cNvSpPr txBox="1"/>
          <p:nvPr/>
        </p:nvSpPr>
        <p:spPr>
          <a:xfrm>
            <a:off x="5365229" y="1212056"/>
            <a:ext cx="14615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CardMarket · Auth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10234" y="2552700"/>
            <a:ext cx="865531" cy="1152239"/>
            <a:chOff x="710234" y="2552700"/>
            <a:chExt cx="865531" cy="1152239"/>
          </a:xfrm>
        </p:grpSpPr>
        <p:sp>
          <p:nvSpPr>
            <p:cNvPr id="8" name="Ellipse 8"/>
            <p:cNvSpPr/>
            <p:nvPr/>
          </p:nvSpPr>
          <p:spPr>
            <a:xfrm>
              <a:off x="1028700" y="2552700"/>
              <a:ext cx="228600" cy="2286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143000" y="27813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33450" y="29146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90600" y="3124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15240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143000" y="3124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0" y="0"/>
                  </a:moveTo>
                  <a:lnTo>
                    <a:pt x="152400" y="2857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10234" y="3514249"/>
              <a:ext cx="8655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Guest / User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839450" y="2552700"/>
            <a:ext cx="419100" cy="1152239"/>
            <a:chOff x="10839450" y="2552700"/>
            <a:chExt cx="419100" cy="1152239"/>
          </a:xfrm>
        </p:grpSpPr>
        <p:sp>
          <p:nvSpPr>
            <p:cNvPr id="15" name="Ellipse 15"/>
            <p:cNvSpPr/>
            <p:nvPr/>
          </p:nvSpPr>
          <p:spPr>
            <a:xfrm>
              <a:off x="10934700" y="2552700"/>
              <a:ext cx="228600" cy="2286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1049000" y="27813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0839450" y="29146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0896600" y="3124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15240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1049000" y="3124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0" y="0"/>
                  </a:moveTo>
                  <a:lnTo>
                    <a:pt x="152400" y="2857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854923" y="3514249"/>
              <a:ext cx="3881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Admin</a:t>
              </a:r>
            </a:p>
          </p:txBody>
        </p:sp>
      </p:grpSp>
      <p:sp>
        <p:nvSpPr>
          <p:cNvPr id="22" name="Ellipse 22"/>
          <p:cNvSpPr/>
          <p:nvPr/>
        </p:nvSpPr>
        <p:spPr>
          <a:xfrm>
            <a:off x="4762500" y="1600200"/>
            <a:ext cx="2667000" cy="6096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583358" y="1855470"/>
            <a:ext cx="10252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Đăng ký tài khoản</a:t>
            </a:r>
          </a:p>
        </p:txBody>
      </p:sp>
      <p:sp>
        <p:nvSpPr>
          <p:cNvPr id="24" name="Ellipse 24"/>
          <p:cNvSpPr/>
          <p:nvPr/>
        </p:nvSpPr>
        <p:spPr>
          <a:xfrm>
            <a:off x="4762500" y="2362200"/>
            <a:ext cx="2667000" cy="6096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671271" y="2617470"/>
            <a:ext cx="8494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Xác nhận email</a:t>
            </a:r>
          </a:p>
        </p:txBody>
      </p:sp>
      <p:sp>
        <p:nvSpPr>
          <p:cNvPr id="26" name="Ellipse 26"/>
          <p:cNvSpPr/>
          <p:nvPr/>
        </p:nvSpPr>
        <p:spPr>
          <a:xfrm>
            <a:off x="4762500" y="3124200"/>
            <a:ext cx="2667000" cy="6096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5650954" y="3379470"/>
            <a:ext cx="89009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Đăng nhập User</a:t>
            </a:r>
          </a:p>
        </p:txBody>
      </p:sp>
      <p:sp>
        <p:nvSpPr>
          <p:cNvPr id="28" name="Ellipse 28"/>
          <p:cNvSpPr/>
          <p:nvPr/>
        </p:nvSpPr>
        <p:spPr>
          <a:xfrm>
            <a:off x="4762500" y="3886200"/>
            <a:ext cx="2667000" cy="6096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5457183" y="4141470"/>
            <a:ext cx="127763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Quên mật khẩu (OTP)</a:t>
            </a:r>
          </a:p>
        </p:txBody>
      </p:sp>
      <p:sp>
        <p:nvSpPr>
          <p:cNvPr id="30" name="Ellipse 30"/>
          <p:cNvSpPr/>
          <p:nvPr/>
        </p:nvSpPr>
        <p:spPr>
          <a:xfrm>
            <a:off x="4762500" y="4648200"/>
            <a:ext cx="2667000" cy="6096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5620717" y="4903470"/>
            <a:ext cx="9505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Đăng nhập Admin</a:t>
            </a:r>
          </a:p>
        </p:txBody>
      </p:sp>
      <p:sp>
        <p:nvSpPr>
          <p:cNvPr id="32" name="Ellipse 32"/>
          <p:cNvSpPr/>
          <p:nvPr/>
        </p:nvSpPr>
        <p:spPr>
          <a:xfrm>
            <a:off x="4762500" y="5353050"/>
            <a:ext cx="2667000" cy="5334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804502" y="5570220"/>
            <a:ext cx="58299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Đăng xuất</a:t>
            </a:r>
          </a:p>
        </p:txBody>
      </p:sp>
      <p:sp>
        <p:nvSpPr>
          <p:cNvPr id="34" name="Line 34"/>
          <p:cNvSpPr/>
          <p:nvPr/>
        </p:nvSpPr>
        <p:spPr>
          <a:xfrm>
            <a:off x="1619250" y="1905000"/>
            <a:ext cx="3143250" cy="952500"/>
          </a:xfrm>
          <a:custGeom>
            <a:avLst/>
            <a:gdLst/>
            <a:ahLst/>
            <a:cxnLst/>
            <a:rect l="l" t="t" r="r" b="b"/>
            <a:pathLst>
              <a:path w="3143250" h="952500">
                <a:moveTo>
                  <a:pt x="0" y="952500"/>
                </a:moveTo>
                <a:lnTo>
                  <a:pt x="3143250" y="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35" name="Line 35"/>
          <p:cNvSpPr/>
          <p:nvPr/>
        </p:nvSpPr>
        <p:spPr>
          <a:xfrm>
            <a:off x="1619250" y="2667000"/>
            <a:ext cx="3143250" cy="285750"/>
          </a:xfrm>
          <a:custGeom>
            <a:avLst/>
            <a:gdLst/>
            <a:ahLst/>
            <a:cxnLst/>
            <a:rect l="l" t="t" r="r" b="b"/>
            <a:pathLst>
              <a:path w="3143250" h="285750">
                <a:moveTo>
                  <a:pt x="0" y="285750"/>
                </a:moveTo>
                <a:lnTo>
                  <a:pt x="3143250" y="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36" name="Line 36"/>
          <p:cNvSpPr/>
          <p:nvPr/>
        </p:nvSpPr>
        <p:spPr>
          <a:xfrm>
            <a:off x="1619250" y="3048000"/>
            <a:ext cx="3143250" cy="381000"/>
          </a:xfrm>
          <a:custGeom>
            <a:avLst/>
            <a:gdLst/>
            <a:ahLst/>
            <a:cxnLst/>
            <a:rect l="l" t="t" r="r" b="b"/>
            <a:pathLst>
              <a:path w="3143250" h="381000">
                <a:moveTo>
                  <a:pt x="0" y="0"/>
                </a:moveTo>
                <a:lnTo>
                  <a:pt x="3143250" y="38100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37" name="Line 37"/>
          <p:cNvSpPr/>
          <p:nvPr/>
        </p:nvSpPr>
        <p:spPr>
          <a:xfrm>
            <a:off x="1619250" y="3143250"/>
            <a:ext cx="3143250" cy="1047750"/>
          </a:xfrm>
          <a:custGeom>
            <a:avLst/>
            <a:gdLst/>
            <a:ahLst/>
            <a:cxnLst/>
            <a:rect l="l" t="t" r="r" b="b"/>
            <a:pathLst>
              <a:path w="3143250" h="1047750">
                <a:moveTo>
                  <a:pt x="0" y="0"/>
                </a:moveTo>
                <a:lnTo>
                  <a:pt x="3143250" y="104775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38" name="Line 38"/>
          <p:cNvSpPr/>
          <p:nvPr/>
        </p:nvSpPr>
        <p:spPr>
          <a:xfrm>
            <a:off x="1619250" y="3333750"/>
            <a:ext cx="3143250" cy="2286000"/>
          </a:xfrm>
          <a:custGeom>
            <a:avLst/>
            <a:gdLst/>
            <a:ahLst/>
            <a:cxnLst/>
            <a:rect l="l" t="t" r="r" b="b"/>
            <a:pathLst>
              <a:path w="3143250" h="2286000">
                <a:moveTo>
                  <a:pt x="0" y="0"/>
                </a:moveTo>
                <a:lnTo>
                  <a:pt x="3143250" y="228600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39" name="Line 39"/>
          <p:cNvSpPr/>
          <p:nvPr/>
        </p:nvSpPr>
        <p:spPr>
          <a:xfrm>
            <a:off x="7429500" y="2857500"/>
            <a:ext cx="3143250" cy="2095500"/>
          </a:xfrm>
          <a:custGeom>
            <a:avLst/>
            <a:gdLst/>
            <a:ahLst/>
            <a:cxnLst/>
            <a:rect l="l" t="t" r="r" b="b"/>
            <a:pathLst>
              <a:path w="3143250" h="2095500">
                <a:moveTo>
                  <a:pt x="3143250" y="0"/>
                </a:moveTo>
                <a:lnTo>
                  <a:pt x="0" y="209550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40" name="Line 40"/>
          <p:cNvSpPr/>
          <p:nvPr/>
        </p:nvSpPr>
        <p:spPr>
          <a:xfrm>
            <a:off x="7429500" y="3048000"/>
            <a:ext cx="3143250" cy="2571750"/>
          </a:xfrm>
          <a:custGeom>
            <a:avLst/>
            <a:gdLst/>
            <a:ahLst/>
            <a:cxnLst/>
            <a:rect l="l" t="t" r="r" b="b"/>
            <a:pathLst>
              <a:path w="3143250" h="2571750">
                <a:moveTo>
                  <a:pt x="3143250" y="0"/>
                </a:moveTo>
                <a:lnTo>
                  <a:pt x="0" y="257175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grpSp>
        <p:nvGrpSpPr>
          <p:cNvPr id="43" name="Group 43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41" name="TextBox 41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08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4895588" cy="542639"/>
            <a:chOff x="457200" y="228600"/>
            <a:chExt cx="4895588" cy="542639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265748"/>
              <a:ext cx="46768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Use Case — Đăng bán &amp; Duyệt listing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847" y="580549"/>
              <a:ext cx="29869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Luồng chính 2/5 · Seller submit → Admin verify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2857500" y="1047750"/>
            <a:ext cx="6477000" cy="49530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lgDash"/>
          </a:ln>
        </p:spPr>
      </p:sp>
      <p:sp>
        <p:nvSpPr>
          <p:cNvPr id="7" name="TextBox 7"/>
          <p:cNvSpPr txBox="1"/>
          <p:nvPr/>
        </p:nvSpPr>
        <p:spPr>
          <a:xfrm>
            <a:off x="5274823" y="1212056"/>
            <a:ext cx="164235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CardMarket · Listing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33450" y="2743200"/>
            <a:ext cx="419100" cy="1152239"/>
            <a:chOff x="933450" y="2743200"/>
            <a:chExt cx="419100" cy="1152239"/>
          </a:xfrm>
        </p:grpSpPr>
        <p:sp>
          <p:nvSpPr>
            <p:cNvPr id="8" name="Ellipse 8"/>
            <p:cNvSpPr/>
            <p:nvPr/>
          </p:nvSpPr>
          <p:spPr>
            <a:xfrm>
              <a:off x="1028700" y="2743200"/>
              <a:ext cx="228600" cy="2286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143000" y="29718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33450" y="31051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90600" y="33147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15240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143000" y="33147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0" y="0"/>
                  </a:moveTo>
                  <a:lnTo>
                    <a:pt x="152400" y="2857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2284" y="3704749"/>
              <a:ext cx="4014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Seller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839450" y="2743200"/>
            <a:ext cx="419100" cy="1152239"/>
            <a:chOff x="10839450" y="2743200"/>
            <a:chExt cx="419100" cy="1152239"/>
          </a:xfrm>
        </p:grpSpPr>
        <p:sp>
          <p:nvSpPr>
            <p:cNvPr id="15" name="Ellipse 15"/>
            <p:cNvSpPr/>
            <p:nvPr/>
          </p:nvSpPr>
          <p:spPr>
            <a:xfrm>
              <a:off x="10934700" y="2743200"/>
              <a:ext cx="228600" cy="2286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1049000" y="29718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0839450" y="31051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0896600" y="33147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15240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1049000" y="33147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0" y="0"/>
                  </a:moveTo>
                  <a:lnTo>
                    <a:pt x="152400" y="2857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854923" y="3704749"/>
              <a:ext cx="3881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Admin</a:t>
              </a:r>
            </a:p>
          </p:txBody>
        </p:sp>
      </p:grpSp>
      <p:sp>
        <p:nvSpPr>
          <p:cNvPr id="22" name="Ellipse 22"/>
          <p:cNvSpPr/>
          <p:nvPr/>
        </p:nvSpPr>
        <p:spPr>
          <a:xfrm>
            <a:off x="3714750" y="1714500"/>
            <a:ext cx="2476500" cy="5715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4608218" y="1950720"/>
            <a:ext cx="68956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Tạo Auction</a:t>
            </a:r>
          </a:p>
        </p:txBody>
      </p:sp>
      <p:sp>
        <p:nvSpPr>
          <p:cNvPr id="24" name="Ellipse 24"/>
          <p:cNvSpPr/>
          <p:nvPr/>
        </p:nvSpPr>
        <p:spPr>
          <a:xfrm>
            <a:off x="3714750" y="2476500"/>
            <a:ext cx="2476500" cy="5715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593336" y="2712720"/>
            <a:ext cx="71932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Tạo Buy Now</a:t>
            </a:r>
          </a:p>
        </p:txBody>
      </p:sp>
      <p:sp>
        <p:nvSpPr>
          <p:cNvPr id="26" name="Ellipse 26"/>
          <p:cNvSpPr/>
          <p:nvPr/>
        </p:nvSpPr>
        <p:spPr>
          <a:xfrm>
            <a:off x="3714750" y="3238500"/>
            <a:ext cx="2476500" cy="5715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361582" y="3474720"/>
            <a:ext cx="118283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Upload ảnh sản phẩm</a:t>
            </a:r>
          </a:p>
        </p:txBody>
      </p:sp>
      <p:sp>
        <p:nvSpPr>
          <p:cNvPr id="28" name="Ellipse 28"/>
          <p:cNvSpPr/>
          <p:nvPr/>
        </p:nvSpPr>
        <p:spPr>
          <a:xfrm>
            <a:off x="3714750" y="4000500"/>
            <a:ext cx="2476500" cy="5715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4376899" y="4236720"/>
            <a:ext cx="11522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Theo dõi submission</a:t>
            </a:r>
          </a:p>
        </p:txBody>
      </p:sp>
      <p:sp>
        <p:nvSpPr>
          <p:cNvPr id="30" name="Ellipse 30"/>
          <p:cNvSpPr/>
          <p:nvPr/>
        </p:nvSpPr>
        <p:spPr>
          <a:xfrm>
            <a:off x="3714750" y="4762500"/>
            <a:ext cx="2476500" cy="5715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4603814" y="4998720"/>
            <a:ext cx="6983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Sửa &amp; gửi lại</a:t>
            </a:r>
          </a:p>
        </p:txBody>
      </p:sp>
      <p:sp>
        <p:nvSpPr>
          <p:cNvPr id="32" name="Ellipse 32"/>
          <p:cNvSpPr/>
          <p:nvPr/>
        </p:nvSpPr>
        <p:spPr>
          <a:xfrm>
            <a:off x="6000750" y="2095500"/>
            <a:ext cx="2476500" cy="5715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665686" y="2331720"/>
            <a:ext cx="114662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Xem hàng chờ duyệt</a:t>
            </a:r>
          </a:p>
        </p:txBody>
      </p:sp>
      <p:sp>
        <p:nvSpPr>
          <p:cNvPr id="34" name="Ellipse 34"/>
          <p:cNvSpPr/>
          <p:nvPr/>
        </p:nvSpPr>
        <p:spPr>
          <a:xfrm>
            <a:off x="6000750" y="2952750"/>
            <a:ext cx="2476500" cy="5715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793264" y="3188970"/>
            <a:ext cx="89147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Approve listing</a:t>
            </a:r>
          </a:p>
        </p:txBody>
      </p:sp>
      <p:sp>
        <p:nvSpPr>
          <p:cNvPr id="36" name="Ellipse 36"/>
          <p:cNvSpPr/>
          <p:nvPr/>
        </p:nvSpPr>
        <p:spPr>
          <a:xfrm>
            <a:off x="6000750" y="3810000"/>
            <a:ext cx="2476500" cy="5715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6841291" y="4046220"/>
            <a:ext cx="79541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Reject + lý do</a:t>
            </a:r>
          </a:p>
        </p:txBody>
      </p:sp>
      <p:sp>
        <p:nvSpPr>
          <p:cNvPr id="38" name="Ellipse 38"/>
          <p:cNvSpPr/>
          <p:nvPr/>
        </p:nvSpPr>
        <p:spPr>
          <a:xfrm>
            <a:off x="6000750" y="4667250"/>
            <a:ext cx="2476500" cy="5715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6638696" y="4903470"/>
            <a:ext cx="12006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Tạo listing trực tiếp</a:t>
            </a:r>
          </a:p>
        </p:txBody>
      </p:sp>
      <p:sp>
        <p:nvSpPr>
          <p:cNvPr id="40" name="Line 40"/>
          <p:cNvSpPr/>
          <p:nvPr/>
        </p:nvSpPr>
        <p:spPr>
          <a:xfrm>
            <a:off x="1619250" y="2000250"/>
            <a:ext cx="2095500" cy="1047750"/>
          </a:xfrm>
          <a:custGeom>
            <a:avLst/>
            <a:gdLst/>
            <a:ahLst/>
            <a:cxnLst/>
            <a:rect l="l" t="t" r="r" b="b"/>
            <a:pathLst>
              <a:path w="2095500" h="1047750">
                <a:moveTo>
                  <a:pt x="0" y="1047750"/>
                </a:moveTo>
                <a:lnTo>
                  <a:pt x="2095500" y="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41" name="Line 41"/>
          <p:cNvSpPr/>
          <p:nvPr/>
        </p:nvSpPr>
        <p:spPr>
          <a:xfrm>
            <a:off x="1619250" y="2762250"/>
            <a:ext cx="2095500" cy="381000"/>
          </a:xfrm>
          <a:custGeom>
            <a:avLst/>
            <a:gdLst/>
            <a:ahLst/>
            <a:cxnLst/>
            <a:rect l="l" t="t" r="r" b="b"/>
            <a:pathLst>
              <a:path w="2095500" h="381000">
                <a:moveTo>
                  <a:pt x="0" y="381000"/>
                </a:moveTo>
                <a:lnTo>
                  <a:pt x="2095500" y="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42" name="Line 42"/>
          <p:cNvSpPr/>
          <p:nvPr/>
        </p:nvSpPr>
        <p:spPr>
          <a:xfrm>
            <a:off x="1619250" y="3238500"/>
            <a:ext cx="2095500" cy="285750"/>
          </a:xfrm>
          <a:custGeom>
            <a:avLst/>
            <a:gdLst/>
            <a:ahLst/>
            <a:cxnLst/>
            <a:rect l="l" t="t" r="r" b="b"/>
            <a:pathLst>
              <a:path w="2095500" h="285750">
                <a:moveTo>
                  <a:pt x="0" y="0"/>
                </a:moveTo>
                <a:lnTo>
                  <a:pt x="2095500" y="28575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43" name="Line 43"/>
          <p:cNvSpPr/>
          <p:nvPr/>
        </p:nvSpPr>
        <p:spPr>
          <a:xfrm>
            <a:off x="1619250" y="3333750"/>
            <a:ext cx="2095500" cy="952500"/>
          </a:xfrm>
          <a:custGeom>
            <a:avLst/>
            <a:gdLst/>
            <a:ahLst/>
            <a:cxnLst/>
            <a:rect l="l" t="t" r="r" b="b"/>
            <a:pathLst>
              <a:path w="2095500" h="952500">
                <a:moveTo>
                  <a:pt x="0" y="0"/>
                </a:moveTo>
                <a:lnTo>
                  <a:pt x="2095500" y="95250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44" name="Line 44"/>
          <p:cNvSpPr/>
          <p:nvPr/>
        </p:nvSpPr>
        <p:spPr>
          <a:xfrm>
            <a:off x="1619250" y="3429000"/>
            <a:ext cx="2095500" cy="1619250"/>
          </a:xfrm>
          <a:custGeom>
            <a:avLst/>
            <a:gdLst/>
            <a:ahLst/>
            <a:cxnLst/>
            <a:rect l="l" t="t" r="r" b="b"/>
            <a:pathLst>
              <a:path w="2095500" h="1619250">
                <a:moveTo>
                  <a:pt x="0" y="0"/>
                </a:moveTo>
                <a:lnTo>
                  <a:pt x="2095500" y="161925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45" name="Line 45"/>
          <p:cNvSpPr/>
          <p:nvPr/>
        </p:nvSpPr>
        <p:spPr>
          <a:xfrm>
            <a:off x="8477250" y="2381250"/>
            <a:ext cx="2095500" cy="476250"/>
          </a:xfrm>
          <a:custGeom>
            <a:avLst/>
            <a:gdLst/>
            <a:ahLst/>
            <a:cxnLst/>
            <a:rect l="l" t="t" r="r" b="b"/>
            <a:pathLst>
              <a:path w="2095500" h="476250">
                <a:moveTo>
                  <a:pt x="2095500" y="47625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46" name="Line 46"/>
          <p:cNvSpPr/>
          <p:nvPr/>
        </p:nvSpPr>
        <p:spPr>
          <a:xfrm>
            <a:off x="8477250" y="2952750"/>
            <a:ext cx="2095500" cy="285750"/>
          </a:xfrm>
          <a:custGeom>
            <a:avLst/>
            <a:gdLst/>
            <a:ahLst/>
            <a:cxnLst/>
            <a:rect l="l" t="t" r="r" b="b"/>
            <a:pathLst>
              <a:path w="2095500" h="285750">
                <a:moveTo>
                  <a:pt x="2095500" y="0"/>
                </a:moveTo>
                <a:lnTo>
                  <a:pt x="0" y="28575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47" name="Line 47"/>
          <p:cNvSpPr/>
          <p:nvPr/>
        </p:nvSpPr>
        <p:spPr>
          <a:xfrm>
            <a:off x="8477250" y="3048000"/>
            <a:ext cx="2095500" cy="1047750"/>
          </a:xfrm>
          <a:custGeom>
            <a:avLst/>
            <a:gdLst/>
            <a:ahLst/>
            <a:cxnLst/>
            <a:rect l="l" t="t" r="r" b="b"/>
            <a:pathLst>
              <a:path w="2095500" h="1047750">
                <a:moveTo>
                  <a:pt x="2095500" y="0"/>
                </a:moveTo>
                <a:lnTo>
                  <a:pt x="0" y="104775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48" name="Line 48"/>
          <p:cNvSpPr/>
          <p:nvPr/>
        </p:nvSpPr>
        <p:spPr>
          <a:xfrm>
            <a:off x="8477250" y="3143250"/>
            <a:ext cx="2095500" cy="1809750"/>
          </a:xfrm>
          <a:custGeom>
            <a:avLst/>
            <a:gdLst/>
            <a:ahLst/>
            <a:cxnLst/>
            <a:rect l="l" t="t" r="r" b="b"/>
            <a:pathLst>
              <a:path w="2095500" h="1809750">
                <a:moveTo>
                  <a:pt x="2095500" y="0"/>
                </a:moveTo>
                <a:lnTo>
                  <a:pt x="0" y="180975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grpSp>
        <p:nvGrpSpPr>
          <p:cNvPr id="51" name="Group 51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49" name="TextBox 49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09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4443421" cy="542639"/>
            <a:chOff x="457200" y="228600"/>
            <a:chExt cx="4443421" cy="542639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265748"/>
              <a:ext cx="422472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Use Case — Đăng ký đấu giá &amp; Bid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847" y="580549"/>
              <a:ext cx="30436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Luồng chính 3/5 · Deposit → PlaceBid → Realtime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2667000" y="1047750"/>
            <a:ext cx="6858000" cy="49530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lgDash"/>
          </a:ln>
        </p:spPr>
      </p:sp>
      <p:sp>
        <p:nvSpPr>
          <p:cNvPr id="7" name="TextBox 7"/>
          <p:cNvSpPr txBox="1"/>
          <p:nvPr/>
        </p:nvSpPr>
        <p:spPr>
          <a:xfrm>
            <a:off x="5274823" y="1212056"/>
            <a:ext cx="164235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CardMarket · Bidding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33450" y="2552700"/>
            <a:ext cx="419100" cy="1152239"/>
            <a:chOff x="933450" y="2552700"/>
            <a:chExt cx="419100" cy="1152239"/>
          </a:xfrm>
        </p:grpSpPr>
        <p:sp>
          <p:nvSpPr>
            <p:cNvPr id="8" name="Ellipse 8"/>
            <p:cNvSpPr/>
            <p:nvPr/>
          </p:nvSpPr>
          <p:spPr>
            <a:xfrm>
              <a:off x="1028700" y="2552700"/>
              <a:ext cx="228600" cy="2286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143000" y="27813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33450" y="29146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90600" y="3124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15240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143000" y="3124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0" y="0"/>
                  </a:moveTo>
                  <a:lnTo>
                    <a:pt x="152400" y="2857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5420" y="3514249"/>
              <a:ext cx="3951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Buyer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799343" y="2933700"/>
            <a:ext cx="499314" cy="1152239"/>
            <a:chOff x="10799343" y="2933700"/>
            <a:chExt cx="499314" cy="1152239"/>
          </a:xfrm>
        </p:grpSpPr>
        <p:sp>
          <p:nvSpPr>
            <p:cNvPr id="15" name="Ellipse 15"/>
            <p:cNvSpPr/>
            <p:nvPr/>
          </p:nvSpPr>
          <p:spPr>
            <a:xfrm>
              <a:off x="10934700" y="2933700"/>
              <a:ext cx="228600" cy="2286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1049000" y="31623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0839450" y="32956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0896600" y="3505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15240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1049000" y="3505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0" y="0"/>
                  </a:moveTo>
                  <a:lnTo>
                    <a:pt x="152400" y="2857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799343" y="3895249"/>
              <a:ext cx="4993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System</a:t>
              </a:r>
            </a:p>
          </p:txBody>
        </p:sp>
      </p:grpSp>
      <p:sp>
        <p:nvSpPr>
          <p:cNvPr id="22" name="Ellipse 22"/>
          <p:cNvSpPr/>
          <p:nvPr/>
        </p:nvSpPr>
        <p:spPr>
          <a:xfrm>
            <a:off x="3619500" y="1619250"/>
            <a:ext cx="2667000" cy="5715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4543487" y="1855470"/>
            <a:ext cx="81902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Xem phiên live</a:t>
            </a:r>
          </a:p>
        </p:txBody>
      </p:sp>
      <p:sp>
        <p:nvSpPr>
          <p:cNvPr id="24" name="Ellipse 24"/>
          <p:cNvSpPr/>
          <p:nvPr/>
        </p:nvSpPr>
        <p:spPr>
          <a:xfrm>
            <a:off x="3619500" y="2381250"/>
            <a:ext cx="2667000" cy="5715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506968" y="2617470"/>
            <a:ext cx="89206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Đăng ký đấu giá</a:t>
            </a:r>
          </a:p>
        </p:txBody>
      </p:sp>
      <p:sp>
        <p:nvSpPr>
          <p:cNvPr id="26" name="Ellipse 26"/>
          <p:cNvSpPr/>
          <p:nvPr/>
        </p:nvSpPr>
        <p:spPr>
          <a:xfrm>
            <a:off x="3619500" y="3143250"/>
            <a:ext cx="2667000" cy="5715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422721" y="3379470"/>
            <a:ext cx="10605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Đặt cọc (Deposit)</a:t>
            </a:r>
          </a:p>
        </p:txBody>
      </p:sp>
      <p:sp>
        <p:nvSpPr>
          <p:cNvPr id="28" name="Ellipse 28"/>
          <p:cNvSpPr/>
          <p:nvPr/>
        </p:nvSpPr>
        <p:spPr>
          <a:xfrm>
            <a:off x="3619500" y="3905250"/>
            <a:ext cx="2667000" cy="5715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4690205" y="4141470"/>
            <a:ext cx="52559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Place Bid</a:t>
            </a:r>
          </a:p>
        </p:txBody>
      </p:sp>
      <p:sp>
        <p:nvSpPr>
          <p:cNvPr id="30" name="Ellipse 30"/>
          <p:cNvSpPr/>
          <p:nvPr/>
        </p:nvSpPr>
        <p:spPr>
          <a:xfrm>
            <a:off x="3619500" y="4667250"/>
            <a:ext cx="2667000" cy="5715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4408320" y="4903470"/>
            <a:ext cx="10893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Theo dõi Watchlist</a:t>
            </a:r>
          </a:p>
        </p:txBody>
      </p:sp>
      <p:sp>
        <p:nvSpPr>
          <p:cNvPr id="32" name="Ellipse 32"/>
          <p:cNvSpPr/>
          <p:nvPr/>
        </p:nvSpPr>
        <p:spPr>
          <a:xfrm>
            <a:off x="6286500" y="2000250"/>
            <a:ext cx="2667000" cy="5715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243614" y="2236470"/>
            <a:ext cx="75277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Xác nhận cọc</a:t>
            </a:r>
          </a:p>
        </p:txBody>
      </p:sp>
      <p:sp>
        <p:nvSpPr>
          <p:cNvPr id="34" name="Ellipse 34"/>
          <p:cNvSpPr/>
          <p:nvPr/>
        </p:nvSpPr>
        <p:spPr>
          <a:xfrm>
            <a:off x="6286500" y="2952750"/>
            <a:ext cx="2667000" cy="5715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028582" y="3188970"/>
            <a:ext cx="118283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Kiểm tra anti-fraud</a:t>
            </a:r>
          </a:p>
        </p:txBody>
      </p:sp>
      <p:sp>
        <p:nvSpPr>
          <p:cNvPr id="36" name="Ellipse 36"/>
          <p:cNvSpPr/>
          <p:nvPr/>
        </p:nvSpPr>
        <p:spPr>
          <a:xfrm>
            <a:off x="6286500" y="3905250"/>
            <a:ext cx="2667000" cy="5715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7089252" y="4141470"/>
            <a:ext cx="106149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Anti-snipe gia hạn</a:t>
            </a:r>
          </a:p>
        </p:txBody>
      </p:sp>
      <p:sp>
        <p:nvSpPr>
          <p:cNvPr id="38" name="Ellipse 38"/>
          <p:cNvSpPr/>
          <p:nvPr/>
        </p:nvSpPr>
        <p:spPr>
          <a:xfrm>
            <a:off x="6286500" y="4857750"/>
            <a:ext cx="2667000" cy="5715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7072270" y="5093970"/>
            <a:ext cx="109546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SignalR đẩy giá mới</a:t>
            </a:r>
          </a:p>
        </p:txBody>
      </p:sp>
      <p:sp>
        <p:nvSpPr>
          <p:cNvPr id="40" name="Line 40"/>
          <p:cNvSpPr/>
          <p:nvPr/>
        </p:nvSpPr>
        <p:spPr>
          <a:xfrm>
            <a:off x="1619250" y="1905000"/>
            <a:ext cx="2000250" cy="952500"/>
          </a:xfrm>
          <a:custGeom>
            <a:avLst/>
            <a:gdLst/>
            <a:ahLst/>
            <a:cxnLst/>
            <a:rect l="l" t="t" r="r" b="b"/>
            <a:pathLst>
              <a:path w="2000250" h="952500">
                <a:moveTo>
                  <a:pt x="0" y="952500"/>
                </a:moveTo>
                <a:lnTo>
                  <a:pt x="2000250" y="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41" name="Line 41"/>
          <p:cNvSpPr/>
          <p:nvPr/>
        </p:nvSpPr>
        <p:spPr>
          <a:xfrm>
            <a:off x="1619250" y="2667000"/>
            <a:ext cx="2000250" cy="285750"/>
          </a:xfrm>
          <a:custGeom>
            <a:avLst/>
            <a:gdLst/>
            <a:ahLst/>
            <a:cxnLst/>
            <a:rect l="l" t="t" r="r" b="b"/>
            <a:pathLst>
              <a:path w="2000250" h="285750">
                <a:moveTo>
                  <a:pt x="0" y="285750"/>
                </a:moveTo>
                <a:lnTo>
                  <a:pt x="2000250" y="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42" name="Line 42"/>
          <p:cNvSpPr/>
          <p:nvPr/>
        </p:nvSpPr>
        <p:spPr>
          <a:xfrm>
            <a:off x="1619250" y="3048000"/>
            <a:ext cx="2000250" cy="381000"/>
          </a:xfrm>
          <a:custGeom>
            <a:avLst/>
            <a:gdLst/>
            <a:ahLst/>
            <a:cxnLst/>
            <a:rect l="l" t="t" r="r" b="b"/>
            <a:pathLst>
              <a:path w="2000250" h="381000">
                <a:moveTo>
                  <a:pt x="0" y="0"/>
                </a:moveTo>
                <a:lnTo>
                  <a:pt x="2000250" y="38100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43" name="Line 43"/>
          <p:cNvSpPr/>
          <p:nvPr/>
        </p:nvSpPr>
        <p:spPr>
          <a:xfrm>
            <a:off x="1619250" y="3143250"/>
            <a:ext cx="2000250" cy="1047750"/>
          </a:xfrm>
          <a:custGeom>
            <a:avLst/>
            <a:gdLst/>
            <a:ahLst/>
            <a:cxnLst/>
            <a:rect l="l" t="t" r="r" b="b"/>
            <a:pathLst>
              <a:path w="2000250" h="1047750">
                <a:moveTo>
                  <a:pt x="0" y="0"/>
                </a:moveTo>
                <a:lnTo>
                  <a:pt x="2000250" y="104775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44" name="Line 44"/>
          <p:cNvSpPr/>
          <p:nvPr/>
        </p:nvSpPr>
        <p:spPr>
          <a:xfrm>
            <a:off x="1619250" y="3238500"/>
            <a:ext cx="2000250" cy="1714500"/>
          </a:xfrm>
          <a:custGeom>
            <a:avLst/>
            <a:gdLst/>
            <a:ahLst/>
            <a:cxnLst/>
            <a:rect l="l" t="t" r="r" b="b"/>
            <a:pathLst>
              <a:path w="2000250" h="1714500">
                <a:moveTo>
                  <a:pt x="0" y="0"/>
                </a:moveTo>
                <a:lnTo>
                  <a:pt x="2000250" y="171450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45" name="Line 45"/>
          <p:cNvSpPr/>
          <p:nvPr/>
        </p:nvSpPr>
        <p:spPr>
          <a:xfrm>
            <a:off x="8953500" y="2286000"/>
            <a:ext cx="1619250" cy="762000"/>
          </a:xfrm>
          <a:custGeom>
            <a:avLst/>
            <a:gdLst/>
            <a:ahLst/>
            <a:cxnLst/>
            <a:rect l="l" t="t" r="r" b="b"/>
            <a:pathLst>
              <a:path w="1619250" h="762000">
                <a:moveTo>
                  <a:pt x="1619250" y="7620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46" name="Line 46"/>
          <p:cNvSpPr/>
          <p:nvPr/>
        </p:nvSpPr>
        <p:spPr>
          <a:xfrm>
            <a:off x="8953500" y="3238500"/>
            <a:ext cx="1619250" cy="9525"/>
          </a:xfrm>
          <a:custGeom>
            <a:avLst/>
            <a:gdLst/>
            <a:ahLst/>
            <a:cxnLst/>
            <a:rect l="l" t="t" r="r" b="b"/>
            <a:pathLst>
              <a:path w="1619250" h="9525">
                <a:moveTo>
                  <a:pt x="1619250" y="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47" name="Line 47"/>
          <p:cNvSpPr/>
          <p:nvPr/>
        </p:nvSpPr>
        <p:spPr>
          <a:xfrm>
            <a:off x="8953500" y="3333750"/>
            <a:ext cx="1619250" cy="857250"/>
          </a:xfrm>
          <a:custGeom>
            <a:avLst/>
            <a:gdLst/>
            <a:ahLst/>
            <a:cxnLst/>
            <a:rect l="l" t="t" r="r" b="b"/>
            <a:pathLst>
              <a:path w="1619250" h="857250">
                <a:moveTo>
                  <a:pt x="1619250" y="0"/>
                </a:moveTo>
                <a:lnTo>
                  <a:pt x="0" y="85725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48" name="Line 48"/>
          <p:cNvSpPr/>
          <p:nvPr/>
        </p:nvSpPr>
        <p:spPr>
          <a:xfrm>
            <a:off x="8953500" y="3429000"/>
            <a:ext cx="1619250" cy="1714500"/>
          </a:xfrm>
          <a:custGeom>
            <a:avLst/>
            <a:gdLst/>
            <a:ahLst/>
            <a:cxnLst/>
            <a:rect l="l" t="t" r="r" b="b"/>
            <a:pathLst>
              <a:path w="1619250" h="1714500">
                <a:moveTo>
                  <a:pt x="1619250" y="0"/>
                </a:moveTo>
                <a:lnTo>
                  <a:pt x="0" y="171450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grpSp>
        <p:nvGrpSpPr>
          <p:cNvPr id="51" name="Group 51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49" name="TextBox 49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10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5420657" cy="542639"/>
            <a:chOff x="457200" y="228600"/>
            <a:chExt cx="5420657" cy="542639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265748"/>
              <a:ext cx="520196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Use Case — Kết thúc phiên &amp; Thanh toán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847" y="580549"/>
              <a:ext cx="30551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Luồng chính 4/5 · Finalize order → PayPal / COD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2667000" y="1047750"/>
            <a:ext cx="6858000" cy="49530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lgDash"/>
          </a:ln>
        </p:spPr>
      </p:sp>
      <p:sp>
        <p:nvSpPr>
          <p:cNvPr id="7" name="TextBox 7"/>
          <p:cNvSpPr txBox="1"/>
          <p:nvPr/>
        </p:nvSpPr>
        <p:spPr>
          <a:xfrm>
            <a:off x="5191373" y="1212056"/>
            <a:ext cx="18092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CardMarket · Checkout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33450" y="2266950"/>
            <a:ext cx="419100" cy="1152239"/>
            <a:chOff x="933450" y="2266950"/>
            <a:chExt cx="419100" cy="1152239"/>
          </a:xfrm>
        </p:grpSpPr>
        <p:sp>
          <p:nvSpPr>
            <p:cNvPr id="8" name="Ellipse 8"/>
            <p:cNvSpPr/>
            <p:nvPr/>
          </p:nvSpPr>
          <p:spPr>
            <a:xfrm>
              <a:off x="1028700" y="2266950"/>
              <a:ext cx="228600" cy="2286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143000" y="249555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33450" y="262890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90600" y="283845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15240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143000" y="283845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0" y="0"/>
                  </a:moveTo>
                  <a:lnTo>
                    <a:pt x="152400" y="2857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5420" y="3228499"/>
              <a:ext cx="3951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Buyer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93343" y="4457700"/>
            <a:ext cx="499314" cy="1152239"/>
            <a:chOff x="893343" y="4457700"/>
            <a:chExt cx="499314" cy="1152239"/>
          </a:xfrm>
        </p:grpSpPr>
        <p:sp>
          <p:nvSpPr>
            <p:cNvPr id="15" name="Ellipse 15"/>
            <p:cNvSpPr/>
            <p:nvPr/>
          </p:nvSpPr>
          <p:spPr>
            <a:xfrm>
              <a:off x="1028700" y="4457700"/>
              <a:ext cx="228600" cy="2286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143000" y="46863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933450" y="48196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990600" y="5029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15240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143000" y="5029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0" y="0"/>
                  </a:moveTo>
                  <a:lnTo>
                    <a:pt x="152400" y="28575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93343" y="5419249"/>
              <a:ext cx="4993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System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761268" y="2933700"/>
            <a:ext cx="575465" cy="1152239"/>
            <a:chOff x="10761268" y="2933700"/>
            <a:chExt cx="575465" cy="1152239"/>
          </a:xfrm>
        </p:grpSpPr>
        <p:sp>
          <p:nvSpPr>
            <p:cNvPr id="22" name="Ellipse 22"/>
            <p:cNvSpPr/>
            <p:nvPr/>
          </p:nvSpPr>
          <p:spPr>
            <a:xfrm>
              <a:off x="10934700" y="2933700"/>
              <a:ext cx="228600" cy="2286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1049000" y="31623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10839450" y="32956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10896600" y="3505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15240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1049000" y="3505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0" y="0"/>
                  </a:moveTo>
                  <a:lnTo>
                    <a:pt x="152400" y="2857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761268" y="3895249"/>
              <a:ext cx="5754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Payment</a:t>
              </a:r>
            </a:p>
          </p:txBody>
        </p:sp>
      </p:grpSp>
      <p:sp>
        <p:nvSpPr>
          <p:cNvPr id="29" name="Ellipse 29"/>
          <p:cNvSpPr/>
          <p:nvPr/>
        </p:nvSpPr>
        <p:spPr>
          <a:xfrm>
            <a:off x="3619500" y="1619250"/>
            <a:ext cx="2667000" cy="5715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325235" y="1855470"/>
            <a:ext cx="125552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Nhận thông báo thắng</a:t>
            </a:r>
          </a:p>
        </p:txBody>
      </p:sp>
      <p:sp>
        <p:nvSpPr>
          <p:cNvPr id="31" name="Ellipse 31"/>
          <p:cNvSpPr/>
          <p:nvPr/>
        </p:nvSpPr>
        <p:spPr>
          <a:xfrm>
            <a:off x="3619500" y="2476500"/>
            <a:ext cx="2667000" cy="5715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4381538" y="2712720"/>
            <a:ext cx="114292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Mở Payment Center</a:t>
            </a:r>
          </a:p>
        </p:txBody>
      </p:sp>
      <p:sp>
        <p:nvSpPr>
          <p:cNvPr id="33" name="Ellipse 33"/>
          <p:cNvSpPr/>
          <p:nvPr/>
        </p:nvSpPr>
        <p:spPr>
          <a:xfrm>
            <a:off x="3619500" y="3333750"/>
            <a:ext cx="2667000" cy="5715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558703" y="3569970"/>
            <a:ext cx="7885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Chọn shipping</a:t>
            </a:r>
          </a:p>
        </p:txBody>
      </p:sp>
      <p:sp>
        <p:nvSpPr>
          <p:cNvPr id="35" name="Ellipse 35"/>
          <p:cNvSpPr/>
          <p:nvPr/>
        </p:nvSpPr>
        <p:spPr>
          <a:xfrm>
            <a:off x="3619500" y="4191000"/>
            <a:ext cx="2667000" cy="5715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4421360" y="4427220"/>
            <a:ext cx="106328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Thanh toán PayPal</a:t>
            </a:r>
          </a:p>
        </p:txBody>
      </p:sp>
      <p:sp>
        <p:nvSpPr>
          <p:cNvPr id="37" name="Ellipse 37"/>
          <p:cNvSpPr/>
          <p:nvPr/>
        </p:nvSpPr>
        <p:spPr>
          <a:xfrm>
            <a:off x="3619500" y="5048250"/>
            <a:ext cx="2667000" cy="5715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4491495" y="5284470"/>
            <a:ext cx="92301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Thanh toán COD</a:t>
            </a:r>
          </a:p>
        </p:txBody>
      </p:sp>
      <p:sp>
        <p:nvSpPr>
          <p:cNvPr id="39" name="Ellipse 39"/>
          <p:cNvSpPr/>
          <p:nvPr/>
        </p:nvSpPr>
        <p:spPr>
          <a:xfrm>
            <a:off x="6286500" y="2000250"/>
            <a:ext cx="2667000" cy="5715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7042214" y="2236470"/>
            <a:ext cx="11555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Finalization Worker</a:t>
            </a:r>
          </a:p>
        </p:txBody>
      </p:sp>
      <p:sp>
        <p:nvSpPr>
          <p:cNvPr id="41" name="Ellipse 41"/>
          <p:cNvSpPr/>
          <p:nvPr/>
        </p:nvSpPr>
        <p:spPr>
          <a:xfrm>
            <a:off x="6286500" y="2952750"/>
            <a:ext cx="2667000" cy="5715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6947726" y="3188970"/>
            <a:ext cx="134454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Tạo Order auction_win</a:t>
            </a:r>
          </a:p>
        </p:txBody>
      </p:sp>
      <p:sp>
        <p:nvSpPr>
          <p:cNvPr id="43" name="Ellipse 43"/>
          <p:cNvSpPr/>
          <p:nvPr/>
        </p:nvSpPr>
        <p:spPr>
          <a:xfrm>
            <a:off x="6286500" y="3905250"/>
            <a:ext cx="2667000" cy="5715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7218754" y="4141470"/>
            <a:ext cx="80249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Capture / IPN</a:t>
            </a:r>
          </a:p>
        </p:txBody>
      </p:sp>
      <p:sp>
        <p:nvSpPr>
          <p:cNvPr id="45" name="Ellipse 45"/>
          <p:cNvSpPr/>
          <p:nvPr/>
        </p:nvSpPr>
        <p:spPr>
          <a:xfrm>
            <a:off x="6286500" y="4857750"/>
            <a:ext cx="2667000" cy="5715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7089252" y="5093970"/>
            <a:ext cx="106149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Ghi nhận hoàn tiền</a:t>
            </a:r>
          </a:p>
        </p:txBody>
      </p:sp>
      <p:sp>
        <p:nvSpPr>
          <p:cNvPr id="47" name="Line 47"/>
          <p:cNvSpPr/>
          <p:nvPr/>
        </p:nvSpPr>
        <p:spPr>
          <a:xfrm>
            <a:off x="1619250" y="1905000"/>
            <a:ext cx="2000250" cy="666750"/>
          </a:xfrm>
          <a:custGeom>
            <a:avLst/>
            <a:gdLst/>
            <a:ahLst/>
            <a:cxnLst/>
            <a:rect l="l" t="t" r="r" b="b"/>
            <a:pathLst>
              <a:path w="2000250" h="666750">
                <a:moveTo>
                  <a:pt x="0" y="666750"/>
                </a:moveTo>
                <a:lnTo>
                  <a:pt x="2000250" y="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48" name="Line 48"/>
          <p:cNvSpPr/>
          <p:nvPr/>
        </p:nvSpPr>
        <p:spPr>
          <a:xfrm>
            <a:off x="1619250" y="2667000"/>
            <a:ext cx="2000250" cy="95250"/>
          </a:xfrm>
          <a:custGeom>
            <a:avLst/>
            <a:gdLst/>
            <a:ahLst/>
            <a:cxnLst/>
            <a:rect l="l" t="t" r="r" b="b"/>
            <a:pathLst>
              <a:path w="2000250" h="95250">
                <a:moveTo>
                  <a:pt x="0" y="0"/>
                </a:moveTo>
                <a:lnTo>
                  <a:pt x="2000250" y="9525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49" name="Line 49"/>
          <p:cNvSpPr/>
          <p:nvPr/>
        </p:nvSpPr>
        <p:spPr>
          <a:xfrm>
            <a:off x="1619250" y="2762250"/>
            <a:ext cx="2000250" cy="857250"/>
          </a:xfrm>
          <a:custGeom>
            <a:avLst/>
            <a:gdLst/>
            <a:ahLst/>
            <a:cxnLst/>
            <a:rect l="l" t="t" r="r" b="b"/>
            <a:pathLst>
              <a:path w="2000250" h="857250">
                <a:moveTo>
                  <a:pt x="0" y="0"/>
                </a:moveTo>
                <a:lnTo>
                  <a:pt x="2000250" y="85725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50" name="Line 50"/>
          <p:cNvSpPr/>
          <p:nvPr/>
        </p:nvSpPr>
        <p:spPr>
          <a:xfrm>
            <a:off x="1619250" y="2857500"/>
            <a:ext cx="2000250" cy="1619250"/>
          </a:xfrm>
          <a:custGeom>
            <a:avLst/>
            <a:gdLst/>
            <a:ahLst/>
            <a:cxnLst/>
            <a:rect l="l" t="t" r="r" b="b"/>
            <a:pathLst>
              <a:path w="2000250" h="1619250">
                <a:moveTo>
                  <a:pt x="0" y="0"/>
                </a:moveTo>
                <a:lnTo>
                  <a:pt x="2000250" y="161925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51" name="Line 51"/>
          <p:cNvSpPr/>
          <p:nvPr/>
        </p:nvSpPr>
        <p:spPr>
          <a:xfrm>
            <a:off x="1619250" y="2952750"/>
            <a:ext cx="2000250" cy="2381250"/>
          </a:xfrm>
          <a:custGeom>
            <a:avLst/>
            <a:gdLst/>
            <a:ahLst/>
            <a:cxnLst/>
            <a:rect l="l" t="t" r="r" b="b"/>
            <a:pathLst>
              <a:path w="2000250" h="2381250">
                <a:moveTo>
                  <a:pt x="0" y="0"/>
                </a:moveTo>
                <a:lnTo>
                  <a:pt x="2000250" y="238125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52" name="Line 52"/>
          <p:cNvSpPr/>
          <p:nvPr/>
        </p:nvSpPr>
        <p:spPr>
          <a:xfrm>
            <a:off x="1619250" y="2286000"/>
            <a:ext cx="2000250" cy="2476500"/>
          </a:xfrm>
          <a:custGeom>
            <a:avLst/>
            <a:gdLst/>
            <a:ahLst/>
            <a:cxnLst/>
            <a:rect l="l" t="t" r="r" b="b"/>
            <a:pathLst>
              <a:path w="2000250" h="2476500">
                <a:moveTo>
                  <a:pt x="0" y="2476500"/>
                </a:moveTo>
                <a:lnTo>
                  <a:pt x="2000250" y="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53" name="Line 53"/>
          <p:cNvSpPr/>
          <p:nvPr/>
        </p:nvSpPr>
        <p:spPr>
          <a:xfrm>
            <a:off x="1619250" y="3238500"/>
            <a:ext cx="2000250" cy="1619250"/>
          </a:xfrm>
          <a:custGeom>
            <a:avLst/>
            <a:gdLst/>
            <a:ahLst/>
            <a:cxnLst/>
            <a:rect l="l" t="t" r="r" b="b"/>
            <a:pathLst>
              <a:path w="2000250" h="1619250">
                <a:moveTo>
                  <a:pt x="0" y="1619250"/>
                </a:moveTo>
                <a:lnTo>
                  <a:pt x="2000250" y="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54" name="Line 54"/>
          <p:cNvSpPr/>
          <p:nvPr/>
        </p:nvSpPr>
        <p:spPr>
          <a:xfrm>
            <a:off x="8953500" y="3048000"/>
            <a:ext cx="1619250" cy="1143000"/>
          </a:xfrm>
          <a:custGeom>
            <a:avLst/>
            <a:gdLst/>
            <a:ahLst/>
            <a:cxnLst/>
            <a:rect l="l" t="t" r="r" b="b"/>
            <a:pathLst>
              <a:path w="1619250" h="1143000">
                <a:moveTo>
                  <a:pt x="1619250" y="0"/>
                </a:moveTo>
                <a:lnTo>
                  <a:pt x="0" y="114300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55" name="Line 55"/>
          <p:cNvSpPr/>
          <p:nvPr/>
        </p:nvSpPr>
        <p:spPr>
          <a:xfrm>
            <a:off x="8953500" y="3238500"/>
            <a:ext cx="1619250" cy="1905000"/>
          </a:xfrm>
          <a:custGeom>
            <a:avLst/>
            <a:gdLst/>
            <a:ahLst/>
            <a:cxnLst/>
            <a:rect l="l" t="t" r="r" b="b"/>
            <a:pathLst>
              <a:path w="1619250" h="1905000">
                <a:moveTo>
                  <a:pt x="1619250" y="0"/>
                </a:moveTo>
                <a:lnTo>
                  <a:pt x="0" y="190500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grpSp>
        <p:nvGrpSpPr>
          <p:cNvPr id="58" name="Group 58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56" name="TextBox 56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11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4389600" cy="542639"/>
            <a:chOff x="457200" y="228600"/>
            <a:chExt cx="4389600" cy="542639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265748"/>
              <a:ext cx="417090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Use Case — Buy Now (Mua ngay)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847" y="580549"/>
              <a:ext cx="39641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Luồng chính 5/5 · Add to cart → Invoice → Thanh toán (7 ngày)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2857500" y="1047750"/>
            <a:ext cx="6477000" cy="49530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lgDash"/>
          </a:ln>
        </p:spPr>
      </p:sp>
      <p:sp>
        <p:nvSpPr>
          <p:cNvPr id="7" name="TextBox 7"/>
          <p:cNvSpPr txBox="1"/>
          <p:nvPr/>
        </p:nvSpPr>
        <p:spPr>
          <a:xfrm>
            <a:off x="5235338" y="1212056"/>
            <a:ext cx="172132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CardMarket · Buy Now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33450" y="2743200"/>
            <a:ext cx="419100" cy="1152239"/>
            <a:chOff x="933450" y="2743200"/>
            <a:chExt cx="419100" cy="1152239"/>
          </a:xfrm>
        </p:grpSpPr>
        <p:sp>
          <p:nvSpPr>
            <p:cNvPr id="8" name="Ellipse 8"/>
            <p:cNvSpPr/>
            <p:nvPr/>
          </p:nvSpPr>
          <p:spPr>
            <a:xfrm>
              <a:off x="1028700" y="2743200"/>
              <a:ext cx="228600" cy="2286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143000" y="29718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33450" y="31051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90600" y="33147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15240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143000" y="33147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0" y="0"/>
                  </a:moveTo>
                  <a:lnTo>
                    <a:pt x="152400" y="2857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5420" y="3704749"/>
              <a:ext cx="3951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Buyer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799343" y="2743200"/>
            <a:ext cx="499314" cy="1152239"/>
            <a:chOff x="10799343" y="2743200"/>
            <a:chExt cx="499314" cy="1152239"/>
          </a:xfrm>
        </p:grpSpPr>
        <p:sp>
          <p:nvSpPr>
            <p:cNvPr id="15" name="Ellipse 15"/>
            <p:cNvSpPr/>
            <p:nvPr/>
          </p:nvSpPr>
          <p:spPr>
            <a:xfrm>
              <a:off x="10934700" y="2743200"/>
              <a:ext cx="228600" cy="2286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1049000" y="29718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0839450" y="31051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0896600" y="33147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15240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1049000" y="33147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0" y="0"/>
                  </a:moveTo>
                  <a:lnTo>
                    <a:pt x="152400" y="2857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799343" y="3704749"/>
              <a:ext cx="4993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System</a:t>
              </a:r>
            </a:p>
          </p:txBody>
        </p:sp>
      </p:grpSp>
      <p:sp>
        <p:nvSpPr>
          <p:cNvPr id="22" name="Ellipse 22"/>
          <p:cNvSpPr/>
          <p:nvPr/>
        </p:nvSpPr>
        <p:spPr>
          <a:xfrm>
            <a:off x="4667250" y="1600200"/>
            <a:ext cx="2857500" cy="6096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518812" y="1855470"/>
            <a:ext cx="115437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Xem listing Buy Now</a:t>
            </a:r>
          </a:p>
        </p:txBody>
      </p:sp>
      <p:sp>
        <p:nvSpPr>
          <p:cNvPr id="24" name="Ellipse 24"/>
          <p:cNvSpPr/>
          <p:nvPr/>
        </p:nvSpPr>
        <p:spPr>
          <a:xfrm>
            <a:off x="4667250" y="2362200"/>
            <a:ext cx="2857500" cy="6096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501923" y="2617470"/>
            <a:ext cx="118815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Thêm vào giỏ (Cart)</a:t>
            </a:r>
          </a:p>
        </p:txBody>
      </p:sp>
      <p:sp>
        <p:nvSpPr>
          <p:cNvPr id="26" name="Ellipse 26"/>
          <p:cNvSpPr/>
          <p:nvPr/>
        </p:nvSpPr>
        <p:spPr>
          <a:xfrm>
            <a:off x="4667250" y="3124200"/>
            <a:ext cx="2857500" cy="6096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5489242" y="3379470"/>
            <a:ext cx="12135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Tạo hóa đơn buy_now</a:t>
            </a:r>
          </a:p>
        </p:txBody>
      </p:sp>
      <p:sp>
        <p:nvSpPr>
          <p:cNvPr id="28" name="Ellipse 28"/>
          <p:cNvSpPr/>
          <p:nvPr/>
        </p:nvSpPr>
        <p:spPr>
          <a:xfrm>
            <a:off x="4667250" y="3886200"/>
            <a:ext cx="2857500" cy="6096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5383273" y="4141470"/>
            <a:ext cx="142545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Thanh toán trong 7 ngày</a:t>
            </a:r>
          </a:p>
        </p:txBody>
      </p:sp>
      <p:sp>
        <p:nvSpPr>
          <p:cNvPr id="30" name="Ellipse 30"/>
          <p:cNvSpPr/>
          <p:nvPr/>
        </p:nvSpPr>
        <p:spPr>
          <a:xfrm>
            <a:off x="4667250" y="4648200"/>
            <a:ext cx="2857500" cy="6096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5480265" y="4903470"/>
            <a:ext cx="12314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Hủy / hết hạn invoice</a:t>
            </a:r>
          </a:p>
        </p:txBody>
      </p:sp>
      <p:sp>
        <p:nvSpPr>
          <p:cNvPr id="32" name="Ellipse 32"/>
          <p:cNvSpPr/>
          <p:nvPr/>
        </p:nvSpPr>
        <p:spPr>
          <a:xfrm>
            <a:off x="4667250" y="5448300"/>
            <a:ext cx="2857500" cy="533400"/>
          </a:xfrm>
          <a:prstGeom prst="ellipse">
            <a:avLst/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653011" y="5665470"/>
            <a:ext cx="8859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Nhận thông báo</a:t>
            </a:r>
          </a:p>
        </p:txBody>
      </p:sp>
      <p:sp>
        <p:nvSpPr>
          <p:cNvPr id="34" name="Line 34"/>
          <p:cNvSpPr/>
          <p:nvPr/>
        </p:nvSpPr>
        <p:spPr>
          <a:xfrm>
            <a:off x="1619250" y="1905000"/>
            <a:ext cx="3048000" cy="1143000"/>
          </a:xfrm>
          <a:custGeom>
            <a:avLst/>
            <a:gdLst/>
            <a:ahLst/>
            <a:cxnLst/>
            <a:rect l="l" t="t" r="r" b="b"/>
            <a:pathLst>
              <a:path w="3048000" h="1143000">
                <a:moveTo>
                  <a:pt x="0" y="1143000"/>
                </a:moveTo>
                <a:lnTo>
                  <a:pt x="3048000" y="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35" name="Line 35"/>
          <p:cNvSpPr/>
          <p:nvPr/>
        </p:nvSpPr>
        <p:spPr>
          <a:xfrm>
            <a:off x="1619250" y="2667000"/>
            <a:ext cx="3048000" cy="476250"/>
          </a:xfrm>
          <a:custGeom>
            <a:avLst/>
            <a:gdLst/>
            <a:ahLst/>
            <a:cxnLst/>
            <a:rect l="l" t="t" r="r" b="b"/>
            <a:pathLst>
              <a:path w="3048000" h="476250">
                <a:moveTo>
                  <a:pt x="0" y="476250"/>
                </a:moveTo>
                <a:lnTo>
                  <a:pt x="3048000" y="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36" name="Line 36"/>
          <p:cNvSpPr/>
          <p:nvPr/>
        </p:nvSpPr>
        <p:spPr>
          <a:xfrm>
            <a:off x="1619250" y="3238500"/>
            <a:ext cx="3048000" cy="190500"/>
          </a:xfrm>
          <a:custGeom>
            <a:avLst/>
            <a:gdLst/>
            <a:ahLst/>
            <a:cxnLst/>
            <a:rect l="l" t="t" r="r" b="b"/>
            <a:pathLst>
              <a:path w="3048000" h="190500">
                <a:moveTo>
                  <a:pt x="0" y="0"/>
                </a:moveTo>
                <a:lnTo>
                  <a:pt x="3048000" y="19050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37" name="Line 37"/>
          <p:cNvSpPr/>
          <p:nvPr/>
        </p:nvSpPr>
        <p:spPr>
          <a:xfrm>
            <a:off x="1619250" y="3333750"/>
            <a:ext cx="3048000" cy="857250"/>
          </a:xfrm>
          <a:custGeom>
            <a:avLst/>
            <a:gdLst/>
            <a:ahLst/>
            <a:cxnLst/>
            <a:rect l="l" t="t" r="r" b="b"/>
            <a:pathLst>
              <a:path w="3048000" h="857250">
                <a:moveTo>
                  <a:pt x="0" y="0"/>
                </a:moveTo>
                <a:lnTo>
                  <a:pt x="3048000" y="85725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38" name="Line 38"/>
          <p:cNvSpPr/>
          <p:nvPr/>
        </p:nvSpPr>
        <p:spPr>
          <a:xfrm>
            <a:off x="1619250" y="3429000"/>
            <a:ext cx="3048000" cy="1524000"/>
          </a:xfrm>
          <a:custGeom>
            <a:avLst/>
            <a:gdLst/>
            <a:ahLst/>
            <a:cxnLst/>
            <a:rect l="l" t="t" r="r" b="b"/>
            <a:pathLst>
              <a:path w="3048000" h="1524000">
                <a:moveTo>
                  <a:pt x="0" y="0"/>
                </a:moveTo>
                <a:lnTo>
                  <a:pt x="3048000" y="152400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39" name="Line 39"/>
          <p:cNvSpPr/>
          <p:nvPr/>
        </p:nvSpPr>
        <p:spPr>
          <a:xfrm>
            <a:off x="7524750" y="2857500"/>
            <a:ext cx="3048000" cy="571500"/>
          </a:xfrm>
          <a:custGeom>
            <a:avLst/>
            <a:gdLst/>
            <a:ahLst/>
            <a:cxnLst/>
            <a:rect l="l" t="t" r="r" b="b"/>
            <a:pathLst>
              <a:path w="3048000" h="571500">
                <a:moveTo>
                  <a:pt x="3048000" y="0"/>
                </a:moveTo>
                <a:lnTo>
                  <a:pt x="0" y="57150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40" name="Line 40"/>
          <p:cNvSpPr/>
          <p:nvPr/>
        </p:nvSpPr>
        <p:spPr>
          <a:xfrm>
            <a:off x="7524750" y="3048000"/>
            <a:ext cx="3048000" cy="1905000"/>
          </a:xfrm>
          <a:custGeom>
            <a:avLst/>
            <a:gdLst/>
            <a:ahLst/>
            <a:cxnLst/>
            <a:rect l="l" t="t" r="r" b="b"/>
            <a:pathLst>
              <a:path w="3048000" h="1905000">
                <a:moveTo>
                  <a:pt x="3048000" y="0"/>
                </a:moveTo>
                <a:lnTo>
                  <a:pt x="0" y="190500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sp>
        <p:nvSpPr>
          <p:cNvPr id="41" name="Line 41"/>
          <p:cNvSpPr/>
          <p:nvPr/>
        </p:nvSpPr>
        <p:spPr>
          <a:xfrm>
            <a:off x="7524750" y="3238500"/>
            <a:ext cx="3048000" cy="2476500"/>
          </a:xfrm>
          <a:custGeom>
            <a:avLst/>
            <a:gdLst/>
            <a:ahLst/>
            <a:cxnLst/>
            <a:rect l="l" t="t" r="r" b="b"/>
            <a:pathLst>
              <a:path w="3048000" h="2476500">
                <a:moveTo>
                  <a:pt x="3048000" y="0"/>
                </a:moveTo>
                <a:lnTo>
                  <a:pt x="0" y="2476500"/>
                </a:lnTo>
              </a:path>
            </a:pathLst>
          </a:custGeom>
          <a:noFill/>
          <a:ln w="11430">
            <a:solidFill>
              <a:schemeClr val="accent3"/>
            </a:solidFill>
          </a:ln>
        </p:spPr>
      </p:sp>
      <p:grpSp>
        <p:nvGrpSpPr>
          <p:cNvPr id="44" name="Group 44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42" name="TextBox 42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12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4266055" cy="542639"/>
            <a:chOff x="457200" y="228600"/>
            <a:chExt cx="4266055" cy="542639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265748"/>
              <a:ext cx="404736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Activity — Đăng ký / Đăng nhập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847" y="580549"/>
              <a:ext cx="28870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Luồng chính 1/5 · Dual cookie: User vs Admin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571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FDE68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191000" y="857250"/>
            <a:ext cx="3619500" cy="5334000"/>
          </a:xfrm>
          <a:prstGeom prst="rect">
            <a:avLst/>
          </a:prstGeom>
          <a:solidFill>
            <a:schemeClr val="lt1"/>
          </a:solidFill>
          <a:ln w="9525">
            <a:solidFill>
              <a:srgbClr val="FDE68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810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FDE68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857250"/>
            <a:ext cx="3619500" cy="3429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221764" y="980599"/>
            <a:ext cx="31897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User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191000" y="857250"/>
            <a:ext cx="36195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751093" y="980599"/>
            <a:ext cx="4993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810500" y="857250"/>
            <a:ext cx="3619500" cy="34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426173" y="980599"/>
            <a:ext cx="38815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Admin</a:t>
            </a:r>
          </a:p>
        </p:txBody>
      </p:sp>
      <p:sp>
        <p:nvSpPr>
          <p:cNvPr id="15" name="Ellipse 15"/>
          <p:cNvSpPr/>
          <p:nvPr/>
        </p:nvSpPr>
        <p:spPr>
          <a:xfrm>
            <a:off x="2286000" y="1428750"/>
            <a:ext cx="190500" cy="190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2381250" y="1619250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17" name="Polygon 17"/>
          <p:cNvSpPr/>
          <p:nvPr/>
        </p:nvSpPr>
        <p:spPr>
          <a:xfrm>
            <a:off x="2343150" y="18383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1428750" y="1914525"/>
            <a:ext cx="1905000" cy="3810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910584" y="2055495"/>
            <a:ext cx="94133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Đăng ký / Login</a:t>
            </a:r>
          </a:p>
        </p:txBody>
      </p:sp>
      <p:sp>
        <p:nvSpPr>
          <p:cNvPr id="20" name="Line 20"/>
          <p:cNvSpPr/>
          <p:nvPr/>
        </p:nvSpPr>
        <p:spPr>
          <a:xfrm>
            <a:off x="2381250" y="2295525"/>
            <a:ext cx="9525" cy="323850"/>
          </a:xfrm>
          <a:custGeom>
            <a:avLst/>
            <a:gdLst/>
            <a:ahLst/>
            <a:cxnLst/>
            <a:rect l="l" t="t" r="r" b="b"/>
            <a:pathLst>
              <a:path w="9525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2343150" y="26003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Polygon 22"/>
          <p:cNvSpPr/>
          <p:nvPr/>
        </p:nvSpPr>
        <p:spPr>
          <a:xfrm>
            <a:off x="2076450" y="26765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609600" y="304800"/>
                </a:lnTo>
                <a:lnTo>
                  <a:pt x="304800" y="6096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chemeClr val="accent1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2248495" y="2938462"/>
            <a:ext cx="26550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Loại?</a:t>
            </a:r>
          </a:p>
        </p:txBody>
      </p:sp>
      <p:sp>
        <p:nvSpPr>
          <p:cNvPr id="24" name="Line 24"/>
          <p:cNvSpPr/>
          <p:nvPr/>
        </p:nvSpPr>
        <p:spPr>
          <a:xfrm>
            <a:off x="2686050" y="2981325"/>
            <a:ext cx="2266950" cy="9525"/>
          </a:xfrm>
          <a:custGeom>
            <a:avLst/>
            <a:gdLst/>
            <a:ahLst/>
            <a:cxnLst/>
            <a:rect l="l" t="t" r="r" b="b"/>
            <a:pathLst>
              <a:path w="2266950" h="9525">
                <a:moveTo>
                  <a:pt x="0" y="0"/>
                </a:moveTo>
                <a:lnTo>
                  <a:pt x="2266950" y="0"/>
                </a:lnTo>
              </a:path>
            </a:pathLst>
          </a:custGeom>
          <a:noFill/>
          <a:ln w="14288">
            <a:solidFill>
              <a:srgbClr val="16A34A"/>
            </a:solidFill>
          </a:ln>
        </p:spPr>
      </p:sp>
      <p:sp>
        <p:nvSpPr>
          <p:cNvPr id="25" name="Polygon 25"/>
          <p:cNvSpPr/>
          <p:nvPr/>
        </p:nvSpPr>
        <p:spPr>
          <a:xfrm>
            <a:off x="4933950" y="2943225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3424238" y="2824162"/>
            <a:ext cx="23479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6A34A"/>
                </a:solidFill>
                <a:latin typeface="+mn-lt"/>
                <a:ea typeface="+mn-ea"/>
                <a:cs typeface="+mn-cs"/>
              </a:rPr>
              <a:t>User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953000" y="2790825"/>
            <a:ext cx="2095500" cy="3810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5408954" y="2931795"/>
            <a:ext cx="118359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Validate credential</a:t>
            </a:r>
          </a:p>
        </p:txBody>
      </p:sp>
      <p:sp>
        <p:nvSpPr>
          <p:cNvPr id="29" name="Line 29"/>
          <p:cNvSpPr/>
          <p:nvPr/>
        </p:nvSpPr>
        <p:spPr>
          <a:xfrm>
            <a:off x="6000750" y="3171825"/>
            <a:ext cx="9525" cy="400050"/>
          </a:xfrm>
          <a:custGeom>
            <a:avLst/>
            <a:gdLst/>
            <a:ahLst/>
            <a:cxnLst/>
            <a:rect l="l" t="t" r="r" b="b"/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30" name="Polygon 30"/>
          <p:cNvSpPr/>
          <p:nvPr/>
        </p:nvSpPr>
        <p:spPr>
          <a:xfrm>
            <a:off x="5962650" y="35528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4953000" y="3629025"/>
            <a:ext cx="2095500" cy="3810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4288">
            <a:solidFill>
              <a:srgbClr val="16A34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5514774" y="3769995"/>
            <a:ext cx="97195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166534"/>
                </a:solidFill>
                <a:latin typeface="+mn-lt"/>
                <a:ea typeface="+mn-ea"/>
                <a:cs typeface="+mn-cs"/>
              </a:rPr>
              <a:t>Set User cookie</a:t>
            </a:r>
          </a:p>
        </p:txBody>
      </p:sp>
      <p:sp>
        <p:nvSpPr>
          <p:cNvPr id="33" name="Line 33"/>
          <p:cNvSpPr/>
          <p:nvPr/>
        </p:nvSpPr>
        <p:spPr>
          <a:xfrm>
            <a:off x="6000750" y="4010025"/>
            <a:ext cx="9525" cy="466725"/>
          </a:xfrm>
          <a:custGeom>
            <a:avLst/>
            <a:gdLst/>
            <a:ahLst/>
            <a:cxnLst/>
            <a:rect l="l" t="t" r="r" b="b"/>
            <a:pathLst>
              <a:path w="9525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34" name="Polygon 34"/>
          <p:cNvSpPr/>
          <p:nvPr/>
        </p:nvSpPr>
        <p:spPr>
          <a:xfrm>
            <a:off x="5962650" y="44577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4953000" y="4533900"/>
            <a:ext cx="2095500" cy="3810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5374882" y="4674870"/>
            <a:ext cx="12517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Redirect trang User</a:t>
            </a:r>
          </a:p>
        </p:txBody>
      </p:sp>
      <p:sp>
        <p:nvSpPr>
          <p:cNvPr id="37" name="Line 37"/>
          <p:cNvSpPr/>
          <p:nvPr/>
        </p:nvSpPr>
        <p:spPr>
          <a:xfrm>
            <a:off x="6000750" y="4914900"/>
            <a:ext cx="9525" cy="561975"/>
          </a:xfrm>
          <a:custGeom>
            <a:avLst/>
            <a:gdLst/>
            <a:ahLst/>
            <a:cxnLst/>
            <a:rect l="l" t="t" r="r" b="b"/>
            <a:pathLst>
              <a:path w="9525" h="561975">
                <a:moveTo>
                  <a:pt x="0" y="0"/>
                </a:moveTo>
                <a:lnTo>
                  <a:pt x="0" y="561975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38" name="Ellipse 38"/>
          <p:cNvSpPr/>
          <p:nvPr/>
        </p:nvSpPr>
        <p:spPr>
          <a:xfrm>
            <a:off x="5886450" y="5553075"/>
            <a:ext cx="228600" cy="228600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</p:sp>
      <p:sp>
        <p:nvSpPr>
          <p:cNvPr id="39" name="Ellipse 39"/>
          <p:cNvSpPr/>
          <p:nvPr/>
        </p:nvSpPr>
        <p:spPr>
          <a:xfrm>
            <a:off x="5943600" y="5610225"/>
            <a:ext cx="114300" cy="11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0" name="Freeform 40"/>
          <p:cNvSpPr/>
          <p:nvPr/>
        </p:nvSpPr>
        <p:spPr>
          <a:xfrm>
            <a:off x="2381250" y="3286125"/>
            <a:ext cx="6191250" cy="523875"/>
          </a:xfrm>
          <a:custGeom>
            <a:avLst/>
            <a:gdLst/>
            <a:ahLst/>
            <a:cxnLst/>
            <a:rect l="l" t="t" r="r" b="b"/>
            <a:pathLst>
              <a:path w="6191250" h="523875">
                <a:moveTo>
                  <a:pt x="0" y="0"/>
                </a:moveTo>
                <a:lnTo>
                  <a:pt x="0" y="523875"/>
                </a:lnTo>
                <a:lnTo>
                  <a:pt x="6191250" y="523875"/>
                </a:lnTo>
              </a:path>
            </a:pathLst>
          </a:custGeom>
          <a:noFill/>
          <a:ln w="14288">
            <a:solidFill>
              <a:schemeClr val="accent1"/>
            </a:solidFill>
          </a:ln>
        </p:spPr>
      </p:sp>
      <p:sp>
        <p:nvSpPr>
          <p:cNvPr id="41" name="Polygon 41"/>
          <p:cNvSpPr/>
          <p:nvPr/>
        </p:nvSpPr>
        <p:spPr>
          <a:xfrm>
            <a:off x="8553450" y="3771900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2662238" y="3586162"/>
            <a:ext cx="28521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Admin</a:t>
            </a:r>
          </a:p>
        </p:txBody>
      </p:sp>
      <p:sp>
        <p:nvSpPr>
          <p:cNvPr id="43" name="Rectangle 43"/>
          <p:cNvSpPr/>
          <p:nvPr/>
        </p:nvSpPr>
        <p:spPr>
          <a:xfrm>
            <a:off x="8572500" y="3619500"/>
            <a:ext cx="2095500" cy="3810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9226303" y="3760470"/>
            <a:ext cx="7878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Login /Admin</a:t>
            </a:r>
          </a:p>
        </p:txBody>
      </p:sp>
      <p:sp>
        <p:nvSpPr>
          <p:cNvPr id="45" name="Line 45"/>
          <p:cNvSpPr/>
          <p:nvPr/>
        </p:nvSpPr>
        <p:spPr>
          <a:xfrm>
            <a:off x="9620250" y="4000500"/>
            <a:ext cx="9525" cy="476250"/>
          </a:xfrm>
          <a:custGeom>
            <a:avLst/>
            <a:gdLst/>
            <a:ahLst/>
            <a:cxnLst/>
            <a:rect l="l" t="t" r="r" b="b"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46" name="Polygon 46"/>
          <p:cNvSpPr/>
          <p:nvPr/>
        </p:nvSpPr>
        <p:spPr>
          <a:xfrm>
            <a:off x="9582150" y="44577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8572500" y="4533900"/>
            <a:ext cx="2095500" cy="3810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4288">
            <a:solidFill>
              <a:srgbClr val="16A34A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9102509" y="4674870"/>
            <a:ext cx="103548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166534"/>
                </a:solidFill>
                <a:latin typeface="+mn-lt"/>
                <a:ea typeface="+mn-ea"/>
                <a:cs typeface="+mn-cs"/>
              </a:rPr>
              <a:t>Set Admin cookie</a:t>
            </a:r>
          </a:p>
        </p:txBody>
      </p:sp>
      <p:sp>
        <p:nvSpPr>
          <p:cNvPr id="49" name="Line 49"/>
          <p:cNvSpPr/>
          <p:nvPr/>
        </p:nvSpPr>
        <p:spPr>
          <a:xfrm>
            <a:off x="9620250" y="4914900"/>
            <a:ext cx="9525" cy="561975"/>
          </a:xfrm>
          <a:custGeom>
            <a:avLst/>
            <a:gdLst/>
            <a:ahLst/>
            <a:cxnLst/>
            <a:rect l="l" t="t" r="r" b="b"/>
            <a:pathLst>
              <a:path w="9525" h="561975">
                <a:moveTo>
                  <a:pt x="0" y="0"/>
                </a:moveTo>
                <a:lnTo>
                  <a:pt x="0" y="561975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50" name="Ellipse 50"/>
          <p:cNvSpPr/>
          <p:nvPr/>
        </p:nvSpPr>
        <p:spPr>
          <a:xfrm>
            <a:off x="9505950" y="5553075"/>
            <a:ext cx="228600" cy="228600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</p:sp>
      <p:sp>
        <p:nvSpPr>
          <p:cNvPr id="51" name="Ellipse 51"/>
          <p:cNvSpPr/>
          <p:nvPr/>
        </p:nvSpPr>
        <p:spPr>
          <a:xfrm>
            <a:off x="9563100" y="5610225"/>
            <a:ext cx="114300" cy="11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1428750" y="4953000"/>
            <a:ext cx="1905000" cy="666750"/>
          </a:xfrm>
          <a:prstGeom prst="roundRect">
            <a:avLst>
              <a:gd name="adj" fmla="val 17143"/>
            </a:avLst>
          </a:prstGeom>
          <a:solidFill>
            <a:schemeClr val="lt1"/>
          </a:solidFill>
          <a:ln w="9525">
            <a:solidFill>
              <a:srgbClr val="FDE68A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2035713" y="5130641"/>
            <a:ext cx="69107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Dual session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995345" y="5348288"/>
            <a:ext cx="77181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2 cookie độc lập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55" name="TextBox 55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13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4815078" cy="542639"/>
            <a:chOff x="457200" y="228600"/>
            <a:chExt cx="4815078" cy="542639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265748"/>
              <a:ext cx="45963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Activity — Đăng bán &amp; Duyệt listing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847" y="580549"/>
              <a:ext cx="33961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Luồng chính 2/5 · confirming → Approve/Reject → live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571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FDE68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3619500" cy="3429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180534" y="980599"/>
            <a:ext cx="40143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Seller</a:t>
            </a:r>
          </a:p>
        </p:txBody>
      </p:sp>
      <p:sp>
        <p:nvSpPr>
          <p:cNvPr id="9" name="Rectangle 9"/>
          <p:cNvSpPr/>
          <p:nvPr/>
        </p:nvSpPr>
        <p:spPr>
          <a:xfrm>
            <a:off x="41910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FDE68A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191000" y="857250"/>
            <a:ext cx="3619500" cy="34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806673" y="980599"/>
            <a:ext cx="38815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Admin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810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FDE68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7810500" y="857250"/>
            <a:ext cx="36195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370593" y="980599"/>
            <a:ext cx="4993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</a:t>
            </a:r>
          </a:p>
        </p:txBody>
      </p:sp>
      <p:sp>
        <p:nvSpPr>
          <p:cNvPr id="15" name="Ellipse 15"/>
          <p:cNvSpPr/>
          <p:nvPr/>
        </p:nvSpPr>
        <p:spPr>
          <a:xfrm>
            <a:off x="2286000" y="1333500"/>
            <a:ext cx="190500" cy="190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2381250" y="1524000"/>
            <a:ext cx="952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17" name="Polygon 17"/>
          <p:cNvSpPr/>
          <p:nvPr/>
        </p:nvSpPr>
        <p:spPr>
          <a:xfrm>
            <a:off x="2343150" y="1685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1428750" y="1762125"/>
            <a:ext cx="19050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914190" y="1912620"/>
            <a:ext cx="93412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Điền form /Sell</a:t>
            </a:r>
          </a:p>
        </p:txBody>
      </p:sp>
      <p:sp>
        <p:nvSpPr>
          <p:cNvPr id="20" name="Line 20"/>
          <p:cNvSpPr/>
          <p:nvPr/>
        </p:nvSpPr>
        <p:spPr>
          <a:xfrm>
            <a:off x="2381250" y="2162175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2343150" y="2400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1428750" y="2476500"/>
            <a:ext cx="19050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951653" y="2626995"/>
            <a:ext cx="8591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Submit listing</a:t>
            </a:r>
          </a:p>
        </p:txBody>
      </p:sp>
      <p:sp>
        <p:nvSpPr>
          <p:cNvPr id="24" name="Line 24"/>
          <p:cNvSpPr/>
          <p:nvPr/>
        </p:nvSpPr>
        <p:spPr>
          <a:xfrm>
            <a:off x="3333750" y="2676525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25" name="Polygon 25"/>
          <p:cNvSpPr/>
          <p:nvPr/>
        </p:nvSpPr>
        <p:spPr>
          <a:xfrm>
            <a:off x="4686300" y="26384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4762500" y="2476500"/>
            <a:ext cx="20955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5084683" y="2626995"/>
            <a:ext cx="145113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Nhận status confirming</a:t>
            </a:r>
          </a:p>
        </p:txBody>
      </p:sp>
      <p:sp>
        <p:nvSpPr>
          <p:cNvPr id="28" name="Line 28"/>
          <p:cNvSpPr/>
          <p:nvPr/>
        </p:nvSpPr>
        <p:spPr>
          <a:xfrm>
            <a:off x="5810250" y="28765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29" name="Polygon 29"/>
          <p:cNvSpPr/>
          <p:nvPr/>
        </p:nvSpPr>
        <p:spPr>
          <a:xfrm>
            <a:off x="5772150" y="3257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4762500" y="3333750"/>
            <a:ext cx="20955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5345350" y="3484245"/>
            <a:ext cx="9298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Duyệt hàng chờ</a:t>
            </a:r>
          </a:p>
        </p:txBody>
      </p:sp>
      <p:sp>
        <p:nvSpPr>
          <p:cNvPr id="32" name="Line 32"/>
          <p:cNvSpPr/>
          <p:nvPr/>
        </p:nvSpPr>
        <p:spPr>
          <a:xfrm>
            <a:off x="5810250" y="37338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33" name="Polygon 33"/>
          <p:cNvSpPr/>
          <p:nvPr/>
        </p:nvSpPr>
        <p:spPr>
          <a:xfrm>
            <a:off x="5772150" y="4019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4" name="Polygon 34"/>
          <p:cNvSpPr/>
          <p:nvPr/>
        </p:nvSpPr>
        <p:spPr>
          <a:xfrm>
            <a:off x="5505450" y="41719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609600" y="304800"/>
                </a:lnTo>
                <a:lnTo>
                  <a:pt x="304800" y="6096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chemeClr val="accent1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5706808" y="4433888"/>
            <a:ext cx="20688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OK?</a:t>
            </a:r>
          </a:p>
        </p:txBody>
      </p:sp>
      <p:sp>
        <p:nvSpPr>
          <p:cNvPr id="36" name="Freeform 36"/>
          <p:cNvSpPr/>
          <p:nvPr/>
        </p:nvSpPr>
        <p:spPr>
          <a:xfrm>
            <a:off x="2857500" y="3619500"/>
            <a:ext cx="2647950" cy="857250"/>
          </a:xfrm>
          <a:custGeom>
            <a:avLst/>
            <a:gdLst/>
            <a:ahLst/>
            <a:cxnLst/>
            <a:rect l="l" t="t" r="r" b="b"/>
            <a:pathLst>
              <a:path w="2647950" h="857250">
                <a:moveTo>
                  <a:pt x="2647950" y="857250"/>
                </a:moveTo>
                <a:lnTo>
                  <a:pt x="0" y="85725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DC2626"/>
            </a:solidFill>
          </a:ln>
        </p:spPr>
      </p:sp>
      <p:sp>
        <p:nvSpPr>
          <p:cNvPr id="37" name="Polygon 37"/>
          <p:cNvSpPr/>
          <p:nvPr/>
        </p:nvSpPr>
        <p:spPr>
          <a:xfrm>
            <a:off x="2819400" y="3543300"/>
            <a:ext cx="76200" cy="95250"/>
          </a:xfrm>
          <a:custGeom>
            <a:avLst/>
            <a:gdLst/>
            <a:ahLst/>
            <a:cxnLst/>
            <a:rect l="l" t="t" r="r" b="b"/>
            <a:pathLst>
              <a:path w="76200" h="95250">
                <a:moveTo>
                  <a:pt x="0" y="95250"/>
                </a:moveTo>
                <a:lnTo>
                  <a:pt x="38100" y="0"/>
                </a:lnTo>
                <a:lnTo>
                  <a:pt x="76200" y="9525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3233738" y="4300538"/>
            <a:ext cx="32037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DC2626"/>
                </a:solidFill>
                <a:latin typeface="+mn-lt"/>
                <a:ea typeface="+mn-ea"/>
                <a:cs typeface="+mn-cs"/>
              </a:rPr>
              <a:t>Reject</a:t>
            </a:r>
          </a:p>
        </p:txBody>
      </p:sp>
      <p:sp>
        <p:nvSpPr>
          <p:cNvPr id="39" name="Rectangle 39"/>
          <p:cNvSpPr/>
          <p:nvPr/>
        </p:nvSpPr>
        <p:spPr>
          <a:xfrm>
            <a:off x="1428750" y="3333750"/>
            <a:ext cx="1905000" cy="40005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4288">
            <a:solidFill>
              <a:srgbClr val="DC2626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1840020" y="3484245"/>
            <a:ext cx="10824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991B1B"/>
                </a:solidFill>
                <a:latin typeface="+mn-lt"/>
                <a:ea typeface="+mn-ea"/>
                <a:cs typeface="+mn-cs"/>
              </a:rPr>
              <a:t>Nhận lý do từ chối</a:t>
            </a:r>
          </a:p>
        </p:txBody>
      </p:sp>
      <p:sp>
        <p:nvSpPr>
          <p:cNvPr id="41" name="Freeform 41"/>
          <p:cNvSpPr/>
          <p:nvPr/>
        </p:nvSpPr>
        <p:spPr>
          <a:xfrm>
            <a:off x="2381250" y="30480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28575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DC2626"/>
            </a:solidFill>
            <a:custDash>
              <a:ds d="333333" sp="250000"/>
            </a:custDash>
          </a:ln>
        </p:spPr>
      </p:sp>
      <p:sp>
        <p:nvSpPr>
          <p:cNvPr id="42" name="TextBox 42"/>
          <p:cNvSpPr txBox="1"/>
          <p:nvPr/>
        </p:nvSpPr>
        <p:spPr>
          <a:xfrm>
            <a:off x="947738" y="3062288"/>
            <a:ext cx="583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DC2626"/>
                </a:solidFill>
                <a:latin typeface="+mn-lt"/>
                <a:ea typeface="+mn-ea"/>
                <a:cs typeface="+mn-cs"/>
              </a:rPr>
              <a:t>Sửa &amp; gửi lại</a:t>
            </a:r>
          </a:p>
        </p:txBody>
      </p:sp>
      <p:sp>
        <p:nvSpPr>
          <p:cNvPr id="43" name="Line 43"/>
          <p:cNvSpPr/>
          <p:nvPr/>
        </p:nvSpPr>
        <p:spPr>
          <a:xfrm>
            <a:off x="5810250" y="4781550"/>
            <a:ext cx="9525" cy="333375"/>
          </a:xfrm>
          <a:custGeom>
            <a:avLst/>
            <a:gdLst/>
            <a:ahLst/>
            <a:cxnLst/>
            <a:rect l="l" t="t" r="r" b="b"/>
            <a:pathLst>
              <a:path w="9525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/>
          <a:ln w="14288">
            <a:solidFill>
              <a:srgbClr val="16A34A"/>
            </a:solidFill>
          </a:ln>
        </p:spPr>
      </p:sp>
      <p:sp>
        <p:nvSpPr>
          <p:cNvPr id="44" name="Polygon 44"/>
          <p:cNvSpPr/>
          <p:nvPr/>
        </p:nvSpPr>
        <p:spPr>
          <a:xfrm>
            <a:off x="5772150" y="5114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5995988" y="4967288"/>
            <a:ext cx="40138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6A34A"/>
                </a:solidFill>
                <a:latin typeface="+mn-lt"/>
                <a:ea typeface="+mn-ea"/>
                <a:cs typeface="+mn-cs"/>
              </a:rPr>
              <a:t>Approve</a:t>
            </a:r>
          </a:p>
        </p:txBody>
      </p:sp>
      <p:sp>
        <p:nvSpPr>
          <p:cNvPr id="46" name="Rectangle 46"/>
          <p:cNvSpPr/>
          <p:nvPr/>
        </p:nvSpPr>
        <p:spPr>
          <a:xfrm>
            <a:off x="4762500" y="5191125"/>
            <a:ext cx="2095500" cy="40005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4288">
            <a:solidFill>
              <a:srgbClr val="16A34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5558617" y="5341620"/>
            <a:ext cx="5032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166534"/>
                </a:solidFill>
                <a:latin typeface="+mn-lt"/>
                <a:ea typeface="+mn-ea"/>
                <a:cs typeface="+mn-cs"/>
              </a:rPr>
              <a:t>Approve</a:t>
            </a:r>
          </a:p>
        </p:txBody>
      </p:sp>
      <p:sp>
        <p:nvSpPr>
          <p:cNvPr id="48" name="Line 48"/>
          <p:cNvSpPr/>
          <p:nvPr/>
        </p:nvSpPr>
        <p:spPr>
          <a:xfrm>
            <a:off x="6858000" y="5391150"/>
            <a:ext cx="1447800" cy="9525"/>
          </a:xfrm>
          <a:custGeom>
            <a:avLst/>
            <a:gdLst/>
            <a:ahLst/>
            <a:cxnLst/>
            <a:rect l="l" t="t" r="r" b="b"/>
            <a:pathLst>
              <a:path w="1447800" h="9525">
                <a:moveTo>
                  <a:pt x="0" y="0"/>
                </a:moveTo>
                <a:lnTo>
                  <a:pt x="1447800" y="0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49" name="Polygon 49"/>
          <p:cNvSpPr/>
          <p:nvPr/>
        </p:nvSpPr>
        <p:spPr>
          <a:xfrm>
            <a:off x="8305800" y="53530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8382000" y="5191125"/>
            <a:ext cx="2476500" cy="40005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4288">
            <a:solidFill>
              <a:srgbClr val="16A34A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9135247" y="5341620"/>
            <a:ext cx="97000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166534"/>
                </a:solidFill>
                <a:latin typeface="+mn-lt"/>
                <a:ea typeface="+mn-ea"/>
                <a:cs typeface="+mn-cs"/>
              </a:rPr>
              <a:t>scheduled / live</a:t>
            </a:r>
          </a:p>
        </p:txBody>
      </p:sp>
      <p:sp>
        <p:nvSpPr>
          <p:cNvPr id="52" name="Line 52"/>
          <p:cNvSpPr/>
          <p:nvPr/>
        </p:nvSpPr>
        <p:spPr>
          <a:xfrm>
            <a:off x="9620250" y="5591175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53" name="Polygon 53"/>
          <p:cNvSpPr/>
          <p:nvPr/>
        </p:nvSpPr>
        <p:spPr>
          <a:xfrm>
            <a:off x="9582150" y="5829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54" name="Ellipse 54"/>
          <p:cNvSpPr/>
          <p:nvPr/>
        </p:nvSpPr>
        <p:spPr>
          <a:xfrm>
            <a:off x="9505950" y="5981700"/>
            <a:ext cx="228600" cy="228600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</p:sp>
      <p:sp>
        <p:nvSpPr>
          <p:cNvPr id="55" name="Ellipse 55"/>
          <p:cNvSpPr/>
          <p:nvPr/>
        </p:nvSpPr>
        <p:spPr>
          <a:xfrm>
            <a:off x="9563100" y="6038850"/>
            <a:ext cx="114300" cy="11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58" name="Group 58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56" name="TextBox 56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14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4361898" cy="542639"/>
            <a:chOff x="457200" y="228600"/>
            <a:chExt cx="4361898" cy="542639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265748"/>
              <a:ext cx="414320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Activity — Đăng ký đấu giá &amp; Bid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847" y="580549"/>
              <a:ext cx="34657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Luồng chính 3/5 · Deposit → Bid → SignalR / Anti-fraud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57150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FDE68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2762250" cy="3429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755045" y="980599"/>
            <a:ext cx="3951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Buyer</a:t>
            </a:r>
          </a:p>
        </p:txBody>
      </p:sp>
      <p:sp>
        <p:nvSpPr>
          <p:cNvPr id="9" name="Rectangle 9"/>
          <p:cNvSpPr/>
          <p:nvPr/>
        </p:nvSpPr>
        <p:spPr>
          <a:xfrm>
            <a:off x="333375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FDE68A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333750" y="857250"/>
            <a:ext cx="2762250" cy="3429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427143" y="980599"/>
            <a:ext cx="5754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Payment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09600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FDE68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096000" y="857250"/>
            <a:ext cx="276225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227468" y="980599"/>
            <a:ext cx="4993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858250" y="857250"/>
            <a:ext cx="25717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FDE68A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8858250" y="857250"/>
            <a:ext cx="2571750" cy="34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853189" y="980599"/>
            <a:ext cx="58187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Realtime</a:t>
            </a:r>
          </a:p>
        </p:txBody>
      </p:sp>
      <p:sp>
        <p:nvSpPr>
          <p:cNvPr id="18" name="Ellipse 18"/>
          <p:cNvSpPr/>
          <p:nvPr/>
        </p:nvSpPr>
        <p:spPr>
          <a:xfrm>
            <a:off x="1857375" y="1333500"/>
            <a:ext cx="190500" cy="190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9" name="Line 19"/>
          <p:cNvSpPr/>
          <p:nvPr/>
        </p:nvSpPr>
        <p:spPr>
          <a:xfrm>
            <a:off x="1952625" y="1524000"/>
            <a:ext cx="952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20" name="Polygon 20"/>
          <p:cNvSpPr/>
          <p:nvPr/>
        </p:nvSpPr>
        <p:spPr>
          <a:xfrm>
            <a:off x="1914525" y="1685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1000125" y="1762125"/>
            <a:ext cx="1905000" cy="3810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500668" y="1903095"/>
            <a:ext cx="90391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Chọn phiên live</a:t>
            </a:r>
          </a:p>
        </p:txBody>
      </p:sp>
      <p:sp>
        <p:nvSpPr>
          <p:cNvPr id="23" name="Line 23"/>
          <p:cNvSpPr/>
          <p:nvPr/>
        </p:nvSpPr>
        <p:spPr>
          <a:xfrm>
            <a:off x="1952625" y="2143125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24" name="Polygon 24"/>
          <p:cNvSpPr/>
          <p:nvPr/>
        </p:nvSpPr>
        <p:spPr>
          <a:xfrm>
            <a:off x="1914525" y="23526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1000125" y="2428875"/>
            <a:ext cx="1905000" cy="3810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484530" y="2569845"/>
            <a:ext cx="93619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Đăng ký đấu giá</a:t>
            </a:r>
          </a:p>
        </p:txBody>
      </p:sp>
      <p:sp>
        <p:nvSpPr>
          <p:cNvPr id="27" name="Line 27"/>
          <p:cNvSpPr/>
          <p:nvPr/>
        </p:nvSpPr>
        <p:spPr>
          <a:xfrm>
            <a:off x="2905125" y="2619375"/>
            <a:ext cx="828675" cy="9525"/>
          </a:xfrm>
          <a:custGeom>
            <a:avLst/>
            <a:gdLst/>
            <a:ahLst/>
            <a:cxnLst/>
            <a:rect l="l" t="t" r="r" b="b"/>
            <a:pathLst>
              <a:path w="828675" h="9525">
                <a:moveTo>
                  <a:pt x="0" y="0"/>
                </a:moveTo>
                <a:lnTo>
                  <a:pt x="828675" y="0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3733800" y="25812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3810000" y="2428875"/>
            <a:ext cx="1905000" cy="3810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273873" y="2569845"/>
            <a:ext cx="97725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Initiate Deposit</a:t>
            </a:r>
          </a:p>
        </p:txBody>
      </p:sp>
      <p:sp>
        <p:nvSpPr>
          <p:cNvPr id="31" name="Line 31"/>
          <p:cNvSpPr/>
          <p:nvPr/>
        </p:nvSpPr>
        <p:spPr>
          <a:xfrm>
            <a:off x="4762500" y="2809875"/>
            <a:ext cx="9525" cy="352425"/>
          </a:xfrm>
          <a:custGeom>
            <a:avLst/>
            <a:gdLst/>
            <a:ahLst/>
            <a:cxnLst/>
            <a:rect l="l" t="t" r="r" b="b"/>
            <a:pathLst>
              <a:path w="952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32" name="Polygon 32"/>
          <p:cNvSpPr/>
          <p:nvPr/>
        </p:nvSpPr>
        <p:spPr>
          <a:xfrm>
            <a:off x="4724400" y="3162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3810000" y="32385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4288">
            <a:solidFill>
              <a:srgbClr val="16A34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169548" y="3379470"/>
            <a:ext cx="118590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166534"/>
                </a:solidFill>
                <a:latin typeface="+mn-lt"/>
                <a:ea typeface="+mn-ea"/>
                <a:cs typeface="+mn-cs"/>
              </a:rPr>
              <a:t>PayPal Capture cọc</a:t>
            </a:r>
          </a:p>
        </p:txBody>
      </p:sp>
      <p:sp>
        <p:nvSpPr>
          <p:cNvPr id="35" name="Line 35"/>
          <p:cNvSpPr/>
          <p:nvPr/>
        </p:nvSpPr>
        <p:spPr>
          <a:xfrm>
            <a:off x="5715000" y="3429000"/>
            <a:ext cx="876300" cy="9525"/>
          </a:xfrm>
          <a:custGeom>
            <a:avLst/>
            <a:gdLst/>
            <a:ahLst/>
            <a:cxnLst/>
            <a:rect l="l" t="t" r="r" b="b"/>
            <a:pathLst>
              <a:path w="876300" h="9525">
                <a:moveTo>
                  <a:pt x="0" y="0"/>
                </a:moveTo>
                <a:lnTo>
                  <a:pt x="876300" y="0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36" name="Polygon 36"/>
          <p:cNvSpPr/>
          <p:nvPr/>
        </p:nvSpPr>
        <p:spPr>
          <a:xfrm>
            <a:off x="6591300" y="33909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6667500" y="3238500"/>
            <a:ext cx="1905000" cy="3810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6926327" y="3379470"/>
            <a:ext cx="138734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Registration approved</a:t>
            </a:r>
          </a:p>
        </p:txBody>
      </p:sp>
      <p:sp>
        <p:nvSpPr>
          <p:cNvPr id="39" name="Line 39"/>
          <p:cNvSpPr/>
          <p:nvPr/>
        </p:nvSpPr>
        <p:spPr>
          <a:xfrm>
            <a:off x="1952625" y="2809875"/>
            <a:ext cx="9525" cy="923925"/>
          </a:xfrm>
          <a:custGeom>
            <a:avLst/>
            <a:gdLst/>
            <a:ahLst/>
            <a:cxnLst/>
            <a:rect l="l" t="t" r="r" b="b"/>
            <a:pathLst>
              <a:path w="9525" h="923925">
                <a:moveTo>
                  <a:pt x="0" y="0"/>
                </a:moveTo>
                <a:lnTo>
                  <a:pt x="0" y="923925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40" name="Polygon 40"/>
          <p:cNvSpPr/>
          <p:nvPr/>
        </p:nvSpPr>
        <p:spPr>
          <a:xfrm>
            <a:off x="1914525" y="3733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1000125" y="3810000"/>
            <a:ext cx="1905000" cy="381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4288">
            <a:solidFill>
              <a:schemeClr val="accent1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1652655" y="3942874"/>
            <a:ext cx="59994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Place Bid</a:t>
            </a:r>
          </a:p>
        </p:txBody>
      </p:sp>
      <p:sp>
        <p:nvSpPr>
          <p:cNvPr id="43" name="Line 43"/>
          <p:cNvSpPr/>
          <p:nvPr/>
        </p:nvSpPr>
        <p:spPr>
          <a:xfrm>
            <a:off x="2905125" y="4000500"/>
            <a:ext cx="3686175" cy="9525"/>
          </a:xfrm>
          <a:custGeom>
            <a:avLst/>
            <a:gdLst/>
            <a:ahLst/>
            <a:cxnLst/>
            <a:rect l="l" t="t" r="r" b="b"/>
            <a:pathLst>
              <a:path w="3686175" h="9525">
                <a:moveTo>
                  <a:pt x="0" y="0"/>
                </a:moveTo>
                <a:lnTo>
                  <a:pt x="3686175" y="0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44" name="Polygon 44"/>
          <p:cNvSpPr/>
          <p:nvPr/>
        </p:nvSpPr>
        <p:spPr>
          <a:xfrm>
            <a:off x="6591300" y="3962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6667500" y="3810000"/>
            <a:ext cx="1905000" cy="3810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7008824" y="3950970"/>
            <a:ext cx="122235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Validate bid + fraud</a:t>
            </a:r>
          </a:p>
        </p:txBody>
      </p:sp>
      <p:sp>
        <p:nvSpPr>
          <p:cNvPr id="47" name="Line 47"/>
          <p:cNvSpPr/>
          <p:nvPr/>
        </p:nvSpPr>
        <p:spPr>
          <a:xfrm>
            <a:off x="7620000" y="4191000"/>
            <a:ext cx="9525" cy="400050"/>
          </a:xfrm>
          <a:custGeom>
            <a:avLst/>
            <a:gdLst/>
            <a:ahLst/>
            <a:cxnLst/>
            <a:rect l="l" t="t" r="r" b="b"/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48" name="Polygon 48"/>
          <p:cNvSpPr/>
          <p:nvPr/>
        </p:nvSpPr>
        <p:spPr>
          <a:xfrm>
            <a:off x="7581900" y="45910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9" name="Polygon 49"/>
          <p:cNvSpPr/>
          <p:nvPr/>
        </p:nvSpPr>
        <p:spPr>
          <a:xfrm>
            <a:off x="7334250" y="47625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chemeClr val="accent1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7444207" y="5005388"/>
            <a:ext cx="35158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Hợp lệ?</a:t>
            </a:r>
          </a:p>
        </p:txBody>
      </p:sp>
      <p:sp>
        <p:nvSpPr>
          <p:cNvPr id="51" name="Freeform 51"/>
          <p:cNvSpPr/>
          <p:nvPr/>
        </p:nvSpPr>
        <p:spPr>
          <a:xfrm>
            <a:off x="4762500" y="4191000"/>
            <a:ext cx="2571750" cy="857250"/>
          </a:xfrm>
          <a:custGeom>
            <a:avLst/>
            <a:gdLst/>
            <a:ahLst/>
            <a:cxnLst/>
            <a:rect l="l" t="t" r="r" b="b"/>
            <a:pathLst>
              <a:path w="2571750" h="857250">
                <a:moveTo>
                  <a:pt x="2571750" y="857250"/>
                </a:moveTo>
                <a:lnTo>
                  <a:pt x="0" y="85725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DC2626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4948238" y="4872038"/>
            <a:ext cx="35094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DC2626"/>
                </a:solidFill>
                <a:latin typeface="+mn-lt"/>
                <a:ea typeface="+mn-ea"/>
                <a:cs typeface="+mn-cs"/>
              </a:rPr>
              <a:t>Từ chối</a:t>
            </a:r>
          </a:p>
        </p:txBody>
      </p:sp>
      <p:sp>
        <p:nvSpPr>
          <p:cNvPr id="53" name="Line 53"/>
          <p:cNvSpPr/>
          <p:nvPr/>
        </p:nvSpPr>
        <p:spPr>
          <a:xfrm>
            <a:off x="7905750" y="504825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14288">
            <a:solidFill>
              <a:srgbClr val="16A34A"/>
            </a:solidFill>
          </a:ln>
        </p:spPr>
      </p:sp>
      <p:sp>
        <p:nvSpPr>
          <p:cNvPr id="54" name="Polygon 54"/>
          <p:cNvSpPr/>
          <p:nvPr/>
        </p:nvSpPr>
        <p:spPr>
          <a:xfrm>
            <a:off x="9258300" y="50101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8186738" y="4872038"/>
            <a:ext cx="14820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6A34A"/>
                </a:solidFill>
                <a:latin typeface="+mn-lt"/>
                <a:ea typeface="+mn-ea"/>
                <a:cs typeface="+mn-cs"/>
              </a:rPr>
              <a:t>OK</a:t>
            </a:r>
          </a:p>
        </p:txBody>
      </p:sp>
      <p:sp>
        <p:nvSpPr>
          <p:cNvPr id="56" name="Rectangle 56"/>
          <p:cNvSpPr/>
          <p:nvPr/>
        </p:nvSpPr>
        <p:spPr>
          <a:xfrm>
            <a:off x="9334500" y="485775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4288">
            <a:solidFill>
              <a:srgbClr val="16A34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712121" y="4998720"/>
            <a:ext cx="114975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166534"/>
                </a:solidFill>
                <a:latin typeface="+mn-lt"/>
                <a:ea typeface="+mn-ea"/>
                <a:cs typeface="+mn-cs"/>
              </a:rPr>
              <a:t>SignalR đẩy giá mới</a:t>
            </a:r>
          </a:p>
        </p:txBody>
      </p:sp>
      <p:sp>
        <p:nvSpPr>
          <p:cNvPr id="58" name="Line 58"/>
          <p:cNvSpPr/>
          <p:nvPr/>
        </p:nvSpPr>
        <p:spPr>
          <a:xfrm>
            <a:off x="10287000" y="5238750"/>
            <a:ext cx="9525" cy="400050"/>
          </a:xfrm>
          <a:custGeom>
            <a:avLst/>
            <a:gdLst/>
            <a:ahLst/>
            <a:cxnLst/>
            <a:rect l="l" t="t" r="r" b="b"/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59" name="Polygon 59"/>
          <p:cNvSpPr/>
          <p:nvPr/>
        </p:nvSpPr>
        <p:spPr>
          <a:xfrm>
            <a:off x="10248900" y="5638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9334500" y="5715000"/>
            <a:ext cx="1905000" cy="3810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9643758" y="5855970"/>
            <a:ext cx="12864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Anti-snipe (nếu cần)</a:t>
            </a:r>
          </a:p>
        </p:txBody>
      </p:sp>
      <p:sp>
        <p:nvSpPr>
          <p:cNvPr id="62" name="Line 62"/>
          <p:cNvSpPr/>
          <p:nvPr/>
        </p:nvSpPr>
        <p:spPr>
          <a:xfrm>
            <a:off x="10287000" y="609600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63" name="Polygon 63"/>
          <p:cNvSpPr/>
          <p:nvPr/>
        </p:nvSpPr>
        <p:spPr>
          <a:xfrm>
            <a:off x="10248900" y="6210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4" name="Ellipse 64"/>
          <p:cNvSpPr/>
          <p:nvPr/>
        </p:nvSpPr>
        <p:spPr>
          <a:xfrm>
            <a:off x="10172700" y="6315075"/>
            <a:ext cx="228600" cy="228600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</p:sp>
      <p:sp>
        <p:nvSpPr>
          <p:cNvPr id="65" name="Ellipse 65"/>
          <p:cNvSpPr/>
          <p:nvPr/>
        </p:nvSpPr>
        <p:spPr>
          <a:xfrm>
            <a:off x="10229850" y="6372225"/>
            <a:ext cx="114300" cy="11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68" name="Group 68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66" name="TextBox 66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15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5339877" cy="542639"/>
            <a:chOff x="457200" y="228600"/>
            <a:chExt cx="5339877" cy="542639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265748"/>
              <a:ext cx="51211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Activity — Kết thúc phiên &amp; Thanh toán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847" y="580549"/>
              <a:ext cx="31837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Luồng chính 4/5 · Worker → Order → PayPal / COD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57150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FDE68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276225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702968" y="980599"/>
            <a:ext cx="4993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</a:t>
            </a:r>
          </a:p>
        </p:txBody>
      </p:sp>
      <p:sp>
        <p:nvSpPr>
          <p:cNvPr id="9" name="Rectangle 9"/>
          <p:cNvSpPr/>
          <p:nvPr/>
        </p:nvSpPr>
        <p:spPr>
          <a:xfrm>
            <a:off x="333375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FDE68A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333750" y="857250"/>
            <a:ext cx="2762250" cy="3429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517295" y="980599"/>
            <a:ext cx="3951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Buyer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09600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FDE68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096000" y="857250"/>
            <a:ext cx="2762250" cy="3429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189393" y="980599"/>
            <a:ext cx="5754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Payment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858250" y="857250"/>
            <a:ext cx="25717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FDE68A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8858250" y="857250"/>
            <a:ext cx="2571750" cy="34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887477" y="980599"/>
            <a:ext cx="51329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Kết quả</a:t>
            </a:r>
          </a:p>
        </p:txBody>
      </p:sp>
      <p:sp>
        <p:nvSpPr>
          <p:cNvPr id="18" name="Ellipse 18"/>
          <p:cNvSpPr/>
          <p:nvPr/>
        </p:nvSpPr>
        <p:spPr>
          <a:xfrm>
            <a:off x="1857375" y="1333500"/>
            <a:ext cx="190500" cy="190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9" name="Line 19"/>
          <p:cNvSpPr/>
          <p:nvPr/>
        </p:nvSpPr>
        <p:spPr>
          <a:xfrm>
            <a:off x="1952625" y="1524000"/>
            <a:ext cx="952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20" name="Polygon 20"/>
          <p:cNvSpPr/>
          <p:nvPr/>
        </p:nvSpPr>
        <p:spPr>
          <a:xfrm>
            <a:off x="1914525" y="1685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1000125" y="1762125"/>
            <a:ext cx="1905000" cy="3810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554661" y="1903095"/>
            <a:ext cx="79592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Phiên hết giờ</a:t>
            </a:r>
          </a:p>
        </p:txBody>
      </p:sp>
      <p:sp>
        <p:nvSpPr>
          <p:cNvPr id="23" name="Line 23"/>
          <p:cNvSpPr/>
          <p:nvPr/>
        </p:nvSpPr>
        <p:spPr>
          <a:xfrm>
            <a:off x="1952625" y="2143125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24" name="Polygon 24"/>
          <p:cNvSpPr/>
          <p:nvPr/>
        </p:nvSpPr>
        <p:spPr>
          <a:xfrm>
            <a:off x="1914525" y="23526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1000125" y="2428875"/>
            <a:ext cx="1905000" cy="3810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346187" y="2569845"/>
            <a:ext cx="121287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Finalization Worker</a:t>
            </a:r>
          </a:p>
        </p:txBody>
      </p:sp>
      <p:sp>
        <p:nvSpPr>
          <p:cNvPr id="27" name="Line 27"/>
          <p:cNvSpPr/>
          <p:nvPr/>
        </p:nvSpPr>
        <p:spPr>
          <a:xfrm>
            <a:off x="1952625" y="2809875"/>
            <a:ext cx="9525" cy="352425"/>
          </a:xfrm>
          <a:custGeom>
            <a:avLst/>
            <a:gdLst/>
            <a:ahLst/>
            <a:cxnLst/>
            <a:rect l="l" t="t" r="r" b="b"/>
            <a:pathLst>
              <a:path w="952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1914525" y="3162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1000125" y="3238500"/>
            <a:ext cx="1905000" cy="40005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4288">
            <a:solidFill>
              <a:srgbClr val="16A34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246975" y="3388995"/>
            <a:ext cx="14113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166534"/>
                </a:solidFill>
                <a:latin typeface="+mn-lt"/>
                <a:ea typeface="+mn-ea"/>
                <a:cs typeface="+mn-cs"/>
              </a:rPr>
              <a:t>Tạo Order auction_win</a:t>
            </a:r>
          </a:p>
        </p:txBody>
      </p:sp>
      <p:sp>
        <p:nvSpPr>
          <p:cNvPr id="31" name="Line 31"/>
          <p:cNvSpPr/>
          <p:nvPr/>
        </p:nvSpPr>
        <p:spPr>
          <a:xfrm>
            <a:off x="2905125" y="3438525"/>
            <a:ext cx="828675" cy="9525"/>
          </a:xfrm>
          <a:custGeom>
            <a:avLst/>
            <a:gdLst/>
            <a:ahLst/>
            <a:cxnLst/>
            <a:rect l="l" t="t" r="r" b="b"/>
            <a:pathLst>
              <a:path w="828675" h="9525">
                <a:moveTo>
                  <a:pt x="0" y="0"/>
                </a:moveTo>
                <a:lnTo>
                  <a:pt x="828675" y="0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32" name="Polygon 32"/>
          <p:cNvSpPr/>
          <p:nvPr/>
        </p:nvSpPr>
        <p:spPr>
          <a:xfrm>
            <a:off x="3733800" y="34004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3810000" y="3238500"/>
            <a:ext cx="19050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262629" y="3388995"/>
            <a:ext cx="9997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Thông báo thắng</a:t>
            </a:r>
          </a:p>
        </p:txBody>
      </p:sp>
      <p:sp>
        <p:nvSpPr>
          <p:cNvPr id="35" name="Line 35"/>
          <p:cNvSpPr/>
          <p:nvPr/>
        </p:nvSpPr>
        <p:spPr>
          <a:xfrm>
            <a:off x="4762500" y="36385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36" name="Polygon 36"/>
          <p:cNvSpPr/>
          <p:nvPr/>
        </p:nvSpPr>
        <p:spPr>
          <a:xfrm>
            <a:off x="4724400" y="4019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3810000" y="4095750"/>
            <a:ext cx="1905000" cy="3810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4428091" y="4236720"/>
            <a:ext cx="66881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Mở /Order</a:t>
            </a:r>
          </a:p>
        </p:txBody>
      </p:sp>
      <p:sp>
        <p:nvSpPr>
          <p:cNvPr id="39" name="Line 39"/>
          <p:cNvSpPr/>
          <p:nvPr/>
        </p:nvSpPr>
        <p:spPr>
          <a:xfrm>
            <a:off x="4762500" y="44767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40" name="Polygon 40"/>
          <p:cNvSpPr/>
          <p:nvPr/>
        </p:nvSpPr>
        <p:spPr>
          <a:xfrm>
            <a:off x="4724400" y="4781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3810000" y="4857750"/>
            <a:ext cx="1905000" cy="3810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4348726" y="4998720"/>
            <a:ext cx="82754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Chọn shipping</a:t>
            </a:r>
          </a:p>
        </p:txBody>
      </p:sp>
      <p:sp>
        <p:nvSpPr>
          <p:cNvPr id="43" name="Line 43"/>
          <p:cNvSpPr/>
          <p:nvPr/>
        </p:nvSpPr>
        <p:spPr>
          <a:xfrm>
            <a:off x="5715000" y="5048250"/>
            <a:ext cx="876300" cy="9525"/>
          </a:xfrm>
          <a:custGeom>
            <a:avLst/>
            <a:gdLst/>
            <a:ahLst/>
            <a:cxnLst/>
            <a:rect l="l" t="t" r="r" b="b"/>
            <a:pathLst>
              <a:path w="876300" h="9525">
                <a:moveTo>
                  <a:pt x="0" y="0"/>
                </a:moveTo>
                <a:lnTo>
                  <a:pt x="876300" y="0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44" name="Polygon 44"/>
          <p:cNvSpPr/>
          <p:nvPr/>
        </p:nvSpPr>
        <p:spPr>
          <a:xfrm>
            <a:off x="6591300" y="50101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5" name="Polygon 45"/>
          <p:cNvSpPr/>
          <p:nvPr/>
        </p:nvSpPr>
        <p:spPr>
          <a:xfrm>
            <a:off x="6838950" y="47434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609600" y="304800"/>
                </a:lnTo>
                <a:lnTo>
                  <a:pt x="304800" y="6096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chemeClr val="accent1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7025830" y="5005388"/>
            <a:ext cx="23583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Pay?</a:t>
            </a:r>
          </a:p>
        </p:txBody>
      </p:sp>
      <p:sp>
        <p:nvSpPr>
          <p:cNvPr id="47" name="Line 47"/>
          <p:cNvSpPr/>
          <p:nvPr/>
        </p:nvSpPr>
        <p:spPr>
          <a:xfrm>
            <a:off x="7448550" y="5048250"/>
            <a:ext cx="1047750" cy="9525"/>
          </a:xfrm>
          <a:custGeom>
            <a:avLst/>
            <a:gdLst/>
            <a:ahLst/>
            <a:cxnLst/>
            <a:rect l="l" t="t" r="r" b="b"/>
            <a:pathLst>
              <a:path w="1047750" h="9525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/>
          <a:ln w="14288">
            <a:solidFill>
              <a:srgbClr val="16A34A"/>
            </a:solidFill>
          </a:ln>
        </p:spPr>
      </p:sp>
      <p:sp>
        <p:nvSpPr>
          <p:cNvPr id="48" name="Polygon 48"/>
          <p:cNvSpPr/>
          <p:nvPr/>
        </p:nvSpPr>
        <p:spPr>
          <a:xfrm>
            <a:off x="8496300" y="50101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7710488" y="4872038"/>
            <a:ext cx="32327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6A34A"/>
                </a:solidFill>
                <a:latin typeface="+mn-lt"/>
                <a:ea typeface="+mn-ea"/>
                <a:cs typeface="+mn-cs"/>
              </a:rPr>
              <a:t>PayPal</a:t>
            </a:r>
          </a:p>
        </p:txBody>
      </p:sp>
      <p:sp>
        <p:nvSpPr>
          <p:cNvPr id="50" name="Rectangle 50"/>
          <p:cNvSpPr/>
          <p:nvPr/>
        </p:nvSpPr>
        <p:spPr>
          <a:xfrm>
            <a:off x="8572500" y="4857750"/>
            <a:ext cx="2381250" cy="3810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4288">
            <a:solidFill>
              <a:srgbClr val="16A34A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9294403" y="4998720"/>
            <a:ext cx="93744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166534"/>
                </a:solidFill>
                <a:latin typeface="+mn-lt"/>
                <a:ea typeface="+mn-ea"/>
                <a:cs typeface="+mn-cs"/>
              </a:rPr>
              <a:t>Capture PayPal</a:t>
            </a:r>
          </a:p>
        </p:txBody>
      </p:sp>
      <p:sp>
        <p:nvSpPr>
          <p:cNvPr id="52" name="Freeform 52"/>
          <p:cNvSpPr/>
          <p:nvPr/>
        </p:nvSpPr>
        <p:spPr>
          <a:xfrm>
            <a:off x="7143750" y="5353050"/>
            <a:ext cx="1428750" cy="361950"/>
          </a:xfrm>
          <a:custGeom>
            <a:avLst/>
            <a:gdLst/>
            <a:ahLst/>
            <a:cxnLst/>
            <a:rect l="l" t="t" r="r" b="b"/>
            <a:pathLst>
              <a:path w="1428750" h="361950">
                <a:moveTo>
                  <a:pt x="0" y="0"/>
                </a:moveTo>
                <a:lnTo>
                  <a:pt x="0" y="361950"/>
                </a:lnTo>
                <a:lnTo>
                  <a:pt x="1428750" y="361950"/>
                </a:lnTo>
              </a:path>
            </a:pathLst>
          </a:custGeom>
          <a:noFill/>
          <a:ln w="14288">
            <a:solidFill>
              <a:schemeClr val="accent1"/>
            </a:solidFill>
          </a:ln>
        </p:spPr>
      </p:sp>
      <p:sp>
        <p:nvSpPr>
          <p:cNvPr id="53" name="Polygon 53"/>
          <p:cNvSpPr/>
          <p:nvPr/>
        </p:nvSpPr>
        <p:spPr>
          <a:xfrm>
            <a:off x="8553450" y="5676900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329488" y="5538788"/>
            <a:ext cx="20688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COD</a:t>
            </a:r>
          </a:p>
        </p:txBody>
      </p:sp>
      <p:sp>
        <p:nvSpPr>
          <p:cNvPr id="55" name="Rectangle 55"/>
          <p:cNvSpPr/>
          <p:nvPr/>
        </p:nvSpPr>
        <p:spPr>
          <a:xfrm>
            <a:off x="8572500" y="5524500"/>
            <a:ext cx="2381250" cy="3810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9364821" y="5665470"/>
            <a:ext cx="7966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Ghi nhận COD</a:t>
            </a:r>
          </a:p>
        </p:txBody>
      </p:sp>
      <p:sp>
        <p:nvSpPr>
          <p:cNvPr id="57" name="Line 57"/>
          <p:cNvSpPr/>
          <p:nvPr/>
        </p:nvSpPr>
        <p:spPr>
          <a:xfrm>
            <a:off x="9763125" y="5905500"/>
            <a:ext cx="9525" cy="257175"/>
          </a:xfrm>
          <a:custGeom>
            <a:avLst/>
            <a:gdLst/>
            <a:ahLst/>
            <a:cxnLst/>
            <a:rect l="l" t="t" r="r" b="b"/>
            <a:pathLst>
              <a:path w="952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58" name="Polygon 58"/>
          <p:cNvSpPr/>
          <p:nvPr/>
        </p:nvSpPr>
        <p:spPr>
          <a:xfrm>
            <a:off x="9725025" y="61626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59" name="Ellipse 59"/>
          <p:cNvSpPr/>
          <p:nvPr/>
        </p:nvSpPr>
        <p:spPr>
          <a:xfrm>
            <a:off x="9648825" y="6315075"/>
            <a:ext cx="228600" cy="228600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</p:sp>
      <p:sp>
        <p:nvSpPr>
          <p:cNvPr id="60" name="Ellipse 60"/>
          <p:cNvSpPr/>
          <p:nvPr/>
        </p:nvSpPr>
        <p:spPr>
          <a:xfrm>
            <a:off x="9705975" y="6372225"/>
            <a:ext cx="114300" cy="11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63" name="Group 63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61" name="TextBox 61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16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4306157" cy="542639"/>
            <a:chOff x="457200" y="228600"/>
            <a:chExt cx="4306157" cy="542639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265748"/>
              <a:ext cx="408746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Activity — Buy Now (Mua ngay)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847" y="580549"/>
              <a:ext cx="37784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Luồng chính 5/5 · Cart → Invoice → Thanh toán trong 7 ngày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571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FDE68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3619500" cy="3429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183670" y="980599"/>
            <a:ext cx="3951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Buyer</a:t>
            </a:r>
          </a:p>
        </p:txBody>
      </p:sp>
      <p:sp>
        <p:nvSpPr>
          <p:cNvPr id="9" name="Rectangle 9"/>
          <p:cNvSpPr/>
          <p:nvPr/>
        </p:nvSpPr>
        <p:spPr>
          <a:xfrm>
            <a:off x="41910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FDE68A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191000" y="857250"/>
            <a:ext cx="36195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751093" y="980599"/>
            <a:ext cx="4993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810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FDE68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7810500" y="857250"/>
            <a:ext cx="3619500" cy="34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332518" y="980599"/>
            <a:ext cx="5754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Payment</a:t>
            </a:r>
          </a:p>
        </p:txBody>
      </p:sp>
      <p:sp>
        <p:nvSpPr>
          <p:cNvPr id="15" name="Ellipse 15"/>
          <p:cNvSpPr/>
          <p:nvPr/>
        </p:nvSpPr>
        <p:spPr>
          <a:xfrm>
            <a:off x="2286000" y="1333500"/>
            <a:ext cx="190500" cy="190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2381250" y="1524000"/>
            <a:ext cx="952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17" name="Polygon 17"/>
          <p:cNvSpPr/>
          <p:nvPr/>
        </p:nvSpPr>
        <p:spPr>
          <a:xfrm>
            <a:off x="2343150" y="1685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1428750" y="1762125"/>
            <a:ext cx="1905000" cy="3810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990879" y="1903095"/>
            <a:ext cx="7807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Xem Buy Now</a:t>
            </a:r>
          </a:p>
        </p:txBody>
      </p:sp>
      <p:sp>
        <p:nvSpPr>
          <p:cNvPr id="20" name="Line 20"/>
          <p:cNvSpPr/>
          <p:nvPr/>
        </p:nvSpPr>
        <p:spPr>
          <a:xfrm>
            <a:off x="2381250" y="2143125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2343150" y="23526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1428750" y="2428875"/>
            <a:ext cx="1905000" cy="3810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2019023" y="2569845"/>
            <a:ext cx="72445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Add to Cart</a:t>
            </a:r>
          </a:p>
        </p:txBody>
      </p:sp>
      <p:sp>
        <p:nvSpPr>
          <p:cNvPr id="24" name="Line 24"/>
          <p:cNvSpPr/>
          <p:nvPr/>
        </p:nvSpPr>
        <p:spPr>
          <a:xfrm>
            <a:off x="3333750" y="2619375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25" name="Polygon 25"/>
          <p:cNvSpPr/>
          <p:nvPr/>
        </p:nvSpPr>
        <p:spPr>
          <a:xfrm>
            <a:off x="4686300" y="25812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4762500" y="2428875"/>
            <a:ext cx="2095500" cy="3810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5189499" y="2569845"/>
            <a:ext cx="124150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Tạo invoice buy_now</a:t>
            </a:r>
          </a:p>
        </p:txBody>
      </p:sp>
      <p:sp>
        <p:nvSpPr>
          <p:cNvPr id="28" name="Line 28"/>
          <p:cNvSpPr/>
          <p:nvPr/>
        </p:nvSpPr>
        <p:spPr>
          <a:xfrm>
            <a:off x="5810250" y="2809875"/>
            <a:ext cx="9525" cy="352425"/>
          </a:xfrm>
          <a:custGeom>
            <a:avLst/>
            <a:gdLst/>
            <a:ahLst/>
            <a:cxnLst/>
            <a:rect l="l" t="t" r="r" b="b"/>
            <a:pathLst>
              <a:path w="952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29" name="Polygon 29"/>
          <p:cNvSpPr/>
          <p:nvPr/>
        </p:nvSpPr>
        <p:spPr>
          <a:xfrm>
            <a:off x="5772150" y="3162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4762500" y="3238500"/>
            <a:ext cx="20955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5342155" y="3388995"/>
            <a:ext cx="93619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Deadline 7 ngày</a:t>
            </a:r>
          </a:p>
        </p:txBody>
      </p:sp>
      <p:sp>
        <p:nvSpPr>
          <p:cNvPr id="32" name="Line 32"/>
          <p:cNvSpPr/>
          <p:nvPr/>
        </p:nvSpPr>
        <p:spPr>
          <a:xfrm>
            <a:off x="5810250" y="363855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33" name="Polygon 33"/>
          <p:cNvSpPr/>
          <p:nvPr/>
        </p:nvSpPr>
        <p:spPr>
          <a:xfrm>
            <a:off x="5772150" y="3924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4" name="Polygon 34"/>
          <p:cNvSpPr/>
          <p:nvPr/>
        </p:nvSpPr>
        <p:spPr>
          <a:xfrm>
            <a:off x="5505450" y="4076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609600" y="304800"/>
                </a:lnTo>
                <a:lnTo>
                  <a:pt x="304800" y="6096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chemeClr val="accent1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5692330" y="4338638"/>
            <a:ext cx="23583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Pay?</a:t>
            </a:r>
          </a:p>
        </p:txBody>
      </p:sp>
      <p:sp>
        <p:nvSpPr>
          <p:cNvPr id="36" name="Line 36"/>
          <p:cNvSpPr/>
          <p:nvPr/>
        </p:nvSpPr>
        <p:spPr>
          <a:xfrm>
            <a:off x="6115050" y="4381500"/>
            <a:ext cx="2190750" cy="9525"/>
          </a:xfrm>
          <a:custGeom>
            <a:avLst/>
            <a:gdLst/>
            <a:ahLst/>
            <a:cxnLst/>
            <a:rect l="l" t="t" r="r" b="b"/>
            <a:pathLst>
              <a:path w="2190750" h="9525">
                <a:moveTo>
                  <a:pt x="0" y="0"/>
                </a:moveTo>
                <a:lnTo>
                  <a:pt x="2190750" y="0"/>
                </a:lnTo>
              </a:path>
            </a:pathLst>
          </a:custGeom>
          <a:noFill/>
          <a:ln w="14288">
            <a:solidFill>
              <a:srgbClr val="16A34A"/>
            </a:solidFill>
          </a:ln>
        </p:spPr>
      </p:sp>
      <p:sp>
        <p:nvSpPr>
          <p:cNvPr id="37" name="Polygon 37"/>
          <p:cNvSpPr/>
          <p:nvPr/>
        </p:nvSpPr>
        <p:spPr>
          <a:xfrm>
            <a:off x="8305800" y="4343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662738" y="4205288"/>
            <a:ext cx="54292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6A34A"/>
                </a:solidFill>
                <a:latin typeface="+mn-lt"/>
                <a:ea typeface="+mn-ea"/>
                <a:cs typeface="+mn-cs"/>
              </a:rPr>
              <a:t>Thanh toán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382000" y="4191000"/>
            <a:ext cx="2476500" cy="3810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4288">
            <a:solidFill>
              <a:srgbClr val="16A34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9218558" y="4331970"/>
            <a:ext cx="8033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166534"/>
                </a:solidFill>
                <a:latin typeface="+mn-lt"/>
                <a:ea typeface="+mn-ea"/>
                <a:cs typeface="+mn-cs"/>
              </a:rPr>
              <a:t>PayPal / COD</a:t>
            </a:r>
          </a:p>
        </p:txBody>
      </p:sp>
      <p:sp>
        <p:nvSpPr>
          <p:cNvPr id="41" name="Line 41"/>
          <p:cNvSpPr/>
          <p:nvPr/>
        </p:nvSpPr>
        <p:spPr>
          <a:xfrm>
            <a:off x="9620250" y="4572000"/>
            <a:ext cx="9525" cy="495300"/>
          </a:xfrm>
          <a:custGeom>
            <a:avLst/>
            <a:gdLst/>
            <a:ahLst/>
            <a:cxnLst/>
            <a:rect l="l" t="t" r="r" b="b"/>
            <a:pathLst>
              <a:path w="9525" h="495300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42" name="Polygon 42"/>
          <p:cNvSpPr/>
          <p:nvPr/>
        </p:nvSpPr>
        <p:spPr>
          <a:xfrm>
            <a:off x="9582150" y="5067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8382000" y="5143500"/>
            <a:ext cx="2476500" cy="3810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4288">
            <a:solidFill>
              <a:srgbClr val="16A34A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9094987" y="5284470"/>
            <a:ext cx="105052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166534"/>
                </a:solidFill>
                <a:latin typeface="+mn-lt"/>
                <a:ea typeface="+mn-ea"/>
                <a:cs typeface="+mn-cs"/>
              </a:rPr>
              <a:t>Order completed</a:t>
            </a:r>
          </a:p>
        </p:txBody>
      </p:sp>
      <p:sp>
        <p:nvSpPr>
          <p:cNvPr id="45" name="Line 45"/>
          <p:cNvSpPr/>
          <p:nvPr/>
        </p:nvSpPr>
        <p:spPr>
          <a:xfrm>
            <a:off x="9620250" y="5524500"/>
            <a:ext cx="9525" cy="400050"/>
          </a:xfrm>
          <a:custGeom>
            <a:avLst/>
            <a:gdLst/>
            <a:ahLst/>
            <a:cxnLst/>
            <a:rect l="l" t="t" r="r" b="b"/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46" name="Polygon 46"/>
          <p:cNvSpPr/>
          <p:nvPr/>
        </p:nvSpPr>
        <p:spPr>
          <a:xfrm>
            <a:off x="9582150" y="5924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7" name="Ellipse 47"/>
          <p:cNvSpPr/>
          <p:nvPr/>
        </p:nvSpPr>
        <p:spPr>
          <a:xfrm>
            <a:off x="9505950" y="6124575"/>
            <a:ext cx="228600" cy="228600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</p:sp>
      <p:sp>
        <p:nvSpPr>
          <p:cNvPr id="48" name="Ellipse 48"/>
          <p:cNvSpPr/>
          <p:nvPr/>
        </p:nvSpPr>
        <p:spPr>
          <a:xfrm>
            <a:off x="9563100" y="6181725"/>
            <a:ext cx="114300" cy="11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9" name="Freeform 49"/>
          <p:cNvSpPr/>
          <p:nvPr/>
        </p:nvSpPr>
        <p:spPr>
          <a:xfrm>
            <a:off x="2857500" y="3619500"/>
            <a:ext cx="2647950" cy="762000"/>
          </a:xfrm>
          <a:custGeom>
            <a:avLst/>
            <a:gdLst/>
            <a:ahLst/>
            <a:cxnLst/>
            <a:rect l="l" t="t" r="r" b="b"/>
            <a:pathLst>
              <a:path w="2647950" h="762000">
                <a:moveTo>
                  <a:pt x="2647950" y="762000"/>
                </a:moveTo>
                <a:lnTo>
                  <a:pt x="0" y="76200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DC2626"/>
            </a:solidFill>
          </a:ln>
        </p:spPr>
      </p:sp>
      <p:sp>
        <p:nvSpPr>
          <p:cNvPr id="50" name="Polygon 50"/>
          <p:cNvSpPr/>
          <p:nvPr/>
        </p:nvSpPr>
        <p:spPr>
          <a:xfrm>
            <a:off x="2819400" y="3543300"/>
            <a:ext cx="76200" cy="95250"/>
          </a:xfrm>
          <a:custGeom>
            <a:avLst/>
            <a:gdLst/>
            <a:ahLst/>
            <a:cxnLst/>
            <a:rect l="l" t="t" r="r" b="b"/>
            <a:pathLst>
              <a:path w="76200" h="95250">
                <a:moveTo>
                  <a:pt x="0" y="95250"/>
                </a:moveTo>
                <a:lnTo>
                  <a:pt x="38100" y="0"/>
                </a:lnTo>
                <a:lnTo>
                  <a:pt x="76200" y="9525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3233738" y="4205288"/>
            <a:ext cx="6597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DC2626"/>
                </a:solidFill>
                <a:latin typeface="+mn-lt"/>
                <a:ea typeface="+mn-ea"/>
                <a:cs typeface="+mn-cs"/>
              </a:rPr>
              <a:t>Hủy / hết hạn</a:t>
            </a:r>
          </a:p>
        </p:txBody>
      </p:sp>
      <p:sp>
        <p:nvSpPr>
          <p:cNvPr id="52" name="Rectangle 52"/>
          <p:cNvSpPr/>
          <p:nvPr/>
        </p:nvSpPr>
        <p:spPr>
          <a:xfrm>
            <a:off x="1428750" y="333375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4288">
            <a:solidFill>
              <a:srgbClr val="DC2626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2037457" y="3474720"/>
            <a:ext cx="6875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991B1B"/>
                </a:solidFill>
                <a:latin typeface="+mn-lt"/>
                <a:ea typeface="+mn-ea"/>
                <a:cs typeface="+mn-cs"/>
              </a:rPr>
              <a:t>Hủy invoice</a:t>
            </a:r>
          </a:p>
        </p:txBody>
      </p:sp>
      <p:sp>
        <p:nvSpPr>
          <p:cNvPr id="54" name="Line 54"/>
          <p:cNvSpPr/>
          <p:nvPr/>
        </p:nvSpPr>
        <p:spPr>
          <a:xfrm>
            <a:off x="2381250" y="3714750"/>
            <a:ext cx="9525" cy="495300"/>
          </a:xfrm>
          <a:custGeom>
            <a:avLst/>
            <a:gdLst/>
            <a:ahLst/>
            <a:cxnLst/>
            <a:rect l="l" t="t" r="r" b="b"/>
            <a:pathLst>
              <a:path w="9525" h="495300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55" name="Polygon 55"/>
          <p:cNvSpPr/>
          <p:nvPr/>
        </p:nvSpPr>
        <p:spPr>
          <a:xfrm>
            <a:off x="2343150" y="42100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56" name="Ellipse 56"/>
          <p:cNvSpPr/>
          <p:nvPr/>
        </p:nvSpPr>
        <p:spPr>
          <a:xfrm>
            <a:off x="2266950" y="4362450"/>
            <a:ext cx="228600" cy="228600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</p:sp>
      <p:sp>
        <p:nvSpPr>
          <p:cNvPr id="57" name="Ellipse 57"/>
          <p:cNvSpPr/>
          <p:nvPr/>
        </p:nvSpPr>
        <p:spPr>
          <a:xfrm>
            <a:off x="2324100" y="4419600"/>
            <a:ext cx="114300" cy="11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60" name="Group 60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58" name="TextBox 58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17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419100"/>
            <a:ext cx="3146115" cy="625411"/>
            <a:chOff x="457200" y="419100"/>
            <a:chExt cx="3146115" cy="625411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3608" y="426720"/>
              <a:ext cx="29297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Database Diagram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839152"/>
              <a:ext cx="16328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ER — các thực thể chính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62000" y="1333500"/>
            <a:ext cx="9906000" cy="4085939"/>
            <a:chOff x="762000" y="1333500"/>
            <a:chExt cx="9906000" cy="4085939"/>
          </a:xfrm>
        </p:grpSpPr>
        <p:grpSp>
          <p:nvGrpSpPr>
            <p:cNvPr id="13" name="Group 13"/>
            <p:cNvGrpSpPr/>
            <p:nvPr/>
          </p:nvGrpSpPr>
          <p:grpSpPr>
            <a:xfrm>
              <a:off x="762000" y="1714500"/>
              <a:ext cx="1905000" cy="1333500"/>
              <a:chOff x="762000" y="1714500"/>
              <a:chExt cx="1905000" cy="13335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762000" y="1714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FDE68A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762000" y="1714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762000" y="1943100"/>
                <a:ext cx="1905000" cy="152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532176" y="1840706"/>
                <a:ext cx="36464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User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47547" y="2256949"/>
                <a:ext cx="12521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47547" y="2523649"/>
                <a:ext cx="3367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Email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47547" y="2790349"/>
                <a:ext cx="34345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Roles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3429000" y="1524000"/>
              <a:ext cx="1905000" cy="1333500"/>
              <a:chOff x="3429000" y="1524000"/>
              <a:chExt cx="1905000" cy="13335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3429000" y="15240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FDE68A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3429000" y="15240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3429000" y="1752600"/>
                <a:ext cx="1905000" cy="152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068568" y="1650206"/>
                <a:ext cx="62586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Product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614547" y="2066449"/>
                <a:ext cx="12521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614547" y="2333149"/>
                <a:ext cx="49825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SellerId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614547" y="2599849"/>
                <a:ext cx="59449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Category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096000" y="1714500"/>
              <a:ext cx="1905000" cy="1333500"/>
              <a:chOff x="6096000" y="1714500"/>
              <a:chExt cx="1905000" cy="13335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096000" y="1714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FDE68A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6096000" y="1714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6096000" y="1943100"/>
                <a:ext cx="1905000" cy="152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755517" y="1840706"/>
                <a:ext cx="58596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Auction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281547" y="2256949"/>
                <a:ext cx="12521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281547" y="2523649"/>
                <a:ext cx="63776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ProductId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281547" y="2790349"/>
                <a:ext cx="44937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Status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8763000" y="1333500"/>
              <a:ext cx="1905000" cy="1333500"/>
              <a:chOff x="8763000" y="1333500"/>
              <a:chExt cx="1905000" cy="13335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8763000" y="1333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FDE68A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8763000" y="1333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8763000" y="1562100"/>
                <a:ext cx="1905000" cy="152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9596875" y="1459706"/>
                <a:ext cx="23725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Bid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948547" y="1875949"/>
                <a:ext cx="12521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948547" y="2142649"/>
                <a:ext cx="60436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AuctionId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948547" y="2409349"/>
                <a:ext cx="47600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Amount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096000" y="4000500"/>
              <a:ext cx="1905000" cy="1333500"/>
              <a:chOff x="6096000" y="4000500"/>
              <a:chExt cx="1905000" cy="13335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6096000" y="4000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FDE68A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6096000" y="4000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6096000" y="4229100"/>
                <a:ext cx="1905000" cy="152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806630" y="4126706"/>
                <a:ext cx="48374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Order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281547" y="4542949"/>
                <a:ext cx="12521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281547" y="4809649"/>
                <a:ext cx="49252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BuyerId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281547" y="5076349"/>
                <a:ext cx="5485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Payment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3429000" y="4000500"/>
              <a:ext cx="1905000" cy="1333500"/>
              <a:chOff x="3429000" y="4000500"/>
              <a:chExt cx="1905000" cy="13335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3429000" y="4000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FDE68A"/>
                </a:solidFill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3429000" y="4000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3429000" y="4229100"/>
                <a:ext cx="1905000" cy="152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3890652" y="4126706"/>
                <a:ext cx="98169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Registration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614547" y="4542949"/>
                <a:ext cx="12521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3614547" y="4809649"/>
                <a:ext cx="60436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AuctionId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3614547" y="5076349"/>
                <a:ext cx="48868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Deposit</a:t>
                </a:r>
              </a:p>
            </p:txBody>
          </p:sp>
        </p:grpSp>
        <p:sp>
          <p:nvSpPr>
            <p:cNvPr id="54" name="Line 54"/>
            <p:cNvSpPr/>
            <p:nvPr/>
          </p:nvSpPr>
          <p:spPr>
            <a:xfrm>
              <a:off x="266700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533400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8001000" y="1905000"/>
              <a:ext cx="762000" cy="190500"/>
            </a:xfrm>
            <a:custGeom>
              <a:avLst/>
              <a:gdLst/>
              <a:ahLst/>
              <a:cxnLst/>
              <a:rect l="l" t="t" r="r" b="b"/>
              <a:pathLst>
                <a:path w="762000" h="190500">
                  <a:moveTo>
                    <a:pt x="0" y="19050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7048500" y="28575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4381500" y="28575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5334000" y="42862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852738" y="1911191"/>
              <a:ext cx="2019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519738" y="1911191"/>
              <a:ext cx="2019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86738" y="1720691"/>
              <a:ext cx="2019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138988" y="3339941"/>
              <a:ext cx="59282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N—1 Winner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567238" y="3339941"/>
              <a:ext cx="4181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1—N Reg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900047" y="5228749"/>
              <a:ext cx="43436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User 1—N Product · Auction 1—N Bid/Registration · Order N—1 Buyer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67" name="TextBox 67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18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419100"/>
            <a:ext cx="2191860" cy="625411"/>
            <a:chOff x="457200" y="419100"/>
            <a:chExt cx="2191860" cy="625411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3608" y="426720"/>
              <a:ext cx="13581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Kết luận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839152"/>
              <a:ext cx="19685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Điểm nổi bật của CardMarket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333500"/>
            <a:ext cx="5524500" cy="1619250"/>
            <a:chOff x="457200" y="1333500"/>
            <a:chExt cx="5524500" cy="1619250"/>
          </a:xfrm>
        </p:grpSpPr>
        <p:sp>
          <p:nvSpPr>
            <p:cNvPr id="6" name="Rectangle 6"/>
            <p:cNvSpPr/>
            <p:nvPr/>
          </p:nvSpPr>
          <p:spPr>
            <a:xfrm>
              <a:off x="457200" y="1333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333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5256" y="1663065"/>
              <a:ext cx="1166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Dual Auth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8304" y="2156460"/>
              <a:ext cx="39390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Cookie User và Admin độc lập — tách phiên an toàn.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286500" y="1333500"/>
            <a:ext cx="5524500" cy="1619250"/>
            <a:chOff x="6286500" y="1333500"/>
            <a:chExt cx="5524500" cy="1619250"/>
          </a:xfrm>
        </p:grpSpPr>
        <p:sp>
          <p:nvSpPr>
            <p:cNvPr id="11" name="Rectangle 11"/>
            <p:cNvSpPr/>
            <p:nvPr/>
          </p:nvSpPr>
          <p:spPr>
            <a:xfrm>
              <a:off x="6286500" y="1333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286500" y="1333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34556" y="1663065"/>
              <a:ext cx="17378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Verify Listing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37604" y="2156460"/>
              <a:ext cx="31191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Admin duyệt trước khi listing công khai.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57200" y="3238500"/>
            <a:ext cx="5524500" cy="1619250"/>
            <a:chOff x="457200" y="3238500"/>
            <a:chExt cx="5524500" cy="1619250"/>
          </a:xfrm>
        </p:grpSpPr>
        <p:sp>
          <p:nvSpPr>
            <p:cNvPr id="16" name="Rectangle 16"/>
            <p:cNvSpPr/>
            <p:nvPr/>
          </p:nvSpPr>
          <p:spPr>
            <a:xfrm>
              <a:off x="457200" y="3238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57200" y="3238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5256" y="3568065"/>
              <a:ext cx="10688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Realtime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8304" y="4061460"/>
              <a:ext cx="28584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SignalR + Firebase push + RabbitMQ.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86500" y="3238500"/>
            <a:ext cx="5524500" cy="1619250"/>
            <a:chOff x="6286500" y="3238500"/>
            <a:chExt cx="5524500" cy="1619250"/>
          </a:xfrm>
        </p:grpSpPr>
        <p:sp>
          <p:nvSpPr>
            <p:cNvPr id="21" name="Rectangle 21"/>
            <p:cNvSpPr/>
            <p:nvPr/>
          </p:nvSpPr>
          <p:spPr>
            <a:xfrm>
              <a:off x="6286500" y="3238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86500" y="3238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34556" y="3568065"/>
              <a:ext cx="14392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Đa ngôn ngữ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37604" y="4061460"/>
              <a:ext cx="20153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 locale: vi · en · ja · ko.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57200" y="5334000"/>
            <a:ext cx="11277600" cy="666750"/>
            <a:chOff x="457200" y="5334000"/>
            <a:chExt cx="11277600" cy="666750"/>
          </a:xfrm>
        </p:grpSpPr>
        <p:sp>
          <p:nvSpPr>
            <p:cNvPr id="26" name="Rectangle 26"/>
            <p:cNvSpPr/>
            <p:nvPr/>
          </p:nvSpPr>
          <p:spPr>
            <a:xfrm>
              <a:off x="457200" y="5334000"/>
              <a:ext cx="11277600" cy="666750"/>
            </a:xfrm>
            <a:prstGeom prst="roundRect">
              <a:avLst>
                <a:gd name="adj" fmla="val 22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905958" y="5614035"/>
              <a:ext cx="43800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Vòng đời đấu giá thẻ bài hoàn chỉnh trên ASP.NET Core 8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29" name="TextBox 29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19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-381000"/>
            <a:ext cx="12573000" cy="8001000"/>
            <a:chOff x="0" y="-381000"/>
            <a:chExt cx="12573000" cy="8001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0" y="-381000"/>
              <a:ext cx="3048000" cy="3048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763000" y="3810000"/>
              <a:ext cx="3810000" cy="3810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2286000" y="1524000"/>
            <a:ext cx="7620000" cy="3429000"/>
            <a:chOff x="2286000" y="1524000"/>
            <a:chExt cx="7620000" cy="3429000"/>
          </a:xfrm>
        </p:grpSpPr>
        <p:sp>
          <p:nvSpPr>
            <p:cNvPr id="6" name="Rectangle 6"/>
            <p:cNvSpPr/>
            <p:nvPr/>
          </p:nvSpPr>
          <p:spPr>
            <a:xfrm>
              <a:off x="2286000" y="1524000"/>
              <a:ext cx="7620000" cy="34290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19050">
              <a:solidFill>
                <a:srgbClr val="FDE68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753021" y="2087880"/>
              <a:ext cx="468595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Cảm ơn quý thầy cô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652894" y="2659380"/>
              <a:ext cx="288621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và hội đồng!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0" y="3333750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227694" y="3664268"/>
              <a:ext cx="3736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Cảm ơn các thành viên nhóm và những người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67273" y="3950018"/>
              <a:ext cx="38574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đã hỗ trợ trong quá trình phát triển dự án.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22927" y="4442460"/>
              <a:ext cx="17461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CardMarket · Nhóm 3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14" name="TextBox 14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20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nline_auction_nhom3">
  <a:themeElements>
    <a:clrScheme name="online_auction_nhom3">
      <a:dk1>
        <a:srgbClr val="292524"/>
      </a:dk1>
      <a:lt1>
        <a:srgbClr val="FFFBEB"/>
      </a:lt1>
      <a:dk2>
        <a:srgbClr val="292524"/>
      </a:dk2>
      <a:lt2>
        <a:srgbClr val="FEF3C7"/>
      </a:lt2>
      <a:accent1>
        <a:srgbClr val="B45309"/>
      </a:accent1>
      <a:accent2>
        <a:srgbClr val="1C1917"/>
      </a:accent2>
      <a:accent3>
        <a:srgbClr val="78716C"/>
      </a:accent3>
      <a:accent4>
        <a:srgbClr val="B45309"/>
      </a:accent4>
      <a:accent5>
        <a:srgbClr val="4BACC6"/>
      </a:accent5>
      <a:accent6>
        <a:srgbClr val="F79646"/>
      </a:accent6>
      <a:hlink>
        <a:srgbClr val="1C1917"/>
      </a:hlink>
      <a:folHlink>
        <a:srgbClr val="78716C"/>
      </a:folHlink>
    </a:clrScheme>
    <a:fontScheme name="online_auction_nhom3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nline_auction_nhom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nline_auction_nhom3">
  <a:themeElements>
    <a:clrScheme name="online_auction_nhom3">
      <a:dk1>
        <a:srgbClr val="292524"/>
      </a:dk1>
      <a:lt1>
        <a:srgbClr val="FFFBEB"/>
      </a:lt1>
      <a:dk2>
        <a:srgbClr val="292524"/>
      </a:dk2>
      <a:lt2>
        <a:srgbClr val="FEF3C7"/>
      </a:lt2>
      <a:accent1>
        <a:srgbClr val="B45309"/>
      </a:accent1>
      <a:accent2>
        <a:srgbClr val="1C1917"/>
      </a:accent2>
      <a:accent3>
        <a:srgbClr val="78716C"/>
      </a:accent3>
      <a:accent4>
        <a:srgbClr val="B45309"/>
      </a:accent4>
      <a:accent5>
        <a:srgbClr val="4BACC6"/>
      </a:accent5>
      <a:accent6>
        <a:srgbClr val="F79646"/>
      </a:accent6>
      <a:hlink>
        <a:srgbClr val="1C1917"/>
      </a:hlink>
      <a:folHlink>
        <a:srgbClr val="78716C"/>
      </a:folHlink>
    </a:clrScheme>
    <a:fontScheme name="online_auction_nhom3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nline_auction_nhom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2026-07-21T10:49:48Z</dcterms:created>
  <dcterms:modified xsi:type="dcterms:W3CDTF">2026-07-21T10:49:48Z</dcterms:modified>
  <cp:category/>
  <cp:contentStatus/>
</cp:coreProperties>
</file>