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  <Relationship Id="rId3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25 trang: phần chung, 10 Use Case chi tiết, 5 Activity, DB, kết luận.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Nhóm trưởng: Nguyễn Giang Hà. Thành viên: Nguyễn Văn Hưng, Đinh Văn Hải, Phạm Việt Anh, Nguyễn Hữu Quân, Danil Famil Long.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Tổng quan hệ thống đấu giá và Buy Now.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Bốn mục tiêu chính của đề tài.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Stack ASP.NET Core 8, Identity, PayPal, SignalR.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Khung giai đoạn phát triển.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User: đăng ký, xác nhận email, login/logout, reset OTP, dashboard.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User: bids, orders, watchlist, selling, submissions.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 + PayPal: đăng ký phiên, đặt cọc, bid, hủy đăng ký.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 + PayPal: cart Buy Now, checkout, hoàn tất đơn thắng/mua ngay.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User: tạo Auction/Buy Now, sửa, xóa, theo dõi verify.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Admin: overview metrics, auction stats, revenue, export report.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Admin: xem/tạo/sửa/xóa user, gán quyền.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Admin: danh sách phiên, CRUD, fraud alerts, bulk delete.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 + Email/Firebase: duyệt/từ chối listing và thông báo.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Admin: danh sách, chi tiết, CRUD, hủy listing Buy Now.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dual cookie User / Admin.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Submit → confirming → Approve/Reject → live.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Deposit → Place Bid → SignalR / Fraud.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Finalize → Order → PayPal/COD.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Cart → Invoice 7 ngày → Thanh toán.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ER các entity chính.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Dual auth, verify listing, realtime, đa ngôn ngữ.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hội đồng, xin hỏi đáp.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38deeb4e9c2ddc.jp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16600edddcc1002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0c3d57ee15ef0e0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b1a34380f9fb1d.jp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8dff8553051aaa.jp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5a8cd2f45a59ab3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31cc2670fdda5af.jp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cf54e45f5dda66e.jp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94fe5f0ee7be91b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6d11390c4b9040c.jp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2095500" y="-1333500"/>
            <a:ext cx="15430500" cy="9144000"/>
            <a:chOff x="-2095500" y="-1333500"/>
            <a:chExt cx="1543050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144000" y="-1333500"/>
              <a:ext cx="4191000" cy="4191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095500" y="4381500"/>
              <a:ext cx="3429000" cy="3429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1143000"/>
            <a:ext cx="1600200" cy="346901"/>
            <a:chOff x="762000" y="1143000"/>
            <a:chExt cx="1600200" cy="346901"/>
          </a:xfrm>
        </p:grpSpPr>
        <p:sp>
          <p:nvSpPr>
            <p:cNvPr id="6" name="Rectangle 6"/>
            <p:cNvSpPr/>
            <p:nvPr/>
          </p:nvSpPr>
          <p:spPr>
            <a:xfrm>
              <a:off x="762000" y="114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7601" y="1225868"/>
              <a:ext cx="668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2950" y="1893570"/>
            <a:ext cx="4500631" cy="1706309"/>
            <a:chOff x="742950" y="1893570"/>
            <a:chExt cx="4500631" cy="1706309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1893570"/>
              <a:ext cx="443813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046" y="2677478"/>
              <a:ext cx="25298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RareCard Vault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094" y="3218498"/>
              <a:ext cx="44914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Nền tảng đấu giá thẻ bài trực tuyến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3618" y="3810000"/>
            <a:ext cx="4008882" cy="525589"/>
            <a:chOff x="753618" y="3810000"/>
            <a:chExt cx="4008882" cy="525589"/>
          </a:xfrm>
        </p:grpSpPr>
        <p:sp>
          <p:nvSpPr>
            <p:cNvPr id="13" name="Rectangle 13"/>
            <p:cNvSpPr/>
            <p:nvPr/>
          </p:nvSpPr>
          <p:spPr>
            <a:xfrm>
              <a:off x="762000" y="381000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3618" y="4012882"/>
              <a:ext cx="33058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Đồ án ASP.NET Core 8 · Nhóm 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2286000"/>
            <a:ext cx="2667000" cy="2667000"/>
            <a:chOff x="8572500" y="2286000"/>
            <a:chExt cx="2667000" cy="2667000"/>
          </a:xfrm>
        </p:grpSpPr>
        <p:sp>
          <p:nvSpPr>
            <p:cNvPr id="16" name="Rectangle 16"/>
            <p:cNvSpPr/>
            <p:nvPr/>
          </p:nvSpPr>
          <p:spPr>
            <a:xfrm>
              <a:off x="8572500" y="2286000"/>
              <a:ext cx="2667000" cy="2667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58250" y="257175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69445" y="2880360"/>
              <a:ext cx="10731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TCG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80127" y="4219575"/>
              <a:ext cx="1851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Auction &amp; Buy Now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93818" y="4510564"/>
              <a:ext cx="20243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Thẻ bài sưu tầm · Online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01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7162"/>
            <a:ext cx="4594174" cy="440055"/>
            <a:chOff x="457200" y="157162"/>
            <a:chExt cx="4594174" cy="440055"/>
          </a:xfrm>
        </p:grpSpPr>
        <p:sp>
          <p:nvSpPr>
            <p:cNvPr id="2" name="Rectangle 2"/>
            <p:cNvSpPr/>
            <p:nvPr/>
          </p:nvSpPr>
          <p:spPr>
            <a:xfrm>
              <a:off x="457200" y="17145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157162"/>
              <a:ext cx="11625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lục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899285" y="278606"/>
              <a:ext cx="31520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25 trang · 10 Use Case chi tiết · 5 Activity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381000" y="666750"/>
            <a:ext cx="2857500" cy="5524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66166" y="839152"/>
            <a:ext cx="83397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PHẦN CHUNG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5785" y="1164431"/>
            <a:ext cx="9452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01 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5785" y="1450181"/>
            <a:ext cx="7648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02 Mục lục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5785" y="1735931"/>
            <a:ext cx="9824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03 Thành viên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785" y="2021681"/>
            <a:ext cx="9376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04 Tổng quan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785" y="2307431"/>
            <a:ext cx="8473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05 Mục tiêu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5785" y="2593181"/>
            <a:ext cx="9376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06 Công nghệ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5785" y="2878931"/>
            <a:ext cx="14495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07 Phân bố thời gian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3410902"/>
            <a:ext cx="2694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KẾT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5785" y="3736181"/>
            <a:ext cx="8921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23 Database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5785" y="4021931"/>
            <a:ext cx="816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24 Kết luận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5785" y="4307681"/>
            <a:ext cx="975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25 Lời cảm ơn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429000" y="666750"/>
            <a:ext cx="4191000" cy="55245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614166" y="839152"/>
            <a:ext cx="14637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USE CASE (10 sơ đồ)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14166" y="1172528"/>
            <a:ext cx="18166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08 Manage Account (User)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14166" y="1458278"/>
            <a:ext cx="19407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09 Manage Personal Activity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14166" y="1744028"/>
            <a:ext cx="17212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10 Participate In Auction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14166" y="2029778"/>
            <a:ext cx="14277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11 Purchase Product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14166" y="2315528"/>
            <a:ext cx="16453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12 Manage Own Listings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14166" y="2696528"/>
            <a:ext cx="13429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13 Admin Dashboard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14166" y="2982278"/>
            <a:ext cx="21259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14 Manage Users &amp; Permissions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14166" y="3268028"/>
            <a:ext cx="13429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15 Manage Auctions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14166" y="3553778"/>
            <a:ext cx="12432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16 Verify Listings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14166" y="3839528"/>
            <a:ext cx="13008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17 Manage Buy Now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666750"/>
            <a:ext cx="4000500" cy="5524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995666" y="839152"/>
            <a:ext cx="6222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ACTIVITY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95285" y="1259681"/>
            <a:ext cx="9919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18 Act · Auth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95285" y="1640681"/>
            <a:ext cx="18793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19 Act · Đăng bán &amp; Duyệt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95285" y="2021681"/>
            <a:ext cx="15940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20 Act · Đăng ký &amp; Bid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5285" y="2402681"/>
            <a:ext cx="16397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21 Act · Kết thúc &amp; TT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95285" y="2783681"/>
            <a:ext cx="124038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22 Act · Buy Now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60985"/>
            <a:ext cx="6360466" cy="528066"/>
            <a:chOff x="457200" y="260985"/>
            <a:chExt cx="6360466" cy="528066"/>
          </a:xfrm>
        </p:grpSpPr>
        <p:sp>
          <p:nvSpPr>
            <p:cNvPr id="2" name="Rectangle 2"/>
            <p:cNvSpPr/>
            <p:nvPr/>
          </p:nvSpPr>
          <p:spPr>
            <a:xfrm>
              <a:off x="457200" y="2667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2084" y="260985"/>
              <a:ext cx="37793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Giới thiệu thành viên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46142" y="406718"/>
              <a:ext cx="18715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047750"/>
            <a:ext cx="3619500" cy="1905000"/>
            <a:chOff x="457200" y="1047750"/>
            <a:chExt cx="3619500" cy="1905000"/>
          </a:xfrm>
        </p:grpSpPr>
        <p:sp>
          <p:nvSpPr>
            <p:cNvPr id="6" name="Rectangle 6"/>
            <p:cNvSpPr/>
            <p:nvPr/>
          </p:nvSpPr>
          <p:spPr>
            <a:xfrm>
              <a:off x="45720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3812">
              <a:solidFill>
                <a:srgbClr val="1D4ED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47750"/>
              <a:ext cx="3619500" cy="457200"/>
            </a:xfrm>
            <a:prstGeom prst="roundRect">
              <a:avLst>
                <a:gd name="adj" fmla="val 33333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276350"/>
              <a:ext cx="3619500" cy="228600"/>
            </a:xfrm>
            <a:prstGeom prst="rect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23187" y="125158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00100" y="18478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1189" y="2121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58493" y="1965008"/>
              <a:ext cx="17888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Giang Hà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0779" y="2299335"/>
              <a:ext cx="986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286250" y="1047750"/>
            <a:ext cx="3619500" cy="1905000"/>
            <a:chOff x="4286250" y="1047750"/>
            <a:chExt cx="3619500" cy="1905000"/>
          </a:xfrm>
        </p:grpSpPr>
        <p:sp>
          <p:nvSpPr>
            <p:cNvPr id="15" name="Rectangle 15"/>
            <p:cNvSpPr/>
            <p:nvPr/>
          </p:nvSpPr>
          <p:spPr>
            <a:xfrm>
              <a:off x="428625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629150" y="16573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60239" y="19307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16118" y="1774508"/>
              <a:ext cx="1847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Văn Hưng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18404" y="210883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15300" y="1047750"/>
            <a:ext cx="3619500" cy="1905000"/>
            <a:chOff x="8115300" y="1047750"/>
            <a:chExt cx="36195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811530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458200" y="16573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89289" y="19307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45168" y="1774508"/>
              <a:ext cx="13450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Đinh Văn Hải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47454" y="210883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7200" y="3238500"/>
            <a:ext cx="3619500" cy="1905000"/>
            <a:chOff x="457200" y="3238500"/>
            <a:chExt cx="36195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45720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0010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118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58493" y="3965258"/>
              <a:ext cx="157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60779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86250" y="3238500"/>
            <a:ext cx="3619500" cy="1905000"/>
            <a:chOff x="4286250" y="3238500"/>
            <a:chExt cx="3619500" cy="1905000"/>
          </a:xfrm>
        </p:grpSpPr>
        <p:sp>
          <p:nvSpPr>
            <p:cNvPr id="33" name="Rectangle 33"/>
            <p:cNvSpPr/>
            <p:nvPr/>
          </p:nvSpPr>
          <p:spPr>
            <a:xfrm>
              <a:off x="428625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62915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6023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16118" y="3965258"/>
              <a:ext cx="1895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18404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15300" y="3238500"/>
            <a:ext cx="3619500" cy="1905000"/>
            <a:chOff x="8115300" y="3238500"/>
            <a:chExt cx="3619500" cy="1905000"/>
          </a:xfrm>
        </p:grpSpPr>
        <p:sp>
          <p:nvSpPr>
            <p:cNvPr id="39" name="Rectangle 39"/>
            <p:cNvSpPr/>
            <p:nvPr/>
          </p:nvSpPr>
          <p:spPr>
            <a:xfrm>
              <a:off x="811530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45820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8928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45168" y="3965258"/>
              <a:ext cx="17872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Danil Famil Long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47454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943068" cy="692659"/>
            <a:chOff x="457200" y="378142"/>
            <a:chExt cx="3943068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7289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 quan hệ thống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06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Đấu giá &amp; Buy Now · thẻ bài sưu tầm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238250"/>
            <a:ext cx="5524500" cy="1333500"/>
            <a:chOff x="457200" y="1238250"/>
            <a:chExt cx="55245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4756" y="1472565"/>
              <a:ext cx="21612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Đấu giá (Auction)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6661" y="1846421"/>
              <a:ext cx="4919726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Seller đăng listing → Admin duyệt → Buyer đăng ký &amp; cọc → Bid realtime (SignalR) → Kết thúc → Order &amp; thanh toán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10300" y="1238250"/>
            <a:ext cx="5524500" cy="1333500"/>
            <a:chOff x="6210300" y="1238250"/>
            <a:chExt cx="55245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2103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67856" y="1472565"/>
              <a:ext cx="24798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Mua ngay (Buy Now)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9761" y="1846421"/>
              <a:ext cx="4622165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Thêm vào giỏ → Tạo hóa đơn → Thanh toán PayPal / COD Hạn thanh toán 7 ngày · Watchlist &amp; thông báo hỗ trợ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7200" y="2857500"/>
            <a:ext cx="11049000" cy="952500"/>
            <a:chOff x="457200" y="2857500"/>
            <a:chExt cx="11049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457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0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7280" y="3228975"/>
              <a:ext cx="902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Đăng bán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66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43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14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26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83280" y="3228975"/>
              <a:ext cx="1241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Admin duyệt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2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200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12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9280" y="3228975"/>
              <a:ext cx="1389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Đăng ký + Cọc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8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15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486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98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55280" y="3228975"/>
              <a:ext cx="1335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Đặt giá (Bid)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4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01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772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84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41280" y="322897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4381500"/>
            <a:ext cx="11277600" cy="1524000"/>
            <a:chOff x="457200" y="4381500"/>
            <a:chExt cx="112776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457200" y="4381500"/>
              <a:ext cx="11277600" cy="1524000"/>
            </a:xfrm>
            <a:prstGeom prst="roundRect">
              <a:avLst>
                <a:gd name="adj" fmla="val 1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3618" y="4632008"/>
              <a:ext cx="1821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Hỗ trợ kèm theo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4761" y="5037296"/>
              <a:ext cx="5280406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Watchlist · Thông báo realtime / push · Khiếu nại &amp; hoàn tiền Đa ngôn ngữ (vi / en / ja / ko) · Khu vực Admin riêng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352866" cy="692659"/>
            <a:chOff x="457200" y="378142"/>
            <a:chExt cx="3352866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294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31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1694" y="1551622"/>
              <a:ext cx="27029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24075"/>
              <a:ext cx="3977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0994" y="1551622"/>
              <a:ext cx="28959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9880" y="212407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1694" y="3932872"/>
              <a:ext cx="22344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5053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94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0994" y="3932872"/>
              <a:ext cx="30055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450532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2967942" cy="692659"/>
            <a:chOff x="457200" y="378142"/>
            <a:chExt cx="2967942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193574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Công nghệ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746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Stack kỹ thuật chính của dự án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7200" y="1143000"/>
            <a:ext cx="11277600" cy="4762500"/>
            <a:chOff x="457200" y="1143000"/>
            <a:chExt cx="1127760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143000"/>
              <a:ext cx="112776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43000"/>
              <a:ext cx="11277600" cy="533400"/>
            </a:xfrm>
            <a:prstGeom prst="roundRect">
              <a:avLst>
                <a:gd name="adj" fmla="val 2857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09700"/>
              <a:ext cx="11277600" cy="2667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4380" y="1323975"/>
              <a:ext cx="531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0380" y="1323975"/>
              <a:ext cx="18545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Công nghệ / Stack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4380" y="164782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Backend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0380" y="1647825"/>
              <a:ext cx="3995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ASP.NET Core 8 MVC · EF Core · Identity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4380" y="2143125"/>
              <a:ext cx="954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0380" y="2143125"/>
              <a:ext cx="39107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MySQL (Pomelo) · SQL Server / SQLite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380" y="2638425"/>
              <a:ext cx="488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Auth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0380" y="2638425"/>
              <a:ext cx="3287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Dual cookie: User / Admin session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30289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4380" y="313372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0380" y="3133725"/>
              <a:ext cx="2118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PayPal Sandbox · COD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4380" y="3629025"/>
              <a:ext cx="890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0380" y="3629025"/>
              <a:ext cx="2237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SignalR · Firebase FCM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195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4380" y="4124325"/>
              <a:ext cx="1060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Messaging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40380" y="4124325"/>
              <a:ext cx="953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RabbitMQ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380" y="4619625"/>
              <a:ext cx="594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Media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0380" y="4619625"/>
              <a:ext cx="1030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Cloudinary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50101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4380" y="5114925"/>
              <a:ext cx="954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Frontend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0380" y="5114925"/>
              <a:ext cx="30806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Razor · Tailwind CSS 4 · jQuery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519359" cy="692659"/>
            <a:chOff x="457200" y="378142"/>
            <a:chExt cx="351935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3052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Phân bố thời gian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100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Sáu giai đoạn phát triển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49580" y="1362075"/>
            <a:ext cx="7475039" cy="3721703"/>
            <a:chOff x="449580" y="1362075"/>
            <a:chExt cx="7475039" cy="3721703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4382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1362075"/>
              <a:ext cx="1846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Phân tích yêu cầu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6023" y="1595914"/>
              <a:ext cx="1665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 Case, DB design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000500" y="14097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59880" y="14573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9580" y="20859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880" y="2009775"/>
              <a:ext cx="1314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Auth &amp; Admin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023" y="2243614"/>
              <a:ext cx="17930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Identity dual-session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00500" y="20574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7130" y="21050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9580" y="27336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2657475"/>
              <a:ext cx="1343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Listing &amp; Sell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891314"/>
              <a:ext cx="1411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Verify, Sell flow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00500" y="27051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17130" y="27527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580" y="33813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05175"/>
              <a:ext cx="1251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Bid 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539014"/>
              <a:ext cx="2069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Đăng ký/cọc, anti-fraud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00500" y="33528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7130" y="34004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9580" y="40290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3952875"/>
              <a:ext cx="1251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Order &amp; Pay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186714"/>
              <a:ext cx="1364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PayPal, Buy Now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00500" y="40005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40481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9580" y="46767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4880" y="4600575"/>
              <a:ext cx="1376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Polish &amp;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023" y="4834414"/>
              <a:ext cx="1434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i18n, smoke test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00500" y="4648200"/>
              <a:ext cx="17145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2630" y="46958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5334000"/>
            <a:ext cx="11277600" cy="762000"/>
            <a:chOff x="457200" y="5334000"/>
            <a:chExt cx="11277600" cy="762000"/>
          </a:xfrm>
        </p:grpSpPr>
        <p:sp>
          <p:nvSpPr>
            <p:cNvPr id="37" name="Rectangle 37"/>
            <p:cNvSpPr/>
            <p:nvPr/>
          </p:nvSpPr>
          <p:spPr>
            <a:xfrm>
              <a:off x="457200" y="5334000"/>
              <a:ext cx="11277600" cy="762000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142" y="5521642"/>
              <a:ext cx="1288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142" y="5759768"/>
              <a:ext cx="8404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Tỷ lệ gợi ý cho thuyết trình — không có Gantt chính thức trong repository; cần nhóm xác nhận.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848381" cy="530161"/>
            <a:chOff x="457200" y="152400"/>
            <a:chExt cx="3848381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6296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Account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83381" y="781050"/>
              <a:ext cx="7825238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08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095268" cy="530161"/>
            <a:chOff x="457200" y="152400"/>
            <a:chExt cx="5095268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8765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Personal Activity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1879" y="781050"/>
              <a:ext cx="8468242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09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667033" cy="530161"/>
            <a:chOff x="457200" y="152400"/>
            <a:chExt cx="4667033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448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Participate In Auction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073" y="781050"/>
              <a:ext cx="944985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095332" cy="530161"/>
            <a:chOff x="457200" y="152400"/>
            <a:chExt cx="4095332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8766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Purchase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545" y="781050"/>
              <a:ext cx="8866909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519389" cy="530161"/>
            <a:chOff x="457200" y="152400"/>
            <a:chExt cx="45193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300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Own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200" y="781050"/>
              <a:ext cx="860160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Admin Dashboard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2358" y="781050"/>
              <a:ext cx="966728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13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457089" cy="530161"/>
            <a:chOff x="457200" y="152400"/>
            <a:chExt cx="54570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52383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Users &amp; Permissions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850069"/>
              <a:ext cx="10858500" cy="5195962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Auctions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6833" y="781050"/>
              <a:ext cx="823833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15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735014" cy="530161"/>
            <a:chOff x="457200" y="152400"/>
            <a:chExt cx="3735014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5163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Verify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327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Email/Firebase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624161"/>
              <a:ext cx="10858500" cy="3647777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847155" cy="530161"/>
            <a:chOff x="457200" y="152400"/>
            <a:chExt cx="3847155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6284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Buy Now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765" y="781050"/>
              <a:ext cx="10040471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887202" cy="568928"/>
            <a:chOff x="457200" y="228600"/>
            <a:chExt cx="4887202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6700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Đăng ký / Đăng nhập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3770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1/5 · Dual cookie: User vs Admin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172934" y="948214"/>
            <a:ext cx="416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User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674660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66753" y="948214"/>
            <a:ext cx="5069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42875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6192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838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9145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753949" y="2023110"/>
            <a:ext cx="12546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ký / Login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295525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600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Polygon 22"/>
          <p:cNvSpPr/>
          <p:nvPr/>
        </p:nvSpPr>
        <p:spPr>
          <a:xfrm>
            <a:off x="2076450" y="26765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196727" y="2906078"/>
            <a:ext cx="3690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Loại?</a:t>
            </a:r>
          </a:p>
        </p:txBody>
      </p:sp>
      <p:sp>
        <p:nvSpPr>
          <p:cNvPr id="24" name="Line 24"/>
          <p:cNvSpPr/>
          <p:nvPr/>
        </p:nvSpPr>
        <p:spPr>
          <a:xfrm>
            <a:off x="2686050" y="2981325"/>
            <a:ext cx="2266950" cy="9525"/>
          </a:xfrm>
          <a:custGeom>
            <a:avLst/>
            <a:gdLst/>
            <a:ahLst/>
            <a:cxnLst/>
            <a:rect l="l" t="t" r="r" b="b"/>
            <a:pathLst>
              <a:path w="2266950" h="9525">
                <a:moveTo>
                  <a:pt x="0" y="0"/>
                </a:moveTo>
                <a:lnTo>
                  <a:pt x="22669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933950" y="29432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423666" y="2791778"/>
            <a:ext cx="3260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User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953000" y="279082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211943" y="2899410"/>
            <a:ext cx="15776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Validate credential</a:t>
            </a:r>
          </a:p>
        </p:txBody>
      </p:sp>
      <p:sp>
        <p:nvSpPr>
          <p:cNvPr id="29" name="Line 29"/>
          <p:cNvSpPr/>
          <p:nvPr/>
        </p:nvSpPr>
        <p:spPr>
          <a:xfrm>
            <a:off x="6000750" y="3171825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5962650" y="35528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4953000" y="362902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353035" y="3737610"/>
            <a:ext cx="12954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Set User cookie</a:t>
            </a:r>
          </a:p>
        </p:txBody>
      </p:sp>
      <p:sp>
        <p:nvSpPr>
          <p:cNvPr id="33" name="Line 33"/>
          <p:cNvSpPr/>
          <p:nvPr/>
        </p:nvSpPr>
        <p:spPr>
          <a:xfrm>
            <a:off x="6000750" y="4010025"/>
            <a:ext cx="9525" cy="466725"/>
          </a:xfrm>
          <a:custGeom>
            <a:avLst/>
            <a:gdLst/>
            <a:ahLst/>
            <a:cxnLst/>
            <a:rect l="l" t="t" r="r" b="b"/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5962650" y="445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4953000" y="45339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166513" y="4642485"/>
            <a:ext cx="16684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Redirect trang User</a:t>
            </a:r>
          </a:p>
        </p:txBody>
      </p:sp>
      <p:sp>
        <p:nvSpPr>
          <p:cNvPr id="37" name="Line 37"/>
          <p:cNvSpPr/>
          <p:nvPr/>
        </p:nvSpPr>
        <p:spPr>
          <a:xfrm>
            <a:off x="6000750" y="4914900"/>
            <a:ext cx="9525" cy="561975"/>
          </a:xfrm>
          <a:custGeom>
            <a:avLst/>
            <a:gdLst/>
            <a:ahLst/>
            <a:cxnLst/>
            <a:rect l="l" t="t" r="r" b="b"/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5886450" y="5553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5943600" y="5610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2381250" y="3286125"/>
            <a:ext cx="6191250" cy="523875"/>
          </a:xfrm>
          <a:custGeom>
            <a:avLst/>
            <a:gdLst/>
            <a:ahLst/>
            <a:cxnLst/>
            <a:rect l="l" t="t" r="r" b="b"/>
            <a:pathLst>
              <a:path w="6191250" h="523875">
                <a:moveTo>
                  <a:pt x="0" y="0"/>
                </a:moveTo>
                <a:lnTo>
                  <a:pt x="0" y="523875"/>
                </a:lnTo>
                <a:lnTo>
                  <a:pt x="6191250" y="5238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1" name="Polygon 41"/>
          <p:cNvSpPr/>
          <p:nvPr/>
        </p:nvSpPr>
        <p:spPr>
          <a:xfrm>
            <a:off x="8553450" y="3771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661666" y="3553778"/>
            <a:ext cx="3966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572500" y="36195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095241" y="3728085"/>
            <a:ext cx="10500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Login /Admin</a:t>
            </a:r>
          </a:p>
        </p:txBody>
      </p:sp>
      <p:sp>
        <p:nvSpPr>
          <p:cNvPr id="45" name="Line 45"/>
          <p:cNvSpPr/>
          <p:nvPr/>
        </p:nvSpPr>
        <p:spPr>
          <a:xfrm>
            <a:off x="9620250" y="40005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582150" y="445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572500" y="45339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930183" y="4642485"/>
            <a:ext cx="13801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Set Admin cookie</a:t>
            </a:r>
          </a:p>
        </p:txBody>
      </p:sp>
      <p:sp>
        <p:nvSpPr>
          <p:cNvPr id="49" name="Line 49"/>
          <p:cNvSpPr/>
          <p:nvPr/>
        </p:nvSpPr>
        <p:spPr>
          <a:xfrm>
            <a:off x="9620250" y="4914900"/>
            <a:ext cx="9525" cy="561975"/>
          </a:xfrm>
          <a:custGeom>
            <a:avLst/>
            <a:gdLst/>
            <a:ahLst/>
            <a:cxnLst/>
            <a:rect l="l" t="t" r="r" b="b"/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9505950" y="5553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9563100" y="5610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1428750" y="4953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910086" y="5098256"/>
            <a:ext cx="9423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Dual session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842316" y="5315902"/>
            <a:ext cx="10778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2 cookie độc lập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18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520690" cy="568928"/>
            <a:chOff x="457200" y="228600"/>
            <a:chExt cx="5520690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53035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Đăng bán &amp; Duyệt listing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435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2/5 · confirming → Approve/Reject → live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19082" y="948214"/>
            <a:ext cx="5243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Seller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747253" y="948214"/>
            <a:ext cx="5069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294160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762125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758757" y="1880235"/>
            <a:ext cx="1244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Điền form /Sell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1621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40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428750" y="2476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808708" y="2594610"/>
            <a:ext cx="11450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Submit listing</a:t>
            </a:r>
          </a:p>
        </p:txBody>
      </p:sp>
      <p:sp>
        <p:nvSpPr>
          <p:cNvPr id="24" name="Line 24"/>
          <p:cNvSpPr/>
          <p:nvPr/>
        </p:nvSpPr>
        <p:spPr>
          <a:xfrm>
            <a:off x="3333750" y="2676525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686300" y="2638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762500" y="247650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843082" y="2594610"/>
            <a:ext cx="1934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Nhận status confirming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2876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772150" y="3257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0" y="333375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190637" y="3451860"/>
            <a:ext cx="12392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Duyệt hàng chờ</a:t>
            </a:r>
          </a:p>
        </p:txBody>
      </p:sp>
      <p:sp>
        <p:nvSpPr>
          <p:cNvPr id="32" name="Line 32"/>
          <p:cNvSpPr/>
          <p:nvPr/>
        </p:nvSpPr>
        <p:spPr>
          <a:xfrm>
            <a:off x="5810250" y="37338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772150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4" name="Polygon 34"/>
          <p:cNvSpPr/>
          <p:nvPr/>
        </p:nvSpPr>
        <p:spPr>
          <a:xfrm>
            <a:off x="5505450" y="4171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66765" y="4401502"/>
            <a:ext cx="2869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OK?</a:t>
            </a:r>
          </a:p>
        </p:txBody>
      </p:sp>
      <p:sp>
        <p:nvSpPr>
          <p:cNvPr id="36" name="Freeform 36"/>
          <p:cNvSpPr/>
          <p:nvPr/>
        </p:nvSpPr>
        <p:spPr>
          <a:xfrm>
            <a:off x="2857500" y="3619500"/>
            <a:ext cx="2647950" cy="857250"/>
          </a:xfrm>
          <a:custGeom>
            <a:avLst/>
            <a:gdLst/>
            <a:ahLst/>
            <a:cxnLst/>
            <a:rect l="l" t="t" r="r" b="b"/>
            <a:pathLst>
              <a:path w="2647950" h="857250">
                <a:moveTo>
                  <a:pt x="2647950" y="857250"/>
                </a:moveTo>
                <a:lnTo>
                  <a:pt x="0" y="857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2819400" y="3543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233166" y="4268152"/>
            <a:ext cx="4458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Reject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428750" y="333375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659865" y="3451860"/>
            <a:ext cx="14427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Nhận lý do từ chối</a:t>
            </a:r>
          </a:p>
        </p:txBody>
      </p:sp>
      <p:sp>
        <p:nvSpPr>
          <p:cNvPr id="41" name="Freeform 41"/>
          <p:cNvSpPr/>
          <p:nvPr/>
        </p:nvSpPr>
        <p:spPr>
          <a:xfrm>
            <a:off x="2381250" y="3048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000000"/>
            </a:solidFill>
            <a:custDash>
              <a:ds d="333333" sp="250000"/>
            </a:custDash>
          </a:ln>
        </p:spPr>
      </p:sp>
      <p:sp>
        <p:nvSpPr>
          <p:cNvPr id="42" name="TextBox 42"/>
          <p:cNvSpPr txBox="1"/>
          <p:nvPr/>
        </p:nvSpPr>
        <p:spPr>
          <a:xfrm>
            <a:off x="947166" y="3029902"/>
            <a:ext cx="8143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Sửa &amp; gửi lại</a:t>
            </a:r>
          </a:p>
        </p:txBody>
      </p:sp>
      <p:sp>
        <p:nvSpPr>
          <p:cNvPr id="43" name="Line 43"/>
          <p:cNvSpPr/>
          <p:nvPr/>
        </p:nvSpPr>
        <p:spPr>
          <a:xfrm>
            <a:off x="5810250" y="478155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5772150" y="5114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995416" y="4934902"/>
            <a:ext cx="5592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762500" y="5191125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474993" y="5309235"/>
            <a:ext cx="6705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8" name="Line 48"/>
          <p:cNvSpPr/>
          <p:nvPr/>
        </p:nvSpPr>
        <p:spPr>
          <a:xfrm>
            <a:off x="6858000" y="5391150"/>
            <a:ext cx="1447800" cy="9525"/>
          </a:xfrm>
          <a:custGeom>
            <a:avLst/>
            <a:gdLst/>
            <a:ahLst/>
            <a:cxnLst/>
            <a:rect l="l" t="t" r="r" b="b"/>
            <a:pathLst>
              <a:path w="1447800" h="9525">
                <a:moveTo>
                  <a:pt x="0" y="0"/>
                </a:moveTo>
                <a:lnTo>
                  <a:pt x="144780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9" name="Polygon 49"/>
          <p:cNvSpPr/>
          <p:nvPr/>
        </p:nvSpPr>
        <p:spPr>
          <a:xfrm>
            <a:off x="8305800" y="5353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382000" y="5191125"/>
            <a:ext cx="2476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973834" y="5309235"/>
            <a:ext cx="12928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scheduled / live</a:t>
            </a:r>
          </a:p>
        </p:txBody>
      </p:sp>
      <p:sp>
        <p:nvSpPr>
          <p:cNvPr id="52" name="Line 52"/>
          <p:cNvSpPr/>
          <p:nvPr/>
        </p:nvSpPr>
        <p:spPr>
          <a:xfrm>
            <a:off x="9620250" y="55911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9582150" y="5829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9505950" y="5981700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9563100" y="6038850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58" name="Group 58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19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997790" cy="568928"/>
            <a:chOff x="457200" y="228600"/>
            <a:chExt cx="4997790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7806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Đăng ký đấu giá &amp;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526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3/5 · Deposit → Bid → SignalR / Anti-fraud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94554" y="948214"/>
            <a:ext cx="5161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333375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33375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339054" y="948214"/>
            <a:ext cx="751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0960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51035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58250" y="857250"/>
            <a:ext cx="25717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858250" y="857250"/>
            <a:ext cx="25717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764119" y="948214"/>
            <a:ext cx="7600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Realtime</a:t>
            </a:r>
          </a:p>
        </p:txBody>
      </p:sp>
      <p:sp>
        <p:nvSpPr>
          <p:cNvPr id="18" name="Ellipse 18"/>
          <p:cNvSpPr/>
          <p:nvPr/>
        </p:nvSpPr>
        <p:spPr>
          <a:xfrm>
            <a:off x="1857375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952625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1914525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00125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350270" y="1870710"/>
            <a:ext cx="12047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Chọn phiên live</a:t>
            </a:r>
          </a:p>
        </p:txBody>
      </p:sp>
      <p:sp>
        <p:nvSpPr>
          <p:cNvPr id="23" name="Line 23"/>
          <p:cNvSpPr/>
          <p:nvPr/>
        </p:nvSpPr>
        <p:spPr>
          <a:xfrm>
            <a:off x="1952625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914525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0125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328752" y="2537460"/>
            <a:ext cx="12477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ký đấu giá</a:t>
            </a:r>
          </a:p>
        </p:txBody>
      </p:sp>
      <p:sp>
        <p:nvSpPr>
          <p:cNvPr id="27" name="Line 27"/>
          <p:cNvSpPr/>
          <p:nvPr/>
        </p:nvSpPr>
        <p:spPr>
          <a:xfrm>
            <a:off x="2905125" y="2619375"/>
            <a:ext cx="828675" cy="9525"/>
          </a:xfrm>
          <a:custGeom>
            <a:avLst/>
            <a:gdLst/>
            <a:ahLst/>
            <a:cxnLst/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3733800" y="2581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810000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111251" y="2537460"/>
            <a:ext cx="13024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Initiate Deposit</a:t>
            </a:r>
          </a:p>
        </p:txBody>
      </p:sp>
      <p:sp>
        <p:nvSpPr>
          <p:cNvPr id="31" name="Line 31"/>
          <p:cNvSpPr/>
          <p:nvPr/>
        </p:nvSpPr>
        <p:spPr>
          <a:xfrm>
            <a:off x="4762500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472440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0" y="32385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972151" y="3347085"/>
            <a:ext cx="158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PayPal Capture cọc</a:t>
            </a:r>
          </a:p>
        </p:txBody>
      </p:sp>
      <p:sp>
        <p:nvSpPr>
          <p:cNvPr id="35" name="Line 35"/>
          <p:cNvSpPr/>
          <p:nvPr/>
        </p:nvSpPr>
        <p:spPr>
          <a:xfrm>
            <a:off x="5715000" y="342900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6591300" y="339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667500" y="32385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695357" y="3347085"/>
            <a:ext cx="18492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Registration approved</a:t>
            </a:r>
          </a:p>
        </p:txBody>
      </p:sp>
      <p:sp>
        <p:nvSpPr>
          <p:cNvPr id="39" name="Line 39"/>
          <p:cNvSpPr/>
          <p:nvPr/>
        </p:nvSpPr>
        <p:spPr>
          <a:xfrm>
            <a:off x="1952625" y="2809875"/>
            <a:ext cx="9525" cy="923925"/>
          </a:xfrm>
          <a:custGeom>
            <a:avLst/>
            <a:gdLst/>
            <a:ahLst/>
            <a:cxnLst/>
            <a:rect l="l" t="t" r="r" b="b"/>
            <a:pathLst>
              <a:path w="9525" h="923925">
                <a:moveTo>
                  <a:pt x="0" y="0"/>
                </a:moveTo>
                <a:lnTo>
                  <a:pt x="0" y="923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1914525" y="3733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1000125" y="3810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4288">
            <a:solidFill>
              <a:srgbClr val="00000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560820" y="3910489"/>
            <a:ext cx="7836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Place Bid</a:t>
            </a:r>
          </a:p>
        </p:txBody>
      </p:sp>
      <p:sp>
        <p:nvSpPr>
          <p:cNvPr id="43" name="Line 43"/>
          <p:cNvSpPr/>
          <p:nvPr/>
        </p:nvSpPr>
        <p:spPr>
          <a:xfrm>
            <a:off x="2905125" y="4000500"/>
            <a:ext cx="3686175" cy="9525"/>
          </a:xfrm>
          <a:custGeom>
            <a:avLst/>
            <a:gdLst/>
            <a:ahLst/>
            <a:cxnLst/>
            <a:rect l="l" t="t" r="r" b="b"/>
            <a:pathLst>
              <a:path w="3686175" h="9525">
                <a:moveTo>
                  <a:pt x="0" y="0"/>
                </a:moveTo>
                <a:lnTo>
                  <a:pt x="3686175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591300" y="3962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667500" y="3810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805353" y="3918585"/>
            <a:ext cx="16292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Validate bid + fraud</a:t>
            </a:r>
          </a:p>
        </p:txBody>
      </p:sp>
      <p:sp>
        <p:nvSpPr>
          <p:cNvPr id="47" name="Line 47"/>
          <p:cNvSpPr/>
          <p:nvPr/>
        </p:nvSpPr>
        <p:spPr>
          <a:xfrm>
            <a:off x="7620000" y="41910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7581900" y="4591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9" name="Polygon 49"/>
          <p:cNvSpPr/>
          <p:nvPr/>
        </p:nvSpPr>
        <p:spPr>
          <a:xfrm>
            <a:off x="7334250" y="4762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375223" y="4973002"/>
            <a:ext cx="4895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Hợp lệ?</a:t>
            </a:r>
          </a:p>
        </p:txBody>
      </p:sp>
      <p:sp>
        <p:nvSpPr>
          <p:cNvPr id="51" name="Freeform 51"/>
          <p:cNvSpPr/>
          <p:nvPr/>
        </p:nvSpPr>
        <p:spPr>
          <a:xfrm>
            <a:off x="4762500" y="4191000"/>
            <a:ext cx="2571750" cy="857250"/>
          </a:xfrm>
          <a:custGeom>
            <a:avLst/>
            <a:gdLst/>
            <a:ahLst/>
            <a:cxnLst/>
            <a:rect l="l" t="t" r="r" b="b"/>
            <a:pathLst>
              <a:path w="2571750" h="857250">
                <a:moveTo>
                  <a:pt x="2571750" y="857250"/>
                </a:moveTo>
                <a:lnTo>
                  <a:pt x="0" y="857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947666" y="4839652"/>
            <a:ext cx="4886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Từ chối</a:t>
            </a:r>
          </a:p>
        </p:txBody>
      </p:sp>
      <p:sp>
        <p:nvSpPr>
          <p:cNvPr id="53" name="Line 53"/>
          <p:cNvSpPr/>
          <p:nvPr/>
        </p:nvSpPr>
        <p:spPr>
          <a:xfrm>
            <a:off x="7905750" y="504825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4" name="Polygon 54"/>
          <p:cNvSpPr/>
          <p:nvPr/>
        </p:nvSpPr>
        <p:spPr>
          <a:xfrm>
            <a:off x="9258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186166" y="4839652"/>
            <a:ext cx="2048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OK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334500" y="4857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520749" y="4966335"/>
            <a:ext cx="15325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SignalR đẩy giá mới</a:t>
            </a:r>
          </a:p>
        </p:txBody>
      </p:sp>
      <p:sp>
        <p:nvSpPr>
          <p:cNvPr id="58" name="Line 58"/>
          <p:cNvSpPr/>
          <p:nvPr/>
        </p:nvSpPr>
        <p:spPr>
          <a:xfrm>
            <a:off x="10287000" y="523875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9" name="Polygon 59"/>
          <p:cNvSpPr/>
          <p:nvPr/>
        </p:nvSpPr>
        <p:spPr>
          <a:xfrm>
            <a:off x="10248900" y="5638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9334500" y="5715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9429598" y="5823585"/>
            <a:ext cx="17148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Anti-snipe (nếu cần)</a:t>
            </a:r>
          </a:p>
        </p:txBody>
      </p:sp>
      <p:sp>
        <p:nvSpPr>
          <p:cNvPr id="62" name="Line 62"/>
          <p:cNvSpPr/>
          <p:nvPr/>
        </p:nvSpPr>
        <p:spPr>
          <a:xfrm>
            <a:off x="10287000" y="60960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63" name="Polygon 63"/>
          <p:cNvSpPr/>
          <p:nvPr/>
        </p:nvSpPr>
        <p:spPr>
          <a:xfrm>
            <a:off x="10248900" y="621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10172700" y="6315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65" name="Ellipse 65"/>
          <p:cNvSpPr/>
          <p:nvPr/>
        </p:nvSpPr>
        <p:spPr>
          <a:xfrm>
            <a:off x="10229850" y="6372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20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6126228" cy="568928"/>
            <a:chOff x="457200" y="228600"/>
            <a:chExt cx="6126228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590905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Kết thúc phiên &amp; Thanh toán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158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4/5 · Worker → Order → PayPal / COD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26535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9" name="Rectangle 9"/>
          <p:cNvSpPr/>
          <p:nvPr/>
        </p:nvSpPr>
        <p:spPr>
          <a:xfrm>
            <a:off x="333375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33375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456804" y="948214"/>
            <a:ext cx="5161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0960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01304" y="948214"/>
            <a:ext cx="751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58250" y="857250"/>
            <a:ext cx="25717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858250" y="857250"/>
            <a:ext cx="25717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08903" y="948214"/>
            <a:ext cx="6704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Kết quả</a:t>
            </a:r>
          </a:p>
        </p:txBody>
      </p:sp>
      <p:sp>
        <p:nvSpPr>
          <p:cNvPr id="18" name="Ellipse 18"/>
          <p:cNvSpPr/>
          <p:nvPr/>
        </p:nvSpPr>
        <p:spPr>
          <a:xfrm>
            <a:off x="1857375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952625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1914525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00125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422260" y="1870710"/>
            <a:ext cx="10607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Phiên hết giờ</a:t>
            </a:r>
          </a:p>
        </p:txBody>
      </p:sp>
      <p:sp>
        <p:nvSpPr>
          <p:cNvPr id="23" name="Line 23"/>
          <p:cNvSpPr/>
          <p:nvPr/>
        </p:nvSpPr>
        <p:spPr>
          <a:xfrm>
            <a:off x="1952625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914525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0125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44295" y="2537460"/>
            <a:ext cx="16166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Finalization Worker</a:t>
            </a:r>
          </a:p>
        </p:txBody>
      </p:sp>
      <p:sp>
        <p:nvSpPr>
          <p:cNvPr id="27" name="Line 27"/>
          <p:cNvSpPr/>
          <p:nvPr/>
        </p:nvSpPr>
        <p:spPr>
          <a:xfrm>
            <a:off x="1952625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1914525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000125" y="3238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12012" y="3356610"/>
            <a:ext cx="18812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Order auction_win</a:t>
            </a:r>
          </a:p>
        </p:txBody>
      </p:sp>
      <p:sp>
        <p:nvSpPr>
          <p:cNvPr id="31" name="Line 31"/>
          <p:cNvSpPr/>
          <p:nvPr/>
        </p:nvSpPr>
        <p:spPr>
          <a:xfrm>
            <a:off x="2905125" y="3438525"/>
            <a:ext cx="828675" cy="9525"/>
          </a:xfrm>
          <a:custGeom>
            <a:avLst/>
            <a:gdLst/>
            <a:ahLst/>
            <a:cxnLst/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3733800" y="3400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0" y="3238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096260" y="3356610"/>
            <a:ext cx="13324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Thông báo thắng</a:t>
            </a:r>
          </a:p>
        </p:txBody>
      </p:sp>
      <p:sp>
        <p:nvSpPr>
          <p:cNvPr id="35" name="Line 35"/>
          <p:cNvSpPr/>
          <p:nvPr/>
        </p:nvSpPr>
        <p:spPr>
          <a:xfrm>
            <a:off x="4762500" y="3638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4724400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810000" y="4095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316875" y="4204335"/>
            <a:ext cx="8912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Mở /Order</a:t>
            </a:r>
          </a:p>
        </p:txBody>
      </p:sp>
      <p:sp>
        <p:nvSpPr>
          <p:cNvPr id="39" name="Line 39"/>
          <p:cNvSpPr/>
          <p:nvPr/>
        </p:nvSpPr>
        <p:spPr>
          <a:xfrm>
            <a:off x="4762500" y="44767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4724400" y="4781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3810000" y="4857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211056" y="4966335"/>
            <a:ext cx="11028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Chọn shipping</a:t>
            </a:r>
          </a:p>
        </p:txBody>
      </p:sp>
      <p:sp>
        <p:nvSpPr>
          <p:cNvPr id="43" name="Line 43"/>
          <p:cNvSpPr/>
          <p:nvPr/>
        </p:nvSpPr>
        <p:spPr>
          <a:xfrm>
            <a:off x="5715000" y="504825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591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" name="Polygon 45"/>
          <p:cNvSpPr/>
          <p:nvPr/>
        </p:nvSpPr>
        <p:spPr>
          <a:xfrm>
            <a:off x="6838950" y="4743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979996" y="4973002"/>
            <a:ext cx="3275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Pay?</a:t>
            </a:r>
          </a:p>
        </p:txBody>
      </p:sp>
      <p:sp>
        <p:nvSpPr>
          <p:cNvPr id="47" name="Line 47"/>
          <p:cNvSpPr/>
          <p:nvPr/>
        </p:nvSpPr>
        <p:spPr>
          <a:xfrm>
            <a:off x="7448550" y="504825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8496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709916" y="4839652"/>
            <a:ext cx="4499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PayPal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572500" y="4857750"/>
            <a:ext cx="238125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138416" y="4966335"/>
            <a:ext cx="12494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Capture PayPal</a:t>
            </a:r>
          </a:p>
        </p:txBody>
      </p:sp>
      <p:sp>
        <p:nvSpPr>
          <p:cNvPr id="52" name="Freeform 52"/>
          <p:cNvSpPr/>
          <p:nvPr/>
        </p:nvSpPr>
        <p:spPr>
          <a:xfrm>
            <a:off x="7143750" y="5353050"/>
            <a:ext cx="1428750" cy="361950"/>
          </a:xfrm>
          <a:custGeom>
            <a:avLst/>
            <a:gdLst/>
            <a:ahLst/>
            <a:cxnLst/>
            <a:rect l="l" t="t" r="r" b="b"/>
            <a:pathLst>
              <a:path w="1428750" h="361950">
                <a:moveTo>
                  <a:pt x="0" y="0"/>
                </a:moveTo>
                <a:lnTo>
                  <a:pt x="0" y="361950"/>
                </a:lnTo>
                <a:lnTo>
                  <a:pt x="1428750" y="3619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8553450" y="5676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328916" y="5506402"/>
            <a:ext cx="2869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COD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572500" y="5524500"/>
            <a:ext cx="238125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9232307" y="5633085"/>
            <a:ext cx="10616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Ghi nhận COD</a:t>
            </a:r>
          </a:p>
        </p:txBody>
      </p:sp>
      <p:sp>
        <p:nvSpPr>
          <p:cNvPr id="57" name="Line 57"/>
          <p:cNvSpPr/>
          <p:nvPr/>
        </p:nvSpPr>
        <p:spPr>
          <a:xfrm>
            <a:off x="9763125" y="5905500"/>
            <a:ext cx="9525" cy="257175"/>
          </a:xfrm>
          <a:custGeom>
            <a:avLst/>
            <a:gdLst/>
            <a:ahLst/>
            <a:cxnLst/>
            <a:rect l="l" t="t" r="r" b="b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8" name="Polygon 58"/>
          <p:cNvSpPr/>
          <p:nvPr/>
        </p:nvSpPr>
        <p:spPr>
          <a:xfrm>
            <a:off x="9725025" y="616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9648825" y="6315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60" name="Ellipse 60"/>
          <p:cNvSpPr/>
          <p:nvPr/>
        </p:nvSpPr>
        <p:spPr>
          <a:xfrm>
            <a:off x="9705975" y="6372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63" name="Group 63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1" name="TextBox 61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21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157194" cy="568928"/>
            <a:chOff x="457200" y="228600"/>
            <a:chExt cx="5157194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7163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Buy Now (Mua ngay)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935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5/5 · Cart → Invoice → Thanh toán trong 7 ngày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23179" y="948214"/>
            <a:ext cx="5161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74660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244429" y="948214"/>
            <a:ext cx="751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861010" y="1870710"/>
            <a:ext cx="10404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Xem Buy Now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428750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898534" y="2537460"/>
            <a:ext cx="9654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Add to Cart</a:t>
            </a:r>
          </a:p>
        </p:txBody>
      </p:sp>
      <p:sp>
        <p:nvSpPr>
          <p:cNvPr id="24" name="Line 24"/>
          <p:cNvSpPr/>
          <p:nvPr/>
        </p:nvSpPr>
        <p:spPr>
          <a:xfrm>
            <a:off x="3333750" y="2619375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686300" y="2581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762500" y="242887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982836" y="2537460"/>
            <a:ext cx="1654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invoice buy_now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77215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0" y="323850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186377" y="3356610"/>
            <a:ext cx="12477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Deadline 7 ngày</a:t>
            </a:r>
          </a:p>
        </p:txBody>
      </p:sp>
      <p:sp>
        <p:nvSpPr>
          <p:cNvPr id="32" name="Line 32"/>
          <p:cNvSpPr/>
          <p:nvPr/>
        </p:nvSpPr>
        <p:spPr>
          <a:xfrm>
            <a:off x="5810250" y="36385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772150" y="3924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4" name="Polygon 34"/>
          <p:cNvSpPr/>
          <p:nvPr/>
        </p:nvSpPr>
        <p:spPr>
          <a:xfrm>
            <a:off x="5505450" y="4076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46496" y="4306252"/>
            <a:ext cx="3275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Pay?</a:t>
            </a:r>
          </a:p>
        </p:txBody>
      </p:sp>
      <p:sp>
        <p:nvSpPr>
          <p:cNvPr id="36" name="Line 36"/>
          <p:cNvSpPr/>
          <p:nvPr/>
        </p:nvSpPr>
        <p:spPr>
          <a:xfrm>
            <a:off x="6115050" y="438150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8305800" y="4343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662166" y="4172902"/>
            <a:ext cx="7574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Thanh toán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382000" y="41910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084915" y="4299585"/>
            <a:ext cx="10706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PayPal / COD</a:t>
            </a:r>
          </a:p>
        </p:txBody>
      </p:sp>
      <p:sp>
        <p:nvSpPr>
          <p:cNvPr id="41" name="Line 41"/>
          <p:cNvSpPr/>
          <p:nvPr/>
        </p:nvSpPr>
        <p:spPr>
          <a:xfrm>
            <a:off x="9620250" y="457200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2" name="Polygon 42"/>
          <p:cNvSpPr/>
          <p:nvPr/>
        </p:nvSpPr>
        <p:spPr>
          <a:xfrm>
            <a:off x="958215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8382000" y="51435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920153" y="5252085"/>
            <a:ext cx="14001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Order completed</a:t>
            </a:r>
          </a:p>
        </p:txBody>
      </p:sp>
      <p:sp>
        <p:nvSpPr>
          <p:cNvPr id="45" name="Line 45"/>
          <p:cNvSpPr/>
          <p:nvPr/>
        </p:nvSpPr>
        <p:spPr>
          <a:xfrm>
            <a:off x="9620250" y="55245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582150" y="5924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9505950" y="61245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48" name="Ellipse 48"/>
          <p:cNvSpPr/>
          <p:nvPr/>
        </p:nvSpPr>
        <p:spPr>
          <a:xfrm>
            <a:off x="9563100" y="61817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2857500" y="3619500"/>
            <a:ext cx="2647950" cy="762000"/>
          </a:xfrm>
          <a:custGeom>
            <a:avLst/>
            <a:gdLst/>
            <a:ahLst/>
            <a:cxnLst/>
            <a:rect l="l" t="t" r="r" b="b"/>
            <a:pathLst>
              <a:path w="2647950" h="762000">
                <a:moveTo>
                  <a:pt x="2647950" y="762000"/>
                </a:moveTo>
                <a:lnTo>
                  <a:pt x="0" y="76200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0" name="Polygon 50"/>
          <p:cNvSpPr/>
          <p:nvPr/>
        </p:nvSpPr>
        <p:spPr>
          <a:xfrm>
            <a:off x="2819400" y="3543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233166" y="4172902"/>
            <a:ext cx="9210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Hủy / hết hạn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428750" y="3333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923114" y="3442335"/>
            <a:ext cx="916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Hủy invoice</a:t>
            </a:r>
          </a:p>
        </p:txBody>
      </p:sp>
      <p:sp>
        <p:nvSpPr>
          <p:cNvPr id="54" name="Line 54"/>
          <p:cNvSpPr/>
          <p:nvPr/>
        </p:nvSpPr>
        <p:spPr>
          <a:xfrm>
            <a:off x="2381250" y="371475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5" name="Polygon 55"/>
          <p:cNvSpPr/>
          <p:nvPr/>
        </p:nvSpPr>
        <p:spPr>
          <a:xfrm>
            <a:off x="2343150" y="4210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2266950" y="4362450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2324100" y="4419600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22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693149" cy="692659"/>
            <a:chOff x="457200" y="378142"/>
            <a:chExt cx="369314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4790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099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ER — các thực thể chính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1333500"/>
            <a:ext cx="9906000" cy="4112228"/>
            <a:chOff x="762000" y="1333500"/>
            <a:chExt cx="9906000" cy="4112228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714500"/>
              <a:ext cx="1905000" cy="1333500"/>
              <a:chOff x="762000" y="1714500"/>
              <a:chExt cx="19050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83346" y="1808321"/>
                <a:ext cx="4623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User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6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6023" y="2491264"/>
                <a:ext cx="4399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Email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6023" y="2757964"/>
                <a:ext cx="4486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Roles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0" y="1524000"/>
              <a:ext cx="1905000" cy="1333500"/>
              <a:chOff x="3429000" y="1524000"/>
              <a:chExt cx="19050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240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29000" y="15240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429000" y="17526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984754" y="1617821"/>
                <a:ext cx="79349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3023" y="20340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3023" y="2300764"/>
                <a:ext cx="6507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SellerId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3023" y="2567464"/>
                <a:ext cx="7764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Category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1905000" cy="1333500"/>
              <a:chOff x="6096000" y="1714500"/>
              <a:chExt cx="1905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677046" y="1808321"/>
                <a:ext cx="7429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0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0023" y="2491264"/>
                <a:ext cx="8330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ProductId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80023" y="2757964"/>
                <a:ext cx="5869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Status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763000" y="1333500"/>
              <a:ext cx="1905000" cy="1333500"/>
              <a:chOff x="8763000" y="1333500"/>
              <a:chExt cx="190500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763000" y="1333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763000" y="1333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763000" y="1562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65107" y="1427321"/>
                <a:ext cx="30078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7023" y="1843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7023" y="2110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7023" y="2376964"/>
                <a:ext cx="62174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Amount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096000" y="4000500"/>
              <a:ext cx="1905000" cy="1333500"/>
              <a:chOff x="6096000" y="4000500"/>
              <a:chExt cx="1905000" cy="1333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96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41850" y="4094321"/>
                <a:ext cx="61330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Order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80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80023" y="4777264"/>
                <a:ext cx="6433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BuyerId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0023" y="5043964"/>
                <a:ext cx="71646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Payment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29000" y="4000500"/>
              <a:ext cx="1905000" cy="1333500"/>
              <a:chOff x="3429000" y="4000500"/>
              <a:chExt cx="19050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429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429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429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759182" y="4094321"/>
                <a:ext cx="124463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Registration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3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13023" y="4777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3023" y="5043964"/>
                <a:ext cx="6382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Deposit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667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33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001000" y="19050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48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381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334000" y="4286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51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18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5785" y="16883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8035" y="3307556"/>
              <a:ext cx="80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N—1 Winner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66285" y="3307556"/>
              <a:ext cx="569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 Reg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98523" y="5196364"/>
              <a:ext cx="5673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1—N Product · Auction 1—N Bid/Registration · Order N—1 Buyer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7" name="TextBox 67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23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2752791" cy="692659"/>
            <a:chOff x="457200" y="378142"/>
            <a:chExt cx="2752791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161277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531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Điểm nổi bật của CardMarket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333500"/>
            <a:ext cx="5524500" cy="1619250"/>
            <a:chOff x="457200" y="1333500"/>
            <a:chExt cx="5524500" cy="161925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3732" y="1630680"/>
              <a:ext cx="13609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Dual Auth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780" y="2124075"/>
              <a:ext cx="49237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Cookie User và Admin độc lập — tách phiên an toàn.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333500"/>
            <a:ext cx="5524500" cy="1619250"/>
            <a:chOff x="6286500" y="1333500"/>
            <a:chExt cx="55245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62865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33032" y="1630680"/>
              <a:ext cx="20274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Verify Listing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36080" y="2124075"/>
              <a:ext cx="3898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Admin duyệt trước khi listing công khai.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3238500"/>
            <a:ext cx="5524500" cy="1619250"/>
            <a:chOff x="457200" y="3238500"/>
            <a:chExt cx="5524500" cy="1619250"/>
          </a:xfrm>
        </p:grpSpPr>
        <p:sp>
          <p:nvSpPr>
            <p:cNvPr id="16" name="Rectangle 16"/>
            <p:cNvSpPr/>
            <p:nvPr/>
          </p:nvSpPr>
          <p:spPr>
            <a:xfrm>
              <a:off x="4572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3732" y="3535680"/>
              <a:ext cx="12469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780" y="4029075"/>
              <a:ext cx="357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SignalR + Firebase push + RabbitMQ.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3238500"/>
            <a:ext cx="5524500" cy="1619250"/>
            <a:chOff x="6286500" y="3238500"/>
            <a:chExt cx="5524500" cy="1619250"/>
          </a:xfrm>
        </p:grpSpPr>
        <p:sp>
          <p:nvSpPr>
            <p:cNvPr id="21" name="Rectangle 21"/>
            <p:cNvSpPr/>
            <p:nvPr/>
          </p:nvSpPr>
          <p:spPr>
            <a:xfrm>
              <a:off x="62865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3032" y="3535680"/>
              <a:ext cx="16791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Đa ngôn ngữ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6080" y="402907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4 locale: vi · en · ja · ko.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5334000"/>
            <a:ext cx="11277600" cy="666750"/>
            <a:chOff x="457200" y="5334000"/>
            <a:chExt cx="11277600" cy="666750"/>
          </a:xfrm>
        </p:grpSpPr>
        <p:sp>
          <p:nvSpPr>
            <p:cNvPr id="26" name="Rectangle 26"/>
            <p:cNvSpPr/>
            <p:nvPr/>
          </p:nvSpPr>
          <p:spPr>
            <a:xfrm>
              <a:off x="457200" y="5334000"/>
              <a:ext cx="11277600" cy="666750"/>
            </a:xfrm>
            <a:prstGeom prst="roundRect">
              <a:avLst>
                <a:gd name="adj" fmla="val 2285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58447" y="5581650"/>
              <a:ext cx="5475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Vòng đời đấu giá thẻ bài hoàn chỉnh trên ASP.NET Core 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24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364811" y="2023110"/>
              <a:ext cx="546237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14662" y="2594610"/>
              <a:ext cx="33626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2515" y="3631882"/>
              <a:ext cx="45669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8667" y="391763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4659" y="4410075"/>
              <a:ext cx="218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25 /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2026-07-22T03:26:03Z</dcterms:created>
  <dcterms:modified xsi:type="dcterms:W3CDTF">2026-07-22T03:26:03Z</dcterms:modified>
  <cp:category/>
  <cp:contentStatus/>
</cp:coreProperties>
</file>