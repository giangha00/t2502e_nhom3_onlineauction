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Chào hội đồng. Nhóm 3 xin trình bày đề tài CardMarket — RareCard Vault.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20 trang: phần chung, 5 Use Case, 5 Activity, DB, kết luận.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Nhóm trưởng: Nguyễn Giang Hà. Thành viên: Nguyễn Văn Hưng, Đinh Văn Hải, Phạm Việt Anh, Nguyễn Hữu Quân, Danil Famil Long.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Tổng quan hệ thống đấu giá &amp; Buy Now.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Bốn mục tiêu chính của đề tài.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 ASP.NET Core 8, Identity, PayPal, SignalR…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Khung giai đoạn phát triển (scenario).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Use Case đăng ký / đăng nhập — dual session User &amp; Admin.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Seller tạo listing; Admin approve/reject.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Buyer đăng ký, đặt cọc, place bid; System anti-fraud &amp; SignalR.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Finalization, Order, thanh toán PayPal/COD.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Mua ngay: cart → invoice → thanh toán trong 7 ngày.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Activity dual cookie: nhánh User và nhánh Admin độc lập.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Submit → confirming → Approve/Reject → live; Seller có thể sửa gửi lại.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Deposit → Place Bid → validate/fraud → SignalR cập nhật giá.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Hết giờ → Worker tạo Order → Buyer thanh toán PayPal hoặc COD.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Add to cart → invoice deadline 7 ngày → thanh toán hoặc hủy/hết hạn.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ER các entity chính.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nổi bật dual auth, verify, realtime, i18n.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hội đồng, xin hỏi đáp.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online_auction_nhom3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online_auction_nhom3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2095500" y="-1333500"/>
            <a:ext cx="15430500" cy="9144000"/>
            <a:chOff x="-2095500" y="-1333500"/>
            <a:chExt cx="1543050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9144000" y="-1333500"/>
              <a:ext cx="4191000" cy="4191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2095500" y="4381500"/>
              <a:ext cx="3429000" cy="3429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762000" y="1143000"/>
            <a:ext cx="1600200" cy="346901"/>
            <a:chOff x="762000" y="1143000"/>
            <a:chExt cx="1600200" cy="346901"/>
          </a:xfrm>
        </p:grpSpPr>
        <p:sp>
          <p:nvSpPr>
            <p:cNvPr id="6" name="Rectangle 6"/>
            <p:cNvSpPr/>
            <p:nvPr/>
          </p:nvSpPr>
          <p:spPr>
            <a:xfrm>
              <a:off x="762000" y="1143000"/>
              <a:ext cx="1600200" cy="342900"/>
            </a:xfrm>
            <a:prstGeom prst="roundRect">
              <a:avLst>
                <a:gd name="adj" fmla="val 5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227601" y="1225868"/>
              <a:ext cx="668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3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42950" y="1893570"/>
            <a:ext cx="4500631" cy="1706309"/>
            <a:chOff x="742950" y="1893570"/>
            <a:chExt cx="4500631" cy="1706309"/>
          </a:xfrm>
        </p:grpSpPr>
        <p:sp>
          <p:nvSpPr>
            <p:cNvPr id="9" name="TextBox 9"/>
            <p:cNvSpPr txBox="1"/>
            <p:nvPr/>
          </p:nvSpPr>
          <p:spPr>
            <a:xfrm>
              <a:off x="742950" y="1893570"/>
              <a:ext cx="443813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CardMarket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046" y="2677478"/>
              <a:ext cx="252981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RareCard Vault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094" y="3218498"/>
              <a:ext cx="44914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Nền tảng đấu giá thẻ bài trực tuyến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53618" y="3810000"/>
            <a:ext cx="4008882" cy="525589"/>
            <a:chOff x="753618" y="3810000"/>
            <a:chExt cx="4008882" cy="525589"/>
          </a:xfrm>
        </p:grpSpPr>
        <p:sp>
          <p:nvSpPr>
            <p:cNvPr id="13" name="Rectangle 13"/>
            <p:cNvSpPr/>
            <p:nvPr/>
          </p:nvSpPr>
          <p:spPr>
            <a:xfrm>
              <a:off x="762000" y="3810000"/>
              <a:ext cx="40005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3618" y="4012882"/>
              <a:ext cx="33058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Đồ án ASP.NET Core 8 · Nhóm 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2286000"/>
            <a:ext cx="2667000" cy="2667000"/>
            <a:chOff x="8572500" y="2286000"/>
            <a:chExt cx="2667000" cy="2667000"/>
          </a:xfrm>
        </p:grpSpPr>
        <p:sp>
          <p:nvSpPr>
            <p:cNvPr id="16" name="Rectangle 16"/>
            <p:cNvSpPr/>
            <p:nvPr/>
          </p:nvSpPr>
          <p:spPr>
            <a:xfrm>
              <a:off x="8572500" y="2286000"/>
              <a:ext cx="2667000" cy="266700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58250" y="2571750"/>
              <a:ext cx="2095500" cy="1333500"/>
            </a:xfrm>
            <a:prstGeom prst="roundRect">
              <a:avLst>
                <a:gd name="adj" fmla="val 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369445" y="288036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TCG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980127" y="4219575"/>
              <a:ext cx="18517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Auction &amp; Buy Now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93818" y="4510564"/>
              <a:ext cx="20243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Thẻ bài sưu tầm · Online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00978"/>
            <a:ext cx="5773549" cy="498729"/>
            <a:chOff x="457200" y="200978"/>
            <a:chExt cx="5773549" cy="498729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846" y="200978"/>
              <a:ext cx="1317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lục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088642" y="330518"/>
              <a:ext cx="4142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trang · Use Case &amp; Activity mỗi luồng 1 slide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4572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679323" y="1005364"/>
            <a:ext cx="101659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PHẦN CHUNG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8561" y="1322546"/>
            <a:ext cx="11984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01 Tên đề tài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561" y="1608296"/>
            <a:ext cx="9696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02 Mục lục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561" y="1894046"/>
            <a:ext cx="2162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03 Giới thiệu thành viên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8561" y="2179796"/>
            <a:ext cx="11888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04 Tổng quan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8561" y="2465546"/>
            <a:ext cx="166621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05 Mục tiêu đề tài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8561" y="2751296"/>
            <a:ext cx="11888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06 Công nghệ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8561" y="3037046"/>
            <a:ext cx="183784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07 Phân bố thời gian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323" y="3529489"/>
            <a:ext cx="3283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KẾT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8561" y="3846671"/>
            <a:ext cx="192124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18 Database Diagram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561" y="4132421"/>
            <a:ext cx="103582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19 Kết luận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8561" y="4418171"/>
            <a:ext cx="123693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20 Lời cảm ơn</a:t>
            </a:r>
          </a:p>
        </p:txBody>
      </p:sp>
      <p:sp>
        <p:nvSpPr>
          <p:cNvPr id="19" name="Rectangle 19"/>
          <p:cNvSpPr/>
          <p:nvPr/>
        </p:nvSpPr>
        <p:spPr>
          <a:xfrm>
            <a:off x="428625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508373" y="1005364"/>
            <a:ext cx="25684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USE CASE (mỗi luồng 1 trang)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07611" y="1417796"/>
            <a:ext cx="25541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08 UC · Đăng ký / Đăng nhập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07611" y="1798796"/>
            <a:ext cx="228722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09 UC · Đăng bán &amp; Duyệt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07611" y="2179796"/>
            <a:ext cx="26198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10 UC · Đăng ký đấu giá &amp; Bid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07611" y="2560796"/>
            <a:ext cx="276310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11 UC · Kết thúc &amp; Thanh toán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07611" y="2941796"/>
            <a:ext cx="14789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12 UC · Buy Now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51485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98873" y="3719989"/>
            <a:ext cx="193425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5 luồng nghiệp vụ chính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98873" y="3939064"/>
            <a:ext cx="18408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UML Use Case Diagram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15300" y="857250"/>
            <a:ext cx="3619500" cy="5334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337423" y="1005364"/>
            <a:ext cx="252665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b="1" dirty="0">
                <a:solidFill>
                  <a:srgbClr val="1D4ED8"/>
                </a:solidFill>
                <a:latin typeface="+mn-lt"/>
                <a:ea typeface="+mn-ea"/>
                <a:cs typeface="+mn-cs"/>
              </a:rPr>
              <a:t>ACTIVITY (mỗi luồng 1 trang)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36661" y="1417796"/>
            <a:ext cx="12576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13 Act · Auth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36661" y="1798796"/>
            <a:ext cx="238270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14 Act · Đăng bán &amp; Duyệt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6661" y="2179796"/>
            <a:ext cx="202098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15 Act · Đăng ký &amp; Bid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6661" y="2560796"/>
            <a:ext cx="285929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16 Act · Kết thúc &amp; Thanh toán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6661" y="2941796"/>
            <a:ext cx="15726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dirty="0">
                <a:solidFill>
                  <a:srgbClr val="334155"/>
                </a:solidFill>
                <a:latin typeface="+mn-lt"/>
                <a:ea typeface="+mn-ea"/>
                <a:cs typeface="+mn-cs"/>
              </a:rPr>
              <a:t>17 Act · Buy Now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343900" y="3524250"/>
            <a:ext cx="3143250" cy="7620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527923" y="3719989"/>
            <a:ext cx="16354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Swimlane + Decision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27923" y="3939064"/>
            <a:ext cx="178943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4748B"/>
                </a:solidFill>
                <a:latin typeface="+mn-lt"/>
                <a:ea typeface="+mn-ea"/>
                <a:cs typeface="+mn-cs"/>
              </a:rPr>
              <a:t>UML Activity Diagram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60985"/>
            <a:ext cx="6360466" cy="528066"/>
            <a:chOff x="457200" y="260985"/>
            <a:chExt cx="6360466" cy="528066"/>
          </a:xfrm>
        </p:grpSpPr>
        <p:sp>
          <p:nvSpPr>
            <p:cNvPr id="2" name="Rectangle 2"/>
            <p:cNvSpPr/>
            <p:nvPr/>
          </p:nvSpPr>
          <p:spPr>
            <a:xfrm>
              <a:off x="457200" y="2667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2084" y="260985"/>
              <a:ext cx="37793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Giới thiệu thành viên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46142" y="406718"/>
              <a:ext cx="18715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" y="1047750"/>
            <a:ext cx="3619500" cy="1905000"/>
            <a:chOff x="457200" y="1047750"/>
            <a:chExt cx="3619500" cy="1905000"/>
          </a:xfrm>
        </p:grpSpPr>
        <p:sp>
          <p:nvSpPr>
            <p:cNvPr id="6" name="Rectangle 6"/>
            <p:cNvSpPr/>
            <p:nvPr/>
          </p:nvSpPr>
          <p:spPr>
            <a:xfrm>
              <a:off x="4572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23812">
              <a:solidFill>
                <a:srgbClr val="1D4ED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047750"/>
              <a:ext cx="3619500" cy="457200"/>
            </a:xfrm>
            <a:prstGeom prst="roundRect">
              <a:avLst>
                <a:gd name="adj" fmla="val 33333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276350"/>
              <a:ext cx="3619500" cy="228600"/>
            </a:xfrm>
            <a:prstGeom prst="rect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23187" y="125158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800100" y="18478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1189" y="21212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58493" y="1965008"/>
              <a:ext cx="17888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Giang Hà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0779" y="2299335"/>
              <a:ext cx="9869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 trưởng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86250" y="1047750"/>
            <a:ext cx="3619500" cy="1905000"/>
            <a:chOff x="4286250" y="1047750"/>
            <a:chExt cx="3619500" cy="1905000"/>
          </a:xfrm>
        </p:grpSpPr>
        <p:sp>
          <p:nvSpPr>
            <p:cNvPr id="15" name="Rectangle 15"/>
            <p:cNvSpPr/>
            <p:nvPr/>
          </p:nvSpPr>
          <p:spPr>
            <a:xfrm>
              <a:off x="428625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62915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86023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16118" y="1774508"/>
              <a:ext cx="18479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Văn Hưng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840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15300" y="1047750"/>
            <a:ext cx="3619500" cy="1905000"/>
            <a:chOff x="8115300" y="1047750"/>
            <a:chExt cx="36195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8115300" y="104775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458200" y="165735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89289" y="193071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45168" y="1774508"/>
              <a:ext cx="1345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Đinh Văn Hải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47454" y="210883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7200" y="3238500"/>
            <a:ext cx="3619500" cy="1905000"/>
            <a:chOff x="457200" y="3238500"/>
            <a:chExt cx="3619500" cy="1905000"/>
          </a:xfrm>
        </p:grpSpPr>
        <p:sp>
          <p:nvSpPr>
            <p:cNvPr id="27" name="Rectangle 27"/>
            <p:cNvSpPr/>
            <p:nvPr/>
          </p:nvSpPr>
          <p:spPr>
            <a:xfrm>
              <a:off x="4572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001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11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58493" y="3965258"/>
              <a:ext cx="157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Phạm Việt Anh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60779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286250" y="3238500"/>
            <a:ext cx="3619500" cy="1905000"/>
            <a:chOff x="4286250" y="3238500"/>
            <a:chExt cx="36195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428625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462915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86023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16118" y="3965258"/>
              <a:ext cx="1895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Nguyễn Hữu Quân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1840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15300" y="3238500"/>
            <a:ext cx="3619500" cy="1905000"/>
            <a:chOff x="8115300" y="3238500"/>
            <a:chExt cx="3619500" cy="1905000"/>
          </a:xfrm>
        </p:grpSpPr>
        <p:sp>
          <p:nvSpPr>
            <p:cNvPr id="39" name="Rectangle 39"/>
            <p:cNvSpPr/>
            <p:nvPr/>
          </p:nvSpPr>
          <p:spPr>
            <a:xfrm>
              <a:off x="8115300" y="3238500"/>
              <a:ext cx="3619500" cy="1905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458200" y="3848100"/>
              <a:ext cx="685800" cy="6858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689289" y="4121468"/>
              <a:ext cx="223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345168" y="3965258"/>
              <a:ext cx="17872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Danil Famil Long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47454" y="4299585"/>
              <a:ext cx="824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Thành viên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51866" y="6554152"/>
            <a:ext cx="11288268" cy="205359"/>
            <a:chOff x="451866" y="6554152"/>
            <a:chExt cx="11288268" cy="205359"/>
          </a:xfrm>
        </p:grpSpPr>
        <p:sp>
          <p:nvSpPr>
            <p:cNvPr id="45" name="TextBox 45"/>
            <p:cNvSpPr txBox="1"/>
            <p:nvPr/>
          </p:nvSpPr>
          <p:spPr>
            <a:xfrm>
              <a:off x="451866" y="6554152"/>
              <a:ext cx="1455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55940" y="6554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943068" cy="692659"/>
            <a:chOff x="457200" y="378142"/>
            <a:chExt cx="3943068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72894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Tổng quan hệ thống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068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Đấu giá &amp; Buy Now · thẻ bài sưu tầm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1238250"/>
            <a:ext cx="5524500" cy="1333500"/>
            <a:chOff x="457200" y="1238250"/>
            <a:chExt cx="5524500" cy="1333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14756" y="1472565"/>
              <a:ext cx="2161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Đấu giá (Auction)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6661" y="1846421"/>
              <a:ext cx="4919726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Seller đăng listing → Admin duyệt → Buyer đăng ký &amp; cọc → Bid realtime (SignalR) → Kết thúc → Order &amp; thanh toán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210300" y="1238250"/>
            <a:ext cx="5524500" cy="1333500"/>
            <a:chOff x="6210300" y="1238250"/>
            <a:chExt cx="5524500" cy="1333500"/>
          </a:xfrm>
        </p:grpSpPr>
        <p:sp>
          <p:nvSpPr>
            <p:cNvPr id="10" name="Rectangle 10"/>
            <p:cNvSpPr/>
            <p:nvPr/>
          </p:nvSpPr>
          <p:spPr>
            <a:xfrm>
              <a:off x="6210300" y="1238250"/>
              <a:ext cx="5524500" cy="133350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467856" y="1472565"/>
              <a:ext cx="24798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Mua ngay (Buy Now)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69761" y="1846421"/>
              <a:ext cx="4622165" cy="5454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Thêm vào giỏ → Tạo hóa đơn → Thanh toán PayPal / COD Hạn thanh toán 7 ngày · Watchlist &amp; thông báo hỗ trợ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57200" y="2857500"/>
            <a:ext cx="11049000" cy="952500"/>
            <a:chOff x="457200" y="2857500"/>
            <a:chExt cx="11049000" cy="952500"/>
          </a:xfrm>
        </p:grpSpPr>
        <p:sp>
          <p:nvSpPr>
            <p:cNvPr id="14" name="Rectangle 14"/>
            <p:cNvSpPr/>
            <p:nvPr/>
          </p:nvSpPr>
          <p:spPr>
            <a:xfrm>
              <a:off x="457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28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0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3228975"/>
              <a:ext cx="9022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bán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466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743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914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26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83280" y="3228975"/>
              <a:ext cx="1241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Admin duyệt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2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29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200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12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69280" y="3228975"/>
              <a:ext cx="13892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Đăng ký + Cọc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8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315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486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98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55280" y="3228975"/>
              <a:ext cx="1335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Đặt giá (Bid)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4594" y="321849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01200" y="2857500"/>
              <a:ext cx="1905000" cy="95250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9772650" y="3162300"/>
              <a:ext cx="342900" cy="3429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84765" y="3245168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41280" y="322897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57200" y="4381500"/>
            <a:ext cx="11277600" cy="1524000"/>
            <a:chOff x="457200" y="4381500"/>
            <a:chExt cx="112776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457200" y="4381500"/>
              <a:ext cx="11277600" cy="1524000"/>
            </a:xfrm>
            <a:prstGeom prst="roundRect">
              <a:avLst>
                <a:gd name="adj" fmla="val 1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3618" y="4632008"/>
              <a:ext cx="1821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Hỗ trợ kèm theo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4761" y="5037296"/>
              <a:ext cx="5280406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42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Watchlist · Thông báo realtime / push · Khiếu nại &amp; hoàn tiền Đa ngôn ngữ (vi / en / ja / ko) · Khu vực Admin riêng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3" name="TextBox 43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352866" cy="692659"/>
            <a:chOff x="457200" y="378142"/>
            <a:chExt cx="3352866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29431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Mục tiêu đề tài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3131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Bốn mục tiêu chính của CardMarket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57200" y="1238250"/>
            <a:ext cx="5524500" cy="2095500"/>
            <a:chOff x="457200" y="1238250"/>
            <a:chExt cx="5524500" cy="2095500"/>
          </a:xfrm>
        </p:grpSpPr>
        <p:sp>
          <p:nvSpPr>
            <p:cNvPr id="6" name="Rectangle 6"/>
            <p:cNvSpPr/>
            <p:nvPr/>
          </p:nvSpPr>
          <p:spPr>
            <a:xfrm>
              <a:off x="4572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477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1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61694" y="1551622"/>
              <a:ext cx="270292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Hệ thống hoàn chỉnh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2124075"/>
              <a:ext cx="39776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Xây dựng nền tảng đấu giá online đầy đủ: MVC, Identity, database và luồng nghiệp vụ end-to-end.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86500" y="1238250"/>
            <a:ext cx="5524500" cy="2095500"/>
            <a:chOff x="6286500" y="1238250"/>
            <a:chExt cx="5524500" cy="20955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477000" y="142875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65" y="16002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0994" y="1551622"/>
              <a:ext cx="28959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Quy trình thương mại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59880" y="2124075"/>
              <a:ext cx="36633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Mô phỏng thực tế: xác thực listing, cọc đăng ký, chống gian lận bid, thanh toán và phí nền tảng.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3619500"/>
            <a:ext cx="5524500" cy="2095500"/>
            <a:chOff x="457200" y="3619500"/>
            <a:chExt cx="5524500" cy="2095500"/>
          </a:xfrm>
        </p:grpSpPr>
        <p:sp>
          <p:nvSpPr>
            <p:cNvPr id="18" name="Rectangle 18"/>
            <p:cNvSpPr/>
            <p:nvPr/>
          </p:nvSpPr>
          <p:spPr>
            <a:xfrm>
              <a:off x="4572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477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01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61694" y="3932872"/>
              <a:ext cx="223448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Bảo mật tách lớp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0580" y="45053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Tách bảo mật Admin / User bằng dual-session cookies và phân quyền động.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3619500"/>
            <a:ext cx="5524500" cy="2095500"/>
            <a:chOff x="6286500" y="3619500"/>
            <a:chExt cx="5524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619500"/>
              <a:ext cx="5524500" cy="2095500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6477000" y="3810000"/>
              <a:ext cx="533400" cy="533400"/>
            </a:xfrm>
            <a:prstGeom prst="ellipse">
              <a:avLst/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19465" y="39814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90994" y="3932872"/>
              <a:ext cx="300553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Trải nghiệm người dùng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9880" y="4505325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Realtime (SignalR / push) và đa ngôn ngữ để phục vụ người dùng quốc tế.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0" name="TextBox 30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967942" cy="692659"/>
            <a:chOff x="457200" y="378142"/>
            <a:chExt cx="2967942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93574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Công nghệ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746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Stack kỹ thuật chính của dự án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7200" y="1143000"/>
            <a:ext cx="11277600" cy="4762500"/>
            <a:chOff x="457200" y="1143000"/>
            <a:chExt cx="11277600" cy="4762500"/>
          </a:xfrm>
        </p:grpSpPr>
        <p:sp>
          <p:nvSpPr>
            <p:cNvPr id="6" name="Rectangle 6"/>
            <p:cNvSpPr/>
            <p:nvPr/>
          </p:nvSpPr>
          <p:spPr>
            <a:xfrm>
              <a:off x="457200" y="1143000"/>
              <a:ext cx="11277600" cy="476250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43000"/>
              <a:ext cx="11277600" cy="533400"/>
            </a:xfrm>
            <a:prstGeom prst="roundRect">
              <a:avLst>
                <a:gd name="adj" fmla="val 28571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09700"/>
              <a:ext cx="11277600" cy="266700"/>
            </a:xfrm>
            <a:prstGeom prst="rect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1323975"/>
              <a:ext cx="5313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Nhóm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0380" y="1323975"/>
              <a:ext cx="18545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Công nghệ / Stack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1647825"/>
              <a:ext cx="8381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Backend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0380" y="1647825"/>
              <a:ext cx="39956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ASP.NET Core 8 MVC · EF Core · Identity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20383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4380" y="21431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0380" y="2143125"/>
              <a:ext cx="39107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MySQL (Pomelo) · SQL Server / SQLite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2638425"/>
              <a:ext cx="488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40380" y="2638425"/>
              <a:ext cx="32875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Dual cookie: User / Admin session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0289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4380" y="3133725"/>
              <a:ext cx="11353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Thanh toán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40380" y="3133725"/>
              <a:ext cx="2118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PayPal Sandbox · COD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3629025"/>
              <a:ext cx="890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40380" y="3629025"/>
              <a:ext cx="22372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· Firebase FCM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0195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4380" y="4124325"/>
              <a:ext cx="10607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Messaging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40380" y="4124325"/>
              <a:ext cx="953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RabbitMQ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380" y="4619625"/>
              <a:ext cx="594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Media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40380" y="4619625"/>
              <a:ext cx="1030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Cloudinary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010150"/>
              <a:ext cx="10972800" cy="457200"/>
            </a:xfrm>
            <a:prstGeom prst="roundRect">
              <a:avLst>
                <a:gd name="adj" fmla="val 16667"/>
              </a:avLst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4380" y="5114925"/>
              <a:ext cx="954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Frontend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40380" y="5114925"/>
              <a:ext cx="30806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Razor · Tailwind CSS 4 · jQuery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519359" cy="692659"/>
            <a:chOff x="457200" y="378142"/>
            <a:chExt cx="351935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30523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bố thời gian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1004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Sáu giai đoạn phát triển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9580" y="1362075"/>
            <a:ext cx="7475039" cy="3721703"/>
            <a:chOff x="449580" y="1362075"/>
            <a:chExt cx="7475039" cy="3721703"/>
          </a:xfrm>
        </p:grpSpPr>
        <p:sp>
          <p:nvSpPr>
            <p:cNvPr id="6" name="TextBox 6"/>
            <p:cNvSpPr txBox="1"/>
            <p:nvPr/>
          </p:nvSpPr>
          <p:spPr>
            <a:xfrm>
              <a:off x="449580" y="14382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4880" y="1362075"/>
              <a:ext cx="1846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Phân tích yêu cầu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023" y="1595914"/>
              <a:ext cx="1665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 Case, DB design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000500" y="14097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59880" y="14573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9580" y="20859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4880" y="2009775"/>
              <a:ext cx="1314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Auth &amp; Admin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023" y="2243614"/>
              <a:ext cx="17930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Identity dual-session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000500" y="20574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17130" y="21050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9580" y="27336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4880" y="2657475"/>
              <a:ext cx="13433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Listing &amp; Sell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023" y="2891314"/>
              <a:ext cx="14112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Verify, Sell flow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00500" y="27051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17130" y="27527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9580" y="33813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305175"/>
              <a:ext cx="1251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Bid realtime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3539014"/>
              <a:ext cx="20699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Đăng ký/cọc, anti-fraud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00500" y="3352800"/>
              <a:ext cx="34290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7130" y="3400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20%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9580" y="40290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4880" y="3952875"/>
              <a:ext cx="125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Order &amp; Pay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023" y="4186714"/>
              <a:ext cx="1364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PayPal, Buy Now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000500" y="4000500"/>
              <a:ext cx="2571750" cy="304800"/>
            </a:xfrm>
            <a:prstGeom prst="roundRect">
              <a:avLst>
                <a:gd name="adj" fmla="val 25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59880" y="40481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9580" y="467677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G6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4880" y="4600575"/>
              <a:ext cx="13768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Polish &amp; Demo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023" y="4834414"/>
              <a:ext cx="143454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i18n, smoke test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000500" y="4648200"/>
              <a:ext cx="1714500" cy="304800"/>
            </a:xfrm>
            <a:prstGeom prst="roundRect">
              <a:avLst>
                <a:gd name="adj" fmla="val 25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802630" y="46958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10%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7200" y="5334000"/>
            <a:ext cx="11277600" cy="762000"/>
            <a:chOff x="457200" y="5334000"/>
            <a:chExt cx="11277600" cy="762000"/>
          </a:xfrm>
        </p:grpSpPr>
        <p:sp>
          <p:nvSpPr>
            <p:cNvPr id="37" name="Rectangle 37"/>
            <p:cNvSpPr/>
            <p:nvPr/>
          </p:nvSpPr>
          <p:spPr>
            <a:xfrm>
              <a:off x="457200" y="5334000"/>
              <a:ext cx="11277600" cy="762000"/>
            </a:xfrm>
            <a:prstGeom prst="roundRect">
              <a:avLst>
                <a:gd name="adj" fmla="val 2000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5142" y="5521642"/>
              <a:ext cx="1288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Scenario data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5142" y="5759768"/>
              <a:ext cx="84049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Tỷ lệ gợi ý cho thuyết trình — không có Gantt chính thức trong repository; cần nhóm xác nhận.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981694" cy="568928"/>
            <a:chOff x="457200" y="228600"/>
            <a:chExt cx="498169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645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Use Case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2974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1/5 · Auth (dual session User &amp; Admin)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3048000" y="1047750"/>
            <a:ext cx="6096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169494" y="1179671"/>
            <a:ext cx="185301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CardMarket · Auth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7747" y="2552700"/>
            <a:ext cx="1130505" cy="1178528"/>
            <a:chOff x="577747" y="2552700"/>
            <a:chExt cx="1130505" cy="1178528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77747" y="3481864"/>
              <a:ext cx="1130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Guest / User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5503" y="2552700"/>
            <a:ext cx="506993" cy="1178528"/>
            <a:chOff x="10795503" y="2552700"/>
            <a:chExt cx="506993" cy="1178528"/>
          </a:xfrm>
        </p:grpSpPr>
        <p:sp>
          <p:nvSpPr>
            <p:cNvPr id="15" name="Ellipse 15"/>
            <p:cNvSpPr/>
            <p:nvPr/>
          </p:nvSpPr>
          <p:spPr>
            <a:xfrm>
              <a:off x="10934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5503" y="3481864"/>
              <a:ext cx="506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762500" y="1600200"/>
            <a:ext cx="26670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412731" y="1823085"/>
            <a:ext cx="13665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tài khoản</a:t>
            </a:r>
          </a:p>
        </p:txBody>
      </p:sp>
      <p:sp>
        <p:nvSpPr>
          <p:cNvPr id="24" name="Ellipse 24"/>
          <p:cNvSpPr/>
          <p:nvPr/>
        </p:nvSpPr>
        <p:spPr>
          <a:xfrm>
            <a:off x="4762500" y="2362200"/>
            <a:ext cx="26670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529948" y="2585085"/>
            <a:ext cx="11321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Xác nhận email</a:t>
            </a:r>
          </a:p>
        </p:txBody>
      </p:sp>
      <p:sp>
        <p:nvSpPr>
          <p:cNvPr id="26" name="Ellipse 26"/>
          <p:cNvSpPr/>
          <p:nvPr/>
        </p:nvSpPr>
        <p:spPr>
          <a:xfrm>
            <a:off x="4762500" y="3124200"/>
            <a:ext cx="26670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502859" y="3347085"/>
            <a:ext cx="11862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nhập User</a:t>
            </a:r>
          </a:p>
        </p:txBody>
      </p:sp>
      <p:sp>
        <p:nvSpPr>
          <p:cNvPr id="28" name="Ellipse 28"/>
          <p:cNvSpPr/>
          <p:nvPr/>
        </p:nvSpPr>
        <p:spPr>
          <a:xfrm>
            <a:off x="4762500" y="3886200"/>
            <a:ext cx="26670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244498" y="4109085"/>
            <a:ext cx="17030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Quên mật khẩu (OTP)</a:t>
            </a:r>
          </a:p>
        </p:txBody>
      </p:sp>
      <p:sp>
        <p:nvSpPr>
          <p:cNvPr id="30" name="Ellipse 30"/>
          <p:cNvSpPr/>
          <p:nvPr/>
        </p:nvSpPr>
        <p:spPr>
          <a:xfrm>
            <a:off x="4762500" y="4648200"/>
            <a:ext cx="26670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462544" y="4871085"/>
            <a:ext cx="12669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nhập Admin</a:t>
            </a:r>
          </a:p>
        </p:txBody>
      </p:sp>
      <p:sp>
        <p:nvSpPr>
          <p:cNvPr id="32" name="Ellipse 32"/>
          <p:cNvSpPr/>
          <p:nvPr/>
        </p:nvSpPr>
        <p:spPr>
          <a:xfrm>
            <a:off x="4762500" y="5353050"/>
            <a:ext cx="2667000" cy="533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707590" y="5537835"/>
            <a:ext cx="776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xuất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143250" cy="952500"/>
          </a:xfrm>
          <a:custGeom>
            <a:avLst/>
            <a:gdLst/>
            <a:ahLst/>
            <a:cxnLst/>
            <a:rect l="l" t="t" r="r" b="b"/>
            <a:pathLst>
              <a:path w="3143250" h="952500">
                <a:moveTo>
                  <a:pt x="0" y="95250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143250" cy="285750"/>
          </a:xfrm>
          <a:custGeom>
            <a:avLst/>
            <a:gdLst/>
            <a:ahLst/>
            <a:cxnLst/>
            <a:rect l="l" t="t" r="r" b="b"/>
            <a:pathLst>
              <a:path w="3143250" h="285750">
                <a:moveTo>
                  <a:pt x="0" y="285750"/>
                </a:moveTo>
                <a:lnTo>
                  <a:pt x="3143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048000"/>
            <a:ext cx="3143250" cy="381000"/>
          </a:xfrm>
          <a:custGeom>
            <a:avLst/>
            <a:gdLst/>
            <a:ahLst/>
            <a:cxnLst/>
            <a:rect l="l" t="t" r="r" b="b"/>
            <a:pathLst>
              <a:path w="3143250" h="381000">
                <a:moveTo>
                  <a:pt x="0" y="0"/>
                </a:moveTo>
                <a:lnTo>
                  <a:pt x="3143250" y="381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143250"/>
            <a:ext cx="3143250" cy="1047750"/>
          </a:xfrm>
          <a:custGeom>
            <a:avLst/>
            <a:gdLst/>
            <a:ahLst/>
            <a:cxnLst/>
            <a:rect l="l" t="t" r="r" b="b"/>
            <a:pathLst>
              <a:path w="3143250" h="1047750">
                <a:moveTo>
                  <a:pt x="0" y="0"/>
                </a:moveTo>
                <a:lnTo>
                  <a:pt x="3143250" y="1047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333750"/>
            <a:ext cx="3143250" cy="2286000"/>
          </a:xfrm>
          <a:custGeom>
            <a:avLst/>
            <a:gdLst/>
            <a:ahLst/>
            <a:cxnLst/>
            <a:rect l="l" t="t" r="r" b="b"/>
            <a:pathLst>
              <a:path w="3143250" h="2286000">
                <a:moveTo>
                  <a:pt x="0" y="0"/>
                </a:moveTo>
                <a:lnTo>
                  <a:pt x="3143250" y="2286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9" name="Line 39"/>
          <p:cNvSpPr/>
          <p:nvPr/>
        </p:nvSpPr>
        <p:spPr>
          <a:xfrm>
            <a:off x="7429500" y="2857500"/>
            <a:ext cx="3143250" cy="2095500"/>
          </a:xfrm>
          <a:custGeom>
            <a:avLst/>
            <a:gdLst/>
            <a:ahLst/>
            <a:cxnLst/>
            <a:rect l="l" t="t" r="r" b="b"/>
            <a:pathLst>
              <a:path w="3143250" h="2095500">
                <a:moveTo>
                  <a:pt x="3143250" y="0"/>
                </a:moveTo>
                <a:lnTo>
                  <a:pt x="0" y="2095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0" name="Line 40"/>
          <p:cNvSpPr/>
          <p:nvPr/>
        </p:nvSpPr>
        <p:spPr>
          <a:xfrm>
            <a:off x="7429500" y="3048000"/>
            <a:ext cx="3143250" cy="2571750"/>
          </a:xfrm>
          <a:custGeom>
            <a:avLst/>
            <a:gdLst/>
            <a:ahLst/>
            <a:cxnLst/>
            <a:rect l="l" t="t" r="r" b="b"/>
            <a:pathLst>
              <a:path w="3143250" h="2571750">
                <a:moveTo>
                  <a:pt x="3143250" y="0"/>
                </a:moveTo>
                <a:lnTo>
                  <a:pt x="0" y="2571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1" name="TextBox 4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613586" cy="568928"/>
            <a:chOff x="457200" y="228600"/>
            <a:chExt cx="5613586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3964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Use Case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9013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2/5 · Seller submit → Admin verify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054872" y="1179671"/>
            <a:ext cx="20822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CardMarket · Listing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0832" y="2743200"/>
            <a:ext cx="524335" cy="1178528"/>
            <a:chOff x="880832" y="2743200"/>
            <a:chExt cx="524335" cy="1178528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0832" y="3672364"/>
              <a:ext cx="5243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Seller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95503" y="2743200"/>
            <a:ext cx="506993" cy="1178528"/>
            <a:chOff x="10795503" y="2743200"/>
            <a:chExt cx="506993" cy="1178528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95503" y="3672364"/>
              <a:ext cx="5069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Admin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714750" y="1714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493544" y="1918335"/>
            <a:ext cx="91891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Auction</a:t>
            </a:r>
          </a:p>
        </p:txBody>
      </p:sp>
      <p:sp>
        <p:nvSpPr>
          <p:cNvPr id="24" name="Ellipse 24"/>
          <p:cNvSpPr/>
          <p:nvPr/>
        </p:nvSpPr>
        <p:spPr>
          <a:xfrm>
            <a:off x="3714750" y="2476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473702" y="2680335"/>
            <a:ext cx="9585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Buy Now</a:t>
            </a:r>
          </a:p>
        </p:txBody>
      </p:sp>
      <p:sp>
        <p:nvSpPr>
          <p:cNvPr id="26" name="Ellipse 26"/>
          <p:cNvSpPr/>
          <p:nvPr/>
        </p:nvSpPr>
        <p:spPr>
          <a:xfrm>
            <a:off x="3714750" y="3238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164697" y="3442335"/>
            <a:ext cx="15766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Upload ảnh sản phẩm</a:t>
            </a:r>
          </a:p>
        </p:txBody>
      </p:sp>
      <p:sp>
        <p:nvSpPr>
          <p:cNvPr id="28" name="Ellipse 28"/>
          <p:cNvSpPr/>
          <p:nvPr/>
        </p:nvSpPr>
        <p:spPr>
          <a:xfrm>
            <a:off x="3714750" y="4000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185119" y="4204335"/>
            <a:ext cx="15357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Theo dõi submission</a:t>
            </a:r>
          </a:p>
        </p:txBody>
      </p:sp>
      <p:sp>
        <p:nvSpPr>
          <p:cNvPr id="30" name="Ellipse 30"/>
          <p:cNvSpPr/>
          <p:nvPr/>
        </p:nvSpPr>
        <p:spPr>
          <a:xfrm>
            <a:off x="3714750" y="4762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487672" y="4966335"/>
            <a:ext cx="9306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32" name="Ellipse 32"/>
          <p:cNvSpPr/>
          <p:nvPr/>
        </p:nvSpPr>
        <p:spPr>
          <a:xfrm>
            <a:off x="6000750" y="20955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6474836" y="2299335"/>
            <a:ext cx="15283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hàng chờ duyệt</a:t>
            </a:r>
          </a:p>
        </p:txBody>
      </p:sp>
      <p:sp>
        <p:nvSpPr>
          <p:cNvPr id="34" name="Ellipse 34"/>
          <p:cNvSpPr/>
          <p:nvPr/>
        </p:nvSpPr>
        <p:spPr>
          <a:xfrm>
            <a:off x="6000750" y="295275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644939" y="3156585"/>
            <a:ext cx="11881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 listing</a:t>
            </a:r>
          </a:p>
        </p:txBody>
      </p:sp>
      <p:sp>
        <p:nvSpPr>
          <p:cNvPr id="36" name="Ellipse 36"/>
          <p:cNvSpPr/>
          <p:nvPr/>
        </p:nvSpPr>
        <p:spPr>
          <a:xfrm>
            <a:off x="6000750" y="381000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708976" y="4013835"/>
            <a:ext cx="106004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Reject + lý do</a:t>
            </a:r>
          </a:p>
        </p:txBody>
      </p:sp>
      <p:sp>
        <p:nvSpPr>
          <p:cNvPr id="38" name="Ellipse 38"/>
          <p:cNvSpPr/>
          <p:nvPr/>
        </p:nvSpPr>
        <p:spPr>
          <a:xfrm>
            <a:off x="6000750" y="4667250"/>
            <a:ext cx="24765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438849" y="4871085"/>
            <a:ext cx="16003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listing trực tiếp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200025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0" y="104775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762250"/>
            <a:ext cx="2095500" cy="381000"/>
          </a:xfrm>
          <a:custGeom>
            <a:avLst/>
            <a:gdLst/>
            <a:ahLst/>
            <a:cxnLst/>
            <a:rect l="l" t="t" r="r" b="b"/>
            <a:pathLst>
              <a:path w="2095500" h="381000">
                <a:moveTo>
                  <a:pt x="0" y="381000"/>
                </a:moveTo>
                <a:lnTo>
                  <a:pt x="209550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23850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0" y="0"/>
                </a:moveTo>
                <a:lnTo>
                  <a:pt x="2095500" y="285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333750"/>
            <a:ext cx="2095500" cy="952500"/>
          </a:xfrm>
          <a:custGeom>
            <a:avLst/>
            <a:gdLst/>
            <a:ahLst/>
            <a:cxnLst/>
            <a:rect l="l" t="t" r="r" b="b"/>
            <a:pathLst>
              <a:path w="2095500" h="952500">
                <a:moveTo>
                  <a:pt x="0" y="0"/>
                </a:moveTo>
                <a:lnTo>
                  <a:pt x="2095500" y="952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429000"/>
            <a:ext cx="2095500" cy="1619250"/>
          </a:xfrm>
          <a:custGeom>
            <a:avLst/>
            <a:gdLst/>
            <a:ahLst/>
            <a:cxnLst/>
            <a:rect l="l" t="t" r="r" b="b"/>
            <a:pathLst>
              <a:path w="2095500" h="1619250">
                <a:moveTo>
                  <a:pt x="0" y="0"/>
                </a:moveTo>
                <a:lnTo>
                  <a:pt x="2095500" y="1619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5" name="Line 45"/>
          <p:cNvSpPr/>
          <p:nvPr/>
        </p:nvSpPr>
        <p:spPr>
          <a:xfrm>
            <a:off x="8477250" y="2381250"/>
            <a:ext cx="2095500" cy="476250"/>
          </a:xfrm>
          <a:custGeom>
            <a:avLst/>
            <a:gdLst/>
            <a:ahLst/>
            <a:cxnLst/>
            <a:rect l="l" t="t" r="r" b="b"/>
            <a:pathLst>
              <a:path w="2095500" h="476250">
                <a:moveTo>
                  <a:pt x="2095500" y="4762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6" name="Line 46"/>
          <p:cNvSpPr/>
          <p:nvPr/>
        </p:nvSpPr>
        <p:spPr>
          <a:xfrm>
            <a:off x="8477250" y="2952750"/>
            <a:ext cx="2095500" cy="285750"/>
          </a:xfrm>
          <a:custGeom>
            <a:avLst/>
            <a:gdLst/>
            <a:ahLst/>
            <a:cxnLst/>
            <a:rect l="l" t="t" r="r" b="b"/>
            <a:pathLst>
              <a:path w="2095500" h="285750">
                <a:moveTo>
                  <a:pt x="2095500" y="0"/>
                </a:moveTo>
                <a:lnTo>
                  <a:pt x="0" y="285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7" name="Line 47"/>
          <p:cNvSpPr/>
          <p:nvPr/>
        </p:nvSpPr>
        <p:spPr>
          <a:xfrm>
            <a:off x="8477250" y="304800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2095500" y="0"/>
                </a:moveTo>
                <a:lnTo>
                  <a:pt x="0" y="1047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8" name="Line 48"/>
          <p:cNvSpPr/>
          <p:nvPr/>
        </p:nvSpPr>
        <p:spPr>
          <a:xfrm>
            <a:off x="8477250" y="3143250"/>
            <a:ext cx="2095500" cy="1809750"/>
          </a:xfrm>
          <a:custGeom>
            <a:avLst/>
            <a:gdLst/>
            <a:ahLst/>
            <a:cxnLst/>
            <a:rect l="l" t="t" r="r" b="b"/>
            <a:pathLst>
              <a:path w="2095500" h="1809750">
                <a:moveTo>
                  <a:pt x="2095500" y="0"/>
                </a:moveTo>
                <a:lnTo>
                  <a:pt x="0" y="1809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091855" cy="568928"/>
            <a:chOff x="457200" y="228600"/>
            <a:chExt cx="5091855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8746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Use Case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975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3/5 · Deposit → PlaceBid → Realtime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054872" y="1179671"/>
            <a:ext cx="208225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CardMarket · Bidding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4929" y="2552700"/>
            <a:ext cx="516142" cy="1178528"/>
            <a:chOff x="884929" y="2552700"/>
            <a:chExt cx="516142" cy="1178528"/>
          </a:xfrm>
        </p:grpSpPr>
        <p:sp>
          <p:nvSpPr>
            <p:cNvPr id="8" name="Ellipse 8"/>
            <p:cNvSpPr/>
            <p:nvPr/>
          </p:nvSpPr>
          <p:spPr>
            <a:xfrm>
              <a:off x="1028700" y="2552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781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914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124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929" y="3481864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22910" y="2933700"/>
            <a:ext cx="652181" cy="1178528"/>
            <a:chOff x="10722910" y="2933700"/>
            <a:chExt cx="652181" cy="1178528"/>
          </a:xfrm>
        </p:grpSpPr>
        <p:sp>
          <p:nvSpPr>
            <p:cNvPr id="15" name="Ellipse 15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22910" y="3862864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4407237" y="1823085"/>
            <a:ext cx="10915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phiên live</a:t>
            </a:r>
          </a:p>
        </p:txBody>
      </p:sp>
      <p:sp>
        <p:nvSpPr>
          <p:cNvPr id="24" name="Ellipse 24"/>
          <p:cNvSpPr/>
          <p:nvPr/>
        </p:nvSpPr>
        <p:spPr>
          <a:xfrm>
            <a:off x="3619500" y="2381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58545" y="2585085"/>
            <a:ext cx="11889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6" name="Ellipse 26"/>
          <p:cNvSpPr/>
          <p:nvPr/>
        </p:nvSpPr>
        <p:spPr>
          <a:xfrm>
            <a:off x="3619500" y="3143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246216" y="3347085"/>
            <a:ext cx="1413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Đặt cọc (Deposit)</a:t>
            </a:r>
          </a:p>
        </p:txBody>
      </p:sp>
      <p:sp>
        <p:nvSpPr>
          <p:cNvPr id="28" name="Ellipse 28"/>
          <p:cNvSpPr/>
          <p:nvPr/>
        </p:nvSpPr>
        <p:spPr>
          <a:xfrm>
            <a:off x="3619500" y="3905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602861" y="4109085"/>
            <a:ext cx="700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30" name="Ellipse 30"/>
          <p:cNvSpPr/>
          <p:nvPr/>
        </p:nvSpPr>
        <p:spPr>
          <a:xfrm>
            <a:off x="3619500" y="4667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227014" y="4871085"/>
            <a:ext cx="1451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Theo dõi Watchlist</a:t>
            </a:r>
          </a:p>
        </p:txBody>
      </p:sp>
      <p:sp>
        <p:nvSpPr>
          <p:cNvPr id="32" name="Ellipse 32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118406" y="2204085"/>
            <a:ext cx="10031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Xác nhận cọc</a:t>
            </a:r>
          </a:p>
        </p:txBody>
      </p:sp>
      <p:sp>
        <p:nvSpPr>
          <p:cNvPr id="34" name="Ellipse 34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6831697" y="3156585"/>
            <a:ext cx="157660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Kiểm tra anti-fraud</a:t>
            </a:r>
          </a:p>
        </p:txBody>
      </p:sp>
      <p:sp>
        <p:nvSpPr>
          <p:cNvPr id="36" name="Ellipse 36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6912590" y="4109085"/>
            <a:ext cx="1414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Anti-snipe gia hạn</a:t>
            </a:r>
          </a:p>
        </p:txBody>
      </p:sp>
      <p:sp>
        <p:nvSpPr>
          <p:cNvPr id="38" name="Ellipse 38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6889947" y="5061585"/>
            <a:ext cx="14601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40" name="Line 40"/>
          <p:cNvSpPr/>
          <p:nvPr/>
        </p:nvSpPr>
        <p:spPr>
          <a:xfrm>
            <a:off x="1619250" y="1905000"/>
            <a:ext cx="2000250" cy="952500"/>
          </a:xfrm>
          <a:custGeom>
            <a:avLst/>
            <a:gdLst/>
            <a:ahLst/>
            <a:cxnLst/>
            <a:rect l="l" t="t" r="r" b="b"/>
            <a:pathLst>
              <a:path w="2000250" h="952500">
                <a:moveTo>
                  <a:pt x="0" y="952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1" name="Line 41"/>
          <p:cNvSpPr/>
          <p:nvPr/>
        </p:nvSpPr>
        <p:spPr>
          <a:xfrm>
            <a:off x="1619250" y="2667000"/>
            <a:ext cx="2000250" cy="285750"/>
          </a:xfrm>
          <a:custGeom>
            <a:avLst/>
            <a:gdLst/>
            <a:ahLst/>
            <a:cxnLst/>
            <a:rect l="l" t="t" r="r" b="b"/>
            <a:pathLst>
              <a:path w="2000250" h="285750">
                <a:moveTo>
                  <a:pt x="0" y="285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2" name="Line 42"/>
          <p:cNvSpPr/>
          <p:nvPr/>
        </p:nvSpPr>
        <p:spPr>
          <a:xfrm>
            <a:off x="1619250" y="3048000"/>
            <a:ext cx="2000250" cy="381000"/>
          </a:xfrm>
          <a:custGeom>
            <a:avLst/>
            <a:gdLst/>
            <a:ahLst/>
            <a:cxnLst/>
            <a:rect l="l" t="t" r="r" b="b"/>
            <a:pathLst>
              <a:path w="2000250" h="381000">
                <a:moveTo>
                  <a:pt x="0" y="0"/>
                </a:moveTo>
                <a:lnTo>
                  <a:pt x="2000250" y="381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3" name="Line 43"/>
          <p:cNvSpPr/>
          <p:nvPr/>
        </p:nvSpPr>
        <p:spPr>
          <a:xfrm>
            <a:off x="1619250" y="3143250"/>
            <a:ext cx="2000250" cy="1047750"/>
          </a:xfrm>
          <a:custGeom>
            <a:avLst/>
            <a:gdLst/>
            <a:ahLst/>
            <a:cxnLst/>
            <a:rect l="l" t="t" r="r" b="b"/>
            <a:pathLst>
              <a:path w="2000250" h="1047750">
                <a:moveTo>
                  <a:pt x="0" y="0"/>
                </a:moveTo>
                <a:lnTo>
                  <a:pt x="2000250" y="10477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4" name="Line 44"/>
          <p:cNvSpPr/>
          <p:nvPr/>
        </p:nvSpPr>
        <p:spPr>
          <a:xfrm>
            <a:off x="1619250" y="3238500"/>
            <a:ext cx="2000250" cy="1714500"/>
          </a:xfrm>
          <a:custGeom>
            <a:avLst/>
            <a:gdLst/>
            <a:ahLst/>
            <a:cxnLst/>
            <a:rect l="l" t="t" r="r" b="b"/>
            <a:pathLst>
              <a:path w="2000250" h="1714500">
                <a:moveTo>
                  <a:pt x="0" y="0"/>
                </a:moveTo>
                <a:lnTo>
                  <a:pt x="2000250" y="1714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5" name="Line 45"/>
          <p:cNvSpPr/>
          <p:nvPr/>
        </p:nvSpPr>
        <p:spPr>
          <a:xfrm>
            <a:off x="8953500" y="2286000"/>
            <a:ext cx="1619250" cy="762000"/>
          </a:xfrm>
          <a:custGeom>
            <a:avLst/>
            <a:gdLst/>
            <a:ahLst/>
            <a:cxnLst/>
            <a:rect l="l" t="t" r="r" b="b"/>
            <a:pathLst>
              <a:path w="1619250" h="762000">
                <a:moveTo>
                  <a:pt x="1619250" y="76200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6" name="Line 46"/>
          <p:cNvSpPr/>
          <p:nvPr/>
        </p:nvSpPr>
        <p:spPr>
          <a:xfrm>
            <a:off x="8953500" y="3238500"/>
            <a:ext cx="1619250" cy="9525"/>
          </a:xfrm>
          <a:custGeom>
            <a:avLst/>
            <a:gdLst/>
            <a:ahLst/>
            <a:cxnLst/>
            <a:rect l="l" t="t" r="r" b="b"/>
            <a:pathLst>
              <a:path w="1619250" h="9525">
                <a:moveTo>
                  <a:pt x="1619250" y="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7" name="Line 47"/>
          <p:cNvSpPr/>
          <p:nvPr/>
        </p:nvSpPr>
        <p:spPr>
          <a:xfrm>
            <a:off x="8953500" y="3333750"/>
            <a:ext cx="1619250" cy="857250"/>
          </a:xfrm>
          <a:custGeom>
            <a:avLst/>
            <a:gdLst/>
            <a:ahLst/>
            <a:cxnLst/>
            <a:rect l="l" t="t" r="r" b="b"/>
            <a:pathLst>
              <a:path w="1619250" h="857250">
                <a:moveTo>
                  <a:pt x="1619250" y="0"/>
                </a:moveTo>
                <a:lnTo>
                  <a:pt x="0" y="857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8" name="Line 48"/>
          <p:cNvSpPr/>
          <p:nvPr/>
        </p:nvSpPr>
        <p:spPr>
          <a:xfrm>
            <a:off x="8953500" y="3429000"/>
            <a:ext cx="1619250" cy="1714500"/>
          </a:xfrm>
          <a:custGeom>
            <a:avLst/>
            <a:gdLst/>
            <a:ahLst/>
            <a:cxnLst/>
            <a:rect l="l" t="t" r="r" b="b"/>
            <a:pathLst>
              <a:path w="1619250" h="1714500">
                <a:moveTo>
                  <a:pt x="1619250" y="0"/>
                </a:moveTo>
                <a:lnTo>
                  <a:pt x="0" y="1714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219434" cy="568928"/>
            <a:chOff x="457200" y="228600"/>
            <a:chExt cx="621943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60022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Use Case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990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4/5 · Finalize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667000" y="1047750"/>
            <a:ext cx="6858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4949069" y="1179671"/>
            <a:ext cx="229386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CardMarket · Checkout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4929" y="2266950"/>
            <a:ext cx="516142" cy="1178528"/>
            <a:chOff x="884929" y="2266950"/>
            <a:chExt cx="516142" cy="1178528"/>
          </a:xfrm>
        </p:grpSpPr>
        <p:sp>
          <p:nvSpPr>
            <p:cNvPr id="8" name="Ellipse 8"/>
            <p:cNvSpPr/>
            <p:nvPr/>
          </p:nvSpPr>
          <p:spPr>
            <a:xfrm>
              <a:off x="1028700" y="226695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4955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262890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283845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929" y="3196114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6910" y="4457700"/>
            <a:ext cx="652181" cy="1178528"/>
            <a:chOff x="816910" y="4457700"/>
            <a:chExt cx="652181" cy="1178528"/>
          </a:xfrm>
        </p:grpSpPr>
        <p:sp>
          <p:nvSpPr>
            <p:cNvPr id="15" name="Ellipse 15"/>
            <p:cNvSpPr/>
            <p:nvPr/>
          </p:nvSpPr>
          <p:spPr>
            <a:xfrm>
              <a:off x="1028700" y="4457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33333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43000" y="4686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33333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933450" y="4819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333333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9906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33333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43000" y="5029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33333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6910" y="5386864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673179" y="2933700"/>
            <a:ext cx="751643" cy="1178528"/>
            <a:chOff x="10673179" y="2933700"/>
            <a:chExt cx="751643" cy="1178528"/>
          </a:xfrm>
        </p:grpSpPr>
        <p:sp>
          <p:nvSpPr>
            <p:cNvPr id="22" name="Ellipse 22"/>
            <p:cNvSpPr/>
            <p:nvPr/>
          </p:nvSpPr>
          <p:spPr>
            <a:xfrm>
              <a:off x="10934700" y="29337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1049000" y="31623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839450" y="32956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08966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049000" y="35052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673179" y="3862864"/>
              <a:ext cx="751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Payment</a:t>
              </a:r>
            </a:p>
          </p:txBody>
        </p:sp>
      </p:grpSp>
      <p:sp>
        <p:nvSpPr>
          <p:cNvPr id="29" name="Ellipse 29"/>
          <p:cNvSpPr/>
          <p:nvPr/>
        </p:nvSpPr>
        <p:spPr>
          <a:xfrm>
            <a:off x="3619500" y="1619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16234" y="1823085"/>
            <a:ext cx="16735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thông báo thắng</a:t>
            </a:r>
          </a:p>
        </p:txBody>
      </p:sp>
      <p:sp>
        <p:nvSpPr>
          <p:cNvPr id="31" name="Ellipse 31"/>
          <p:cNvSpPr/>
          <p:nvPr/>
        </p:nvSpPr>
        <p:spPr>
          <a:xfrm>
            <a:off x="3619500" y="247650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191305" y="2680335"/>
            <a:ext cx="1523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Mở Payment Center</a:t>
            </a:r>
          </a:p>
        </p:txBody>
      </p:sp>
      <p:sp>
        <p:nvSpPr>
          <p:cNvPr id="33" name="Ellipse 33"/>
          <p:cNvSpPr/>
          <p:nvPr/>
        </p:nvSpPr>
        <p:spPr>
          <a:xfrm>
            <a:off x="3619500" y="33337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427525" y="3537585"/>
            <a:ext cx="10509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35" name="Ellipse 35"/>
          <p:cNvSpPr/>
          <p:nvPr/>
        </p:nvSpPr>
        <p:spPr>
          <a:xfrm>
            <a:off x="3619500" y="419100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4244401" y="4394835"/>
            <a:ext cx="14171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 PayPal</a:t>
            </a:r>
          </a:p>
        </p:txBody>
      </p:sp>
      <p:sp>
        <p:nvSpPr>
          <p:cNvPr id="37" name="Ellipse 37"/>
          <p:cNvSpPr/>
          <p:nvPr/>
        </p:nvSpPr>
        <p:spPr>
          <a:xfrm>
            <a:off x="3619500" y="5048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337914" y="5252085"/>
            <a:ext cx="12301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 COD</a:t>
            </a:r>
          </a:p>
        </p:txBody>
      </p:sp>
      <p:sp>
        <p:nvSpPr>
          <p:cNvPr id="39" name="Ellipse 39"/>
          <p:cNvSpPr/>
          <p:nvPr/>
        </p:nvSpPr>
        <p:spPr>
          <a:xfrm>
            <a:off x="6286500" y="2000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6849872" y="2204085"/>
            <a:ext cx="15402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41" name="Ellipse 41"/>
          <p:cNvSpPr/>
          <p:nvPr/>
        </p:nvSpPr>
        <p:spPr>
          <a:xfrm>
            <a:off x="6286500" y="29527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6723888" y="3156585"/>
            <a:ext cx="17922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43" name="Ellipse 43"/>
          <p:cNvSpPr/>
          <p:nvPr/>
        </p:nvSpPr>
        <p:spPr>
          <a:xfrm>
            <a:off x="6286500" y="39052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7085259" y="4109085"/>
            <a:ext cx="10694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Capture / IPN</a:t>
            </a:r>
          </a:p>
        </p:txBody>
      </p:sp>
      <p:sp>
        <p:nvSpPr>
          <p:cNvPr id="45" name="Ellipse 45"/>
          <p:cNvSpPr/>
          <p:nvPr/>
        </p:nvSpPr>
        <p:spPr>
          <a:xfrm>
            <a:off x="6286500" y="4857750"/>
            <a:ext cx="2667000" cy="5715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912590" y="5061585"/>
            <a:ext cx="14148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Ghi nhận hoàn tiền</a:t>
            </a:r>
          </a:p>
        </p:txBody>
      </p:sp>
      <p:sp>
        <p:nvSpPr>
          <p:cNvPr id="47" name="Line 47"/>
          <p:cNvSpPr/>
          <p:nvPr/>
        </p:nvSpPr>
        <p:spPr>
          <a:xfrm>
            <a:off x="1619250" y="1905000"/>
            <a:ext cx="2000250" cy="666750"/>
          </a:xfrm>
          <a:custGeom>
            <a:avLst/>
            <a:gdLst/>
            <a:ahLst/>
            <a:cxnLst/>
            <a:rect l="l" t="t" r="r" b="b"/>
            <a:pathLst>
              <a:path w="2000250" h="666750">
                <a:moveTo>
                  <a:pt x="0" y="6667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8" name="Line 48"/>
          <p:cNvSpPr/>
          <p:nvPr/>
        </p:nvSpPr>
        <p:spPr>
          <a:xfrm>
            <a:off x="1619250" y="2667000"/>
            <a:ext cx="2000250" cy="95250"/>
          </a:xfrm>
          <a:custGeom>
            <a:avLst/>
            <a:gdLst/>
            <a:ahLst/>
            <a:cxnLst/>
            <a:rect l="l" t="t" r="r" b="b"/>
            <a:pathLst>
              <a:path w="2000250" h="95250">
                <a:moveTo>
                  <a:pt x="0" y="0"/>
                </a:moveTo>
                <a:lnTo>
                  <a:pt x="2000250" y="95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9" name="Line 49"/>
          <p:cNvSpPr/>
          <p:nvPr/>
        </p:nvSpPr>
        <p:spPr>
          <a:xfrm>
            <a:off x="1619250" y="276225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0" y="0"/>
                </a:moveTo>
                <a:lnTo>
                  <a:pt x="2000250" y="857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0" name="Line 50"/>
          <p:cNvSpPr/>
          <p:nvPr/>
        </p:nvSpPr>
        <p:spPr>
          <a:xfrm>
            <a:off x="1619250" y="2857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0"/>
                </a:moveTo>
                <a:lnTo>
                  <a:pt x="2000250" y="1619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1" name="Line 51"/>
          <p:cNvSpPr/>
          <p:nvPr/>
        </p:nvSpPr>
        <p:spPr>
          <a:xfrm>
            <a:off x="1619250" y="2952750"/>
            <a:ext cx="2000250" cy="2381250"/>
          </a:xfrm>
          <a:custGeom>
            <a:avLst/>
            <a:gdLst/>
            <a:ahLst/>
            <a:cxnLst/>
            <a:rect l="l" t="t" r="r" b="b"/>
            <a:pathLst>
              <a:path w="2000250" h="2381250">
                <a:moveTo>
                  <a:pt x="0" y="0"/>
                </a:moveTo>
                <a:lnTo>
                  <a:pt x="2000250" y="2381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2" name="Line 52"/>
          <p:cNvSpPr/>
          <p:nvPr/>
        </p:nvSpPr>
        <p:spPr>
          <a:xfrm>
            <a:off x="1619250" y="2286000"/>
            <a:ext cx="2000250" cy="2476500"/>
          </a:xfrm>
          <a:custGeom>
            <a:avLst/>
            <a:gdLst/>
            <a:ahLst/>
            <a:cxnLst/>
            <a:rect l="l" t="t" r="r" b="b"/>
            <a:pathLst>
              <a:path w="2000250" h="2476500">
                <a:moveTo>
                  <a:pt x="0" y="247650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3" name="Line 53"/>
          <p:cNvSpPr/>
          <p:nvPr/>
        </p:nvSpPr>
        <p:spPr>
          <a:xfrm>
            <a:off x="1619250" y="3238500"/>
            <a:ext cx="2000250" cy="1619250"/>
          </a:xfrm>
          <a:custGeom>
            <a:avLst/>
            <a:gdLst/>
            <a:ahLst/>
            <a:cxnLst/>
            <a:rect l="l" t="t" r="r" b="b"/>
            <a:pathLst>
              <a:path w="2000250" h="1619250">
                <a:moveTo>
                  <a:pt x="0" y="1619250"/>
                </a:moveTo>
                <a:lnTo>
                  <a:pt x="200025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4" name="Line 54"/>
          <p:cNvSpPr/>
          <p:nvPr/>
        </p:nvSpPr>
        <p:spPr>
          <a:xfrm>
            <a:off x="8953500" y="3048000"/>
            <a:ext cx="1619250" cy="1143000"/>
          </a:xfrm>
          <a:custGeom>
            <a:avLst/>
            <a:gdLst/>
            <a:ahLst/>
            <a:cxnLst/>
            <a:rect l="l" t="t" r="r" b="b"/>
            <a:pathLst>
              <a:path w="1619250" h="1143000">
                <a:moveTo>
                  <a:pt x="1619250" y="0"/>
                </a:moveTo>
                <a:lnTo>
                  <a:pt x="0" y="1143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55" name="Line 55"/>
          <p:cNvSpPr/>
          <p:nvPr/>
        </p:nvSpPr>
        <p:spPr>
          <a:xfrm>
            <a:off x="8953500" y="3238500"/>
            <a:ext cx="1619250" cy="1905000"/>
          </a:xfrm>
          <a:custGeom>
            <a:avLst/>
            <a:gdLst/>
            <a:ahLst/>
            <a:cxnLst/>
            <a:rect l="l" t="t" r="r" b="b"/>
            <a:pathLst>
              <a:path w="1619250" h="1905000">
                <a:moveTo>
                  <a:pt x="161925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grpSp>
        <p:nvGrpSpPr>
          <p:cNvPr id="58" name="Group 5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399833" cy="568928"/>
            <a:chOff x="457200" y="228600"/>
            <a:chExt cx="5399833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81258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Use Case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5177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5/5 · Add to cart → Invoice → Thanh toán (7 ngày)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2857500" y="1047750"/>
            <a:ext cx="6477000" cy="49530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lgDash"/>
          </a:ln>
        </p:spPr>
      </p:sp>
      <p:sp>
        <p:nvSpPr>
          <p:cNvPr id="7" name="TextBox 7"/>
          <p:cNvSpPr txBox="1"/>
          <p:nvPr/>
        </p:nvSpPr>
        <p:spPr>
          <a:xfrm>
            <a:off x="5004811" y="1179671"/>
            <a:ext cx="218237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CardMarket · Buy Now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84929" y="2743200"/>
            <a:ext cx="516142" cy="1178528"/>
            <a:chOff x="884929" y="2743200"/>
            <a:chExt cx="516142" cy="1178528"/>
          </a:xfrm>
        </p:grpSpPr>
        <p:sp>
          <p:nvSpPr>
            <p:cNvPr id="8" name="Ellipse 8"/>
            <p:cNvSpPr/>
            <p:nvPr/>
          </p:nvSpPr>
          <p:spPr>
            <a:xfrm>
              <a:off x="1028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3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90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84929" y="3672364"/>
              <a:ext cx="5161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Buyer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722910" y="2743200"/>
            <a:ext cx="652181" cy="1178528"/>
            <a:chOff x="10722910" y="2743200"/>
            <a:chExt cx="652181" cy="1178528"/>
          </a:xfrm>
        </p:grpSpPr>
        <p:sp>
          <p:nvSpPr>
            <p:cNvPr id="15" name="Ellipse 15"/>
            <p:cNvSpPr/>
            <p:nvPr/>
          </p:nvSpPr>
          <p:spPr>
            <a:xfrm>
              <a:off x="10934700" y="2743200"/>
              <a:ext cx="228600" cy="228600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1049000" y="297180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0839450" y="310515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08966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15240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1049000" y="3314700"/>
              <a:ext cx="152400" cy="285750"/>
            </a:xfrm>
            <a:custGeom>
              <a:avLst/>
              <a:gdLst/>
              <a:ahLst/>
              <a:cxnLst/>
              <a:rect l="l" t="t" r="r" b="b"/>
              <a:pathLst>
                <a:path w="152400" h="285750">
                  <a:moveTo>
                    <a:pt x="0" y="0"/>
                  </a:moveTo>
                  <a:lnTo>
                    <a:pt x="152400" y="285750"/>
                  </a:lnTo>
                </a:path>
              </a:pathLst>
            </a:custGeom>
            <a:noFill/>
            <a:ln w="19050">
              <a:solidFill>
                <a:srgbClr val="00000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722910" y="3672364"/>
              <a:ext cx="65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System</a:t>
              </a:r>
            </a:p>
          </p:txBody>
        </p:sp>
      </p:grpSp>
      <p:sp>
        <p:nvSpPr>
          <p:cNvPr id="22" name="Ellipse 22"/>
          <p:cNvSpPr/>
          <p:nvPr/>
        </p:nvSpPr>
        <p:spPr>
          <a:xfrm>
            <a:off x="4667250" y="1600200"/>
            <a:ext cx="28575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326671" y="1823085"/>
            <a:ext cx="1538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listing Buy Now</a:t>
            </a:r>
          </a:p>
        </p:txBody>
      </p:sp>
      <p:sp>
        <p:nvSpPr>
          <p:cNvPr id="24" name="Ellipse 24"/>
          <p:cNvSpPr/>
          <p:nvPr/>
        </p:nvSpPr>
        <p:spPr>
          <a:xfrm>
            <a:off x="4667250" y="2362200"/>
            <a:ext cx="28575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04151" y="2585085"/>
            <a:ext cx="15836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Thêm vào giỏ (Cart)</a:t>
            </a:r>
          </a:p>
        </p:txBody>
      </p:sp>
      <p:sp>
        <p:nvSpPr>
          <p:cNvPr id="26" name="Ellipse 26"/>
          <p:cNvSpPr/>
          <p:nvPr/>
        </p:nvSpPr>
        <p:spPr>
          <a:xfrm>
            <a:off x="4667250" y="3124200"/>
            <a:ext cx="28575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5287244" y="3347085"/>
            <a:ext cx="161751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hóa đơn buy_now</a:t>
            </a:r>
          </a:p>
        </p:txBody>
      </p:sp>
      <p:sp>
        <p:nvSpPr>
          <p:cNvPr id="28" name="Ellipse 28"/>
          <p:cNvSpPr/>
          <p:nvPr/>
        </p:nvSpPr>
        <p:spPr>
          <a:xfrm>
            <a:off x="4667250" y="3886200"/>
            <a:ext cx="28575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145951" y="4109085"/>
            <a:ext cx="19000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 trong 7 ngày</a:t>
            </a:r>
          </a:p>
        </p:txBody>
      </p:sp>
      <p:sp>
        <p:nvSpPr>
          <p:cNvPr id="30" name="Ellipse 30"/>
          <p:cNvSpPr/>
          <p:nvPr/>
        </p:nvSpPr>
        <p:spPr>
          <a:xfrm>
            <a:off x="4667250" y="4648200"/>
            <a:ext cx="2857500" cy="609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275274" y="4871085"/>
            <a:ext cx="164145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/ hết hạn invoice</a:t>
            </a:r>
          </a:p>
        </p:txBody>
      </p:sp>
      <p:sp>
        <p:nvSpPr>
          <p:cNvPr id="32" name="Ellipse 32"/>
          <p:cNvSpPr/>
          <p:nvPr/>
        </p:nvSpPr>
        <p:spPr>
          <a:xfrm>
            <a:off x="4667250" y="5448300"/>
            <a:ext cx="2857500" cy="5334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05602" y="5633085"/>
            <a:ext cx="118079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thông báo</a:t>
            </a:r>
          </a:p>
        </p:txBody>
      </p:sp>
      <p:sp>
        <p:nvSpPr>
          <p:cNvPr id="34" name="Line 34"/>
          <p:cNvSpPr/>
          <p:nvPr/>
        </p:nvSpPr>
        <p:spPr>
          <a:xfrm>
            <a:off x="1619250" y="1905000"/>
            <a:ext cx="3048000" cy="1143000"/>
          </a:xfrm>
          <a:custGeom>
            <a:avLst/>
            <a:gdLst/>
            <a:ahLst/>
            <a:cxnLst/>
            <a:rect l="l" t="t" r="r" b="b"/>
            <a:pathLst>
              <a:path w="3048000" h="1143000">
                <a:moveTo>
                  <a:pt x="0" y="114300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5" name="Line 35"/>
          <p:cNvSpPr/>
          <p:nvPr/>
        </p:nvSpPr>
        <p:spPr>
          <a:xfrm>
            <a:off x="1619250" y="2667000"/>
            <a:ext cx="3048000" cy="476250"/>
          </a:xfrm>
          <a:custGeom>
            <a:avLst/>
            <a:gdLst/>
            <a:ahLst/>
            <a:cxnLst/>
            <a:rect l="l" t="t" r="r" b="b"/>
            <a:pathLst>
              <a:path w="3048000" h="476250">
                <a:moveTo>
                  <a:pt x="0" y="476250"/>
                </a:moveTo>
                <a:lnTo>
                  <a:pt x="3048000" y="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6" name="Line 36"/>
          <p:cNvSpPr/>
          <p:nvPr/>
        </p:nvSpPr>
        <p:spPr>
          <a:xfrm>
            <a:off x="1619250" y="3238500"/>
            <a:ext cx="3048000" cy="190500"/>
          </a:xfrm>
          <a:custGeom>
            <a:avLst/>
            <a:gdLst/>
            <a:ahLst/>
            <a:cxnLst/>
            <a:rect l="l" t="t" r="r" b="b"/>
            <a:pathLst>
              <a:path w="3048000" h="190500">
                <a:moveTo>
                  <a:pt x="0" y="0"/>
                </a:moveTo>
                <a:lnTo>
                  <a:pt x="3048000" y="190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7" name="Line 37"/>
          <p:cNvSpPr/>
          <p:nvPr/>
        </p:nvSpPr>
        <p:spPr>
          <a:xfrm>
            <a:off x="1619250" y="3333750"/>
            <a:ext cx="3048000" cy="857250"/>
          </a:xfrm>
          <a:custGeom>
            <a:avLst/>
            <a:gdLst/>
            <a:ahLst/>
            <a:cxnLst/>
            <a:rect l="l" t="t" r="r" b="b"/>
            <a:pathLst>
              <a:path w="3048000" h="857250">
                <a:moveTo>
                  <a:pt x="0" y="0"/>
                </a:moveTo>
                <a:lnTo>
                  <a:pt x="3048000" y="85725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8" name="Line 38"/>
          <p:cNvSpPr/>
          <p:nvPr/>
        </p:nvSpPr>
        <p:spPr>
          <a:xfrm>
            <a:off x="1619250" y="342900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0" y="0"/>
                </a:moveTo>
                <a:lnTo>
                  <a:pt x="3048000" y="1524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39" name="Line 39"/>
          <p:cNvSpPr/>
          <p:nvPr/>
        </p:nvSpPr>
        <p:spPr>
          <a:xfrm>
            <a:off x="7524750" y="2857500"/>
            <a:ext cx="3048000" cy="571500"/>
          </a:xfrm>
          <a:custGeom>
            <a:avLst/>
            <a:gdLst/>
            <a:ahLst/>
            <a:cxnLst/>
            <a:rect l="l" t="t" r="r" b="b"/>
            <a:pathLst>
              <a:path w="3048000" h="571500">
                <a:moveTo>
                  <a:pt x="3048000" y="0"/>
                </a:moveTo>
                <a:lnTo>
                  <a:pt x="0" y="571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0" name="Line 40"/>
          <p:cNvSpPr/>
          <p:nvPr/>
        </p:nvSpPr>
        <p:spPr>
          <a:xfrm>
            <a:off x="7524750" y="304800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3048000" y="0"/>
                </a:moveTo>
                <a:lnTo>
                  <a:pt x="0" y="19050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sp>
        <p:nvSpPr>
          <p:cNvPr id="41" name="Line 41"/>
          <p:cNvSpPr/>
          <p:nvPr/>
        </p:nvSpPr>
        <p:spPr>
          <a:xfrm>
            <a:off x="7524750" y="3238500"/>
            <a:ext cx="3048000" cy="2476500"/>
          </a:xfrm>
          <a:custGeom>
            <a:avLst/>
            <a:gdLst/>
            <a:ahLst/>
            <a:cxnLst/>
            <a:rect l="l" t="t" r="r" b="b"/>
            <a:pathLst>
              <a:path w="3048000" h="2476500">
                <a:moveTo>
                  <a:pt x="3048000" y="0"/>
                </a:moveTo>
                <a:lnTo>
                  <a:pt x="0" y="2476500"/>
                </a:lnTo>
              </a:path>
            </a:pathLst>
          </a:custGeom>
          <a:noFill/>
          <a:ln w="11430">
            <a:solidFill>
              <a:srgbClr val="333333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42" name="TextBox 42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887202" cy="568928"/>
            <a:chOff x="457200" y="228600"/>
            <a:chExt cx="4887202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67003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/ Đăng nhập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37707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1/5 · Dual cookie: User vs Admin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2172934" y="948214"/>
            <a:ext cx="416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3667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42875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619250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838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9145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3949" y="2023110"/>
            <a:ext cx="12546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/ Login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295525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6003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2076450" y="267652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2196727" y="2906078"/>
            <a:ext cx="3690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Loại?</a:t>
            </a:r>
          </a:p>
        </p:txBody>
      </p:sp>
      <p:sp>
        <p:nvSpPr>
          <p:cNvPr id="24" name="Line 24"/>
          <p:cNvSpPr/>
          <p:nvPr/>
        </p:nvSpPr>
        <p:spPr>
          <a:xfrm>
            <a:off x="2686050" y="2981325"/>
            <a:ext cx="2266950" cy="9525"/>
          </a:xfrm>
          <a:custGeom>
            <a:avLst/>
            <a:gdLst/>
            <a:ahLst/>
            <a:cxnLst/>
            <a:rect l="l" t="t" r="r" b="b"/>
            <a:pathLst>
              <a:path w="2266950" h="9525">
                <a:moveTo>
                  <a:pt x="0" y="0"/>
                </a:moveTo>
                <a:lnTo>
                  <a:pt x="22669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933950" y="2943225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423666" y="2791778"/>
            <a:ext cx="3260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User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953000" y="27908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211943" y="2899410"/>
            <a:ext cx="1577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credential</a:t>
            </a:r>
          </a:p>
        </p:txBody>
      </p:sp>
      <p:sp>
        <p:nvSpPr>
          <p:cNvPr id="29" name="Line 29"/>
          <p:cNvSpPr/>
          <p:nvPr/>
        </p:nvSpPr>
        <p:spPr>
          <a:xfrm>
            <a:off x="6000750" y="3171825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5962650" y="3552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953000" y="362902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353035" y="3737610"/>
            <a:ext cx="12954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User cookie</a:t>
            </a:r>
          </a:p>
        </p:txBody>
      </p:sp>
      <p:sp>
        <p:nvSpPr>
          <p:cNvPr id="33" name="Line 33"/>
          <p:cNvSpPr/>
          <p:nvPr/>
        </p:nvSpPr>
        <p:spPr>
          <a:xfrm>
            <a:off x="6000750" y="4010025"/>
            <a:ext cx="9525" cy="466725"/>
          </a:xfrm>
          <a:custGeom>
            <a:avLst/>
            <a:gdLst/>
            <a:ahLst/>
            <a:cxnLst/>
            <a:rect l="l" t="t" r="r" b="b"/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4" name="Polygon 34"/>
          <p:cNvSpPr/>
          <p:nvPr/>
        </p:nvSpPr>
        <p:spPr>
          <a:xfrm>
            <a:off x="59626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49530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5166513" y="4642485"/>
            <a:ext cx="16684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Redirect trang User</a:t>
            </a:r>
          </a:p>
        </p:txBody>
      </p:sp>
      <p:sp>
        <p:nvSpPr>
          <p:cNvPr id="37" name="Line 37"/>
          <p:cNvSpPr/>
          <p:nvPr/>
        </p:nvSpPr>
        <p:spPr>
          <a:xfrm>
            <a:off x="60007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58864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39" name="Ellipse 39"/>
          <p:cNvSpPr/>
          <p:nvPr/>
        </p:nvSpPr>
        <p:spPr>
          <a:xfrm>
            <a:off x="59436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2381250" y="3286125"/>
            <a:ext cx="6191250" cy="523875"/>
          </a:xfrm>
          <a:custGeom>
            <a:avLst/>
            <a:gdLst/>
            <a:ahLst/>
            <a:cxnLst/>
            <a:rect l="l" t="t" r="r" b="b"/>
            <a:pathLst>
              <a:path w="6191250" h="523875">
                <a:moveTo>
                  <a:pt x="0" y="0"/>
                </a:moveTo>
                <a:lnTo>
                  <a:pt x="0" y="523875"/>
                </a:lnTo>
                <a:lnTo>
                  <a:pt x="6191250" y="5238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8553450" y="3771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661666" y="3553778"/>
            <a:ext cx="396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572500" y="36195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9095241" y="3728085"/>
            <a:ext cx="1050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Login /Admin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40005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4457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572500" y="4533900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8930183" y="4642485"/>
            <a:ext cx="13801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Set Admin cookie</a:t>
            </a:r>
          </a:p>
        </p:txBody>
      </p:sp>
      <p:sp>
        <p:nvSpPr>
          <p:cNvPr id="49" name="Line 49"/>
          <p:cNvSpPr/>
          <p:nvPr/>
        </p:nvSpPr>
        <p:spPr>
          <a:xfrm>
            <a:off x="9620250" y="4914900"/>
            <a:ext cx="9525" cy="561975"/>
          </a:xfrm>
          <a:custGeom>
            <a:avLst/>
            <a:gdLst/>
            <a:ahLst/>
            <a:cxnLst/>
            <a:rect l="l" t="t" r="r" b="b"/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Ellipse 50"/>
          <p:cNvSpPr/>
          <p:nvPr/>
        </p:nvSpPr>
        <p:spPr>
          <a:xfrm>
            <a:off x="9505950" y="5553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1" name="Ellipse 51"/>
          <p:cNvSpPr/>
          <p:nvPr/>
        </p:nvSpPr>
        <p:spPr>
          <a:xfrm>
            <a:off x="9563100" y="5610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1428750" y="4953000"/>
            <a:ext cx="19050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10086" y="5098256"/>
            <a:ext cx="94232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Dual session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42316" y="5315902"/>
            <a:ext cx="10778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333333"/>
                </a:solidFill>
                <a:latin typeface="+mn-lt"/>
                <a:ea typeface="+mn-ea"/>
                <a:cs typeface="+mn-cs"/>
              </a:rPr>
              <a:t>2 cookie độc lập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520690" cy="568928"/>
            <a:chOff x="457200" y="228600"/>
            <a:chExt cx="55206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3035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bán &amp; Duyệt listing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435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2/5 · confirming → Approve/Reject → live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19082" y="948214"/>
            <a:ext cx="5243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Seller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747253" y="948214"/>
            <a:ext cx="5069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Admin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941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758757" y="1880235"/>
            <a:ext cx="12449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Điền form /Sell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62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40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76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08708" y="2594610"/>
            <a:ext cx="11450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Submit listing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7652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638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76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843082" y="2594610"/>
            <a:ext cx="1934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status confirming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76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257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33375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90637" y="3451860"/>
            <a:ext cx="12392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Duyệt hàng chờ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7338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1719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66765" y="44015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OK?</a:t>
            </a:r>
          </a:p>
        </p:txBody>
      </p:sp>
      <p:sp>
        <p:nvSpPr>
          <p:cNvPr id="36" name="Freeform 36"/>
          <p:cNvSpPr/>
          <p:nvPr/>
        </p:nvSpPr>
        <p:spPr>
          <a:xfrm>
            <a:off x="2857500" y="3619500"/>
            <a:ext cx="2647950" cy="857250"/>
          </a:xfrm>
          <a:custGeom>
            <a:avLst/>
            <a:gdLst/>
            <a:ahLst/>
            <a:cxnLst/>
            <a:rect l="l" t="t" r="r" b="b"/>
            <a:pathLst>
              <a:path w="2647950" h="857250">
                <a:moveTo>
                  <a:pt x="26479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3233166" y="4268152"/>
            <a:ext cx="4458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Reject</a:t>
            </a:r>
          </a:p>
        </p:txBody>
      </p:sp>
      <p:sp>
        <p:nvSpPr>
          <p:cNvPr id="39" name="Rectangle 39"/>
          <p:cNvSpPr/>
          <p:nvPr/>
        </p:nvSpPr>
        <p:spPr>
          <a:xfrm>
            <a:off x="1428750" y="3333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659865" y="3451860"/>
            <a:ext cx="14427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Nhận lý do từ chối</a:t>
            </a:r>
          </a:p>
        </p:txBody>
      </p:sp>
      <p:sp>
        <p:nvSpPr>
          <p:cNvPr id="41" name="Freeform 41"/>
          <p:cNvSpPr/>
          <p:nvPr/>
        </p:nvSpPr>
        <p:spPr>
          <a:xfrm>
            <a:off x="2381250" y="3048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000000"/>
            </a:solidFill>
            <a:custDash>
              <a:ds d="333333" sp="250000"/>
            </a:custDash>
          </a:ln>
        </p:spPr>
      </p:sp>
      <p:sp>
        <p:nvSpPr>
          <p:cNvPr id="42" name="TextBox 42"/>
          <p:cNvSpPr txBox="1"/>
          <p:nvPr/>
        </p:nvSpPr>
        <p:spPr>
          <a:xfrm>
            <a:off x="947166" y="3029902"/>
            <a:ext cx="8143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Sửa &amp; gửi lại</a:t>
            </a:r>
          </a:p>
        </p:txBody>
      </p:sp>
      <p:sp>
        <p:nvSpPr>
          <p:cNvPr id="43" name="Line 43"/>
          <p:cNvSpPr/>
          <p:nvPr/>
        </p:nvSpPr>
        <p:spPr>
          <a:xfrm>
            <a:off x="5810250" y="4781550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5772150" y="5114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995416" y="4934902"/>
            <a:ext cx="5592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762500" y="5191125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474993" y="5309235"/>
            <a:ext cx="6705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Approve</a:t>
            </a:r>
          </a:p>
        </p:txBody>
      </p:sp>
      <p:sp>
        <p:nvSpPr>
          <p:cNvPr id="48" name="Line 48"/>
          <p:cNvSpPr/>
          <p:nvPr/>
        </p:nvSpPr>
        <p:spPr>
          <a:xfrm>
            <a:off x="6858000" y="5391150"/>
            <a:ext cx="1447800" cy="9525"/>
          </a:xfrm>
          <a:custGeom>
            <a:avLst/>
            <a:gdLst/>
            <a:ahLst/>
            <a:cxnLst/>
            <a:rect l="l" t="t" r="r" b="b"/>
            <a:pathLst>
              <a:path w="1447800" h="9525">
                <a:moveTo>
                  <a:pt x="0" y="0"/>
                </a:moveTo>
                <a:lnTo>
                  <a:pt x="14478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9" name="Polygon 49"/>
          <p:cNvSpPr/>
          <p:nvPr/>
        </p:nvSpPr>
        <p:spPr>
          <a:xfrm>
            <a:off x="8305800" y="5353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8382000" y="5191125"/>
            <a:ext cx="2476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8973834" y="5309235"/>
            <a:ext cx="129283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scheduled / live</a:t>
            </a:r>
          </a:p>
        </p:txBody>
      </p:sp>
      <p:sp>
        <p:nvSpPr>
          <p:cNvPr id="52" name="Line 52"/>
          <p:cNvSpPr/>
          <p:nvPr/>
        </p:nvSpPr>
        <p:spPr>
          <a:xfrm>
            <a:off x="9620250" y="5591175"/>
            <a:ext cx="9525" cy="238125"/>
          </a:xfrm>
          <a:custGeom>
            <a:avLst/>
            <a:gdLst/>
            <a:ahLst/>
            <a:cxnLst/>
            <a:rect l="l" t="t" r="r" b="b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9582150" y="5829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Ellipse 54"/>
          <p:cNvSpPr/>
          <p:nvPr/>
        </p:nvSpPr>
        <p:spPr>
          <a:xfrm>
            <a:off x="9505950" y="598170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5" name="Ellipse 55"/>
          <p:cNvSpPr/>
          <p:nvPr/>
        </p:nvSpPr>
        <p:spPr>
          <a:xfrm>
            <a:off x="9563100" y="603885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58" name="Group 5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4997790" cy="568928"/>
            <a:chOff x="457200" y="228600"/>
            <a:chExt cx="4997790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806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Đăng ký đấu giá &amp; Bid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526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3/5 · Deposit → Bid → SignalR / Anti-fraud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9455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33905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510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764119" y="948214"/>
            <a:ext cx="76001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Realtime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350270" y="1870710"/>
            <a:ext cx="12047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phiên live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328752" y="253746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Đăng ký đấu giá</a:t>
            </a:r>
          </a:p>
        </p:txBody>
      </p:sp>
      <p:sp>
        <p:nvSpPr>
          <p:cNvPr id="27" name="Line 27"/>
          <p:cNvSpPr/>
          <p:nvPr/>
        </p:nvSpPr>
        <p:spPr>
          <a:xfrm>
            <a:off x="2905125" y="261937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37338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81000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111251" y="2537460"/>
            <a:ext cx="13024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Initiate Deposit</a:t>
            </a:r>
          </a:p>
        </p:txBody>
      </p:sp>
      <p:sp>
        <p:nvSpPr>
          <p:cNvPr id="31" name="Line 31"/>
          <p:cNvSpPr/>
          <p:nvPr/>
        </p:nvSpPr>
        <p:spPr>
          <a:xfrm>
            <a:off x="476250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472440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3972151" y="3347085"/>
            <a:ext cx="15806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Capture cọc</a:t>
            </a:r>
          </a:p>
        </p:txBody>
      </p:sp>
      <p:sp>
        <p:nvSpPr>
          <p:cNvPr id="35" name="Line 35"/>
          <p:cNvSpPr/>
          <p:nvPr/>
        </p:nvSpPr>
        <p:spPr>
          <a:xfrm>
            <a:off x="5715000" y="342900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6591300" y="3390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6667500" y="32385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695357" y="3347085"/>
            <a:ext cx="18492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Registration approved</a:t>
            </a:r>
          </a:p>
        </p:txBody>
      </p:sp>
      <p:sp>
        <p:nvSpPr>
          <p:cNvPr id="39" name="Line 39"/>
          <p:cNvSpPr/>
          <p:nvPr/>
        </p:nvSpPr>
        <p:spPr>
          <a:xfrm>
            <a:off x="1952625" y="2809875"/>
            <a:ext cx="9525" cy="923925"/>
          </a:xfrm>
          <a:custGeom>
            <a:avLst/>
            <a:gdLst/>
            <a:ahLst/>
            <a:cxnLst/>
            <a:rect l="l" t="t" r="r" b="b"/>
            <a:pathLst>
              <a:path w="9525" h="923925">
                <a:moveTo>
                  <a:pt x="0" y="0"/>
                </a:moveTo>
                <a:lnTo>
                  <a:pt x="0" y="923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1914525" y="3733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1000125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1560820" y="3910489"/>
            <a:ext cx="78361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Place Bid</a:t>
            </a:r>
          </a:p>
        </p:txBody>
      </p:sp>
      <p:sp>
        <p:nvSpPr>
          <p:cNvPr id="43" name="Line 43"/>
          <p:cNvSpPr/>
          <p:nvPr/>
        </p:nvSpPr>
        <p:spPr>
          <a:xfrm>
            <a:off x="2905125" y="4000500"/>
            <a:ext cx="3686175" cy="9525"/>
          </a:xfrm>
          <a:custGeom>
            <a:avLst/>
            <a:gdLst/>
            <a:ahLst/>
            <a:cxnLst/>
            <a:rect l="l" t="t" r="r" b="b"/>
            <a:pathLst>
              <a:path w="3686175" h="9525">
                <a:moveTo>
                  <a:pt x="0" y="0"/>
                </a:moveTo>
                <a:lnTo>
                  <a:pt x="36861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3962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67500" y="3810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805353" y="3918585"/>
            <a:ext cx="16292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Validate bid + fraud</a:t>
            </a:r>
          </a:p>
        </p:txBody>
      </p:sp>
      <p:sp>
        <p:nvSpPr>
          <p:cNvPr id="47" name="Line 47"/>
          <p:cNvSpPr/>
          <p:nvPr/>
        </p:nvSpPr>
        <p:spPr>
          <a:xfrm>
            <a:off x="7620000" y="41910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7581900" y="4591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7334250" y="476250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285750" y="0"/>
                </a:moveTo>
                <a:lnTo>
                  <a:pt x="571500" y="285750"/>
                </a:lnTo>
                <a:lnTo>
                  <a:pt x="285750" y="571500"/>
                </a:lnTo>
                <a:lnTo>
                  <a:pt x="0" y="28575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7375223" y="4973002"/>
            <a:ext cx="4895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Hợp lệ?</a:t>
            </a:r>
          </a:p>
        </p:txBody>
      </p:sp>
      <p:sp>
        <p:nvSpPr>
          <p:cNvPr id="51" name="Freeform 51"/>
          <p:cNvSpPr/>
          <p:nvPr/>
        </p:nvSpPr>
        <p:spPr>
          <a:xfrm>
            <a:off x="4762500" y="4191000"/>
            <a:ext cx="2571750" cy="857250"/>
          </a:xfrm>
          <a:custGeom>
            <a:avLst/>
            <a:gdLst/>
            <a:ahLst/>
            <a:cxnLst/>
            <a:rect l="l" t="t" r="r" b="b"/>
            <a:pathLst>
              <a:path w="2571750" h="857250">
                <a:moveTo>
                  <a:pt x="2571750" y="857250"/>
                </a:moveTo>
                <a:lnTo>
                  <a:pt x="0" y="85725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4947666" y="4839652"/>
            <a:ext cx="4886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Từ chối</a:t>
            </a:r>
          </a:p>
        </p:txBody>
      </p:sp>
      <p:sp>
        <p:nvSpPr>
          <p:cNvPr id="53" name="Line 53"/>
          <p:cNvSpPr/>
          <p:nvPr/>
        </p:nvSpPr>
        <p:spPr>
          <a:xfrm>
            <a:off x="7905750" y="5048250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4" name="Polygon 54"/>
          <p:cNvSpPr/>
          <p:nvPr/>
        </p:nvSpPr>
        <p:spPr>
          <a:xfrm>
            <a:off x="9258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186166" y="4839652"/>
            <a:ext cx="2048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OK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3345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520749" y="4966335"/>
            <a:ext cx="153250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SignalR đẩy giá mới</a:t>
            </a:r>
          </a:p>
        </p:txBody>
      </p:sp>
      <p:sp>
        <p:nvSpPr>
          <p:cNvPr id="58" name="Line 58"/>
          <p:cNvSpPr/>
          <p:nvPr/>
        </p:nvSpPr>
        <p:spPr>
          <a:xfrm>
            <a:off x="10287000" y="523875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9" name="Polygon 59"/>
          <p:cNvSpPr/>
          <p:nvPr/>
        </p:nvSpPr>
        <p:spPr>
          <a:xfrm>
            <a:off x="10248900" y="5638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9334500" y="5715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9429598" y="5823585"/>
            <a:ext cx="17148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Anti-snipe (nếu cần)</a:t>
            </a:r>
          </a:p>
        </p:txBody>
      </p:sp>
      <p:sp>
        <p:nvSpPr>
          <p:cNvPr id="62" name="Line 62"/>
          <p:cNvSpPr/>
          <p:nvPr/>
        </p:nvSpPr>
        <p:spPr>
          <a:xfrm>
            <a:off x="10287000" y="60960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63" name="Polygon 63"/>
          <p:cNvSpPr/>
          <p:nvPr/>
        </p:nvSpPr>
        <p:spPr>
          <a:xfrm>
            <a:off x="10248900" y="6210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64" name="Ellipse 64"/>
          <p:cNvSpPr/>
          <p:nvPr/>
        </p:nvSpPr>
        <p:spPr>
          <a:xfrm>
            <a:off x="10172700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5" name="Ellipse 65"/>
          <p:cNvSpPr/>
          <p:nvPr/>
        </p:nvSpPr>
        <p:spPr>
          <a:xfrm>
            <a:off x="10229850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8" name="Group 68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6" name="TextBox 66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6126228" cy="568928"/>
            <a:chOff x="457200" y="228600"/>
            <a:chExt cx="6126228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590905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Kết thúc phiên &amp; Thanh toán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158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4/5 · Worker → Order → PayPal / COD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626535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9" name="Rectangle 9"/>
          <p:cNvSpPr/>
          <p:nvPr/>
        </p:nvSpPr>
        <p:spPr>
          <a:xfrm>
            <a:off x="333375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33375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456804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096000" y="857250"/>
            <a:ext cx="27622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6096000" y="857250"/>
            <a:ext cx="27622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101304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858250" y="857250"/>
            <a:ext cx="257175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8858250" y="857250"/>
            <a:ext cx="257175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808903" y="948214"/>
            <a:ext cx="6704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Kết quả</a:t>
            </a:r>
          </a:p>
        </p:txBody>
      </p:sp>
      <p:sp>
        <p:nvSpPr>
          <p:cNvPr id="18" name="Ellipse 18"/>
          <p:cNvSpPr/>
          <p:nvPr/>
        </p:nvSpPr>
        <p:spPr>
          <a:xfrm>
            <a:off x="1857375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1952625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0" name="Polygon 20"/>
          <p:cNvSpPr/>
          <p:nvPr/>
        </p:nvSpPr>
        <p:spPr>
          <a:xfrm>
            <a:off x="1914525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1000125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1422260" y="1870710"/>
            <a:ext cx="10607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Phiên hết giờ</a:t>
            </a:r>
          </a:p>
        </p:txBody>
      </p:sp>
      <p:sp>
        <p:nvSpPr>
          <p:cNvPr id="23" name="Line 23"/>
          <p:cNvSpPr/>
          <p:nvPr/>
        </p:nvSpPr>
        <p:spPr>
          <a:xfrm>
            <a:off x="1952625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1914525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000125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144295" y="2537460"/>
            <a:ext cx="16166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Finalization Worker</a:t>
            </a:r>
          </a:p>
        </p:txBody>
      </p:sp>
      <p:sp>
        <p:nvSpPr>
          <p:cNvPr id="27" name="Line 27"/>
          <p:cNvSpPr/>
          <p:nvPr/>
        </p:nvSpPr>
        <p:spPr>
          <a:xfrm>
            <a:off x="1952625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8" name="Polygon 28"/>
          <p:cNvSpPr/>
          <p:nvPr/>
        </p:nvSpPr>
        <p:spPr>
          <a:xfrm>
            <a:off x="1914525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1000125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012012" y="3356610"/>
            <a:ext cx="18812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Order auction_win</a:t>
            </a:r>
          </a:p>
        </p:txBody>
      </p:sp>
      <p:sp>
        <p:nvSpPr>
          <p:cNvPr id="31" name="Line 31"/>
          <p:cNvSpPr/>
          <p:nvPr/>
        </p:nvSpPr>
        <p:spPr>
          <a:xfrm>
            <a:off x="2905125" y="3438525"/>
            <a:ext cx="828675" cy="9525"/>
          </a:xfrm>
          <a:custGeom>
            <a:avLst/>
            <a:gdLst/>
            <a:ahLst/>
            <a:cxnLst/>
            <a:rect l="l" t="t" r="r" b="b"/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2" name="Polygon 32"/>
          <p:cNvSpPr/>
          <p:nvPr/>
        </p:nvSpPr>
        <p:spPr>
          <a:xfrm>
            <a:off x="3733800" y="3400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810000" y="323850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4096260" y="3356610"/>
            <a:ext cx="13324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Thông báo thắng</a:t>
            </a:r>
          </a:p>
        </p:txBody>
      </p:sp>
      <p:sp>
        <p:nvSpPr>
          <p:cNvPr id="35" name="Line 35"/>
          <p:cNvSpPr/>
          <p:nvPr/>
        </p:nvSpPr>
        <p:spPr>
          <a:xfrm>
            <a:off x="4762500" y="36385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6" name="Polygon 36"/>
          <p:cNvSpPr/>
          <p:nvPr/>
        </p:nvSpPr>
        <p:spPr>
          <a:xfrm>
            <a:off x="4724400" y="4019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810000" y="4095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4316875" y="4204335"/>
            <a:ext cx="8912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Mở /Order</a:t>
            </a:r>
          </a:p>
        </p:txBody>
      </p:sp>
      <p:sp>
        <p:nvSpPr>
          <p:cNvPr id="39" name="Line 39"/>
          <p:cNvSpPr/>
          <p:nvPr/>
        </p:nvSpPr>
        <p:spPr>
          <a:xfrm>
            <a:off x="4762500" y="44767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0" name="Polygon 40"/>
          <p:cNvSpPr/>
          <p:nvPr/>
        </p:nvSpPr>
        <p:spPr>
          <a:xfrm>
            <a:off x="4724400" y="4781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3810000" y="4857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4211056" y="4966335"/>
            <a:ext cx="11028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Chọn shipping</a:t>
            </a:r>
          </a:p>
        </p:txBody>
      </p:sp>
      <p:sp>
        <p:nvSpPr>
          <p:cNvPr id="43" name="Line 43"/>
          <p:cNvSpPr/>
          <p:nvPr/>
        </p:nvSpPr>
        <p:spPr>
          <a:xfrm>
            <a:off x="5715000" y="5048250"/>
            <a:ext cx="876300" cy="9525"/>
          </a:xfrm>
          <a:custGeom>
            <a:avLst/>
            <a:gdLst/>
            <a:ahLst/>
            <a:cxnLst/>
            <a:rect l="l" t="t" r="r" b="b"/>
            <a:pathLst>
              <a:path w="876300" h="9525">
                <a:moveTo>
                  <a:pt x="0" y="0"/>
                </a:moveTo>
                <a:lnTo>
                  <a:pt x="87630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4" name="Polygon 44"/>
          <p:cNvSpPr/>
          <p:nvPr/>
        </p:nvSpPr>
        <p:spPr>
          <a:xfrm>
            <a:off x="6591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6838950" y="4743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979996" y="497300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47" name="Line 47"/>
          <p:cNvSpPr/>
          <p:nvPr/>
        </p:nvSpPr>
        <p:spPr>
          <a:xfrm>
            <a:off x="7448550" y="5048250"/>
            <a:ext cx="1047750" cy="9525"/>
          </a:xfrm>
          <a:custGeom>
            <a:avLst/>
            <a:gdLst/>
            <a:ahLst/>
            <a:cxnLst/>
            <a:rect l="l" t="t" r="r" b="b"/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8" name="Polygon 48"/>
          <p:cNvSpPr/>
          <p:nvPr/>
        </p:nvSpPr>
        <p:spPr>
          <a:xfrm>
            <a:off x="8496300" y="50101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7709916" y="4839652"/>
            <a:ext cx="4499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</a:t>
            </a:r>
          </a:p>
        </p:txBody>
      </p:sp>
      <p:sp>
        <p:nvSpPr>
          <p:cNvPr id="50" name="Rectangle 50"/>
          <p:cNvSpPr/>
          <p:nvPr/>
        </p:nvSpPr>
        <p:spPr>
          <a:xfrm>
            <a:off x="8572500" y="485775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9138416" y="4966335"/>
            <a:ext cx="12494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Capture PayPal</a:t>
            </a:r>
          </a:p>
        </p:txBody>
      </p:sp>
      <p:sp>
        <p:nvSpPr>
          <p:cNvPr id="52" name="Freeform 52"/>
          <p:cNvSpPr/>
          <p:nvPr/>
        </p:nvSpPr>
        <p:spPr>
          <a:xfrm>
            <a:off x="7143750" y="5353050"/>
            <a:ext cx="1428750" cy="361950"/>
          </a:xfrm>
          <a:custGeom>
            <a:avLst/>
            <a:gdLst/>
            <a:ahLst/>
            <a:cxnLst/>
            <a:rect l="l" t="t" r="r" b="b"/>
            <a:pathLst>
              <a:path w="1428750" h="361950">
                <a:moveTo>
                  <a:pt x="0" y="0"/>
                </a:moveTo>
                <a:lnTo>
                  <a:pt x="0" y="361950"/>
                </a:lnTo>
                <a:lnTo>
                  <a:pt x="1428750" y="3619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3" name="Polygon 53"/>
          <p:cNvSpPr/>
          <p:nvPr/>
        </p:nvSpPr>
        <p:spPr>
          <a:xfrm>
            <a:off x="8553450" y="5676900"/>
            <a:ext cx="95250" cy="76200"/>
          </a:xfrm>
          <a:custGeom>
            <a:avLst/>
            <a:gdLst/>
            <a:ahLst/>
            <a:cxnLst/>
            <a:rect l="l" t="t" r="r" b="b"/>
            <a:pathLst>
              <a:path w="95250" h="76200">
                <a:moveTo>
                  <a:pt x="0" y="0"/>
                </a:moveTo>
                <a:lnTo>
                  <a:pt x="9525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328916" y="5506402"/>
            <a:ext cx="2869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COD</a:t>
            </a:r>
          </a:p>
        </p:txBody>
      </p:sp>
      <p:sp>
        <p:nvSpPr>
          <p:cNvPr id="55" name="Rectangle 55"/>
          <p:cNvSpPr/>
          <p:nvPr/>
        </p:nvSpPr>
        <p:spPr>
          <a:xfrm>
            <a:off x="8572500" y="5524500"/>
            <a:ext cx="238125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232307" y="5633085"/>
            <a:ext cx="10616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Ghi nhận COD</a:t>
            </a:r>
          </a:p>
        </p:txBody>
      </p:sp>
      <p:sp>
        <p:nvSpPr>
          <p:cNvPr id="57" name="Line 57"/>
          <p:cNvSpPr/>
          <p:nvPr/>
        </p:nvSpPr>
        <p:spPr>
          <a:xfrm>
            <a:off x="9763125" y="5905500"/>
            <a:ext cx="9525" cy="257175"/>
          </a:xfrm>
          <a:custGeom>
            <a:avLst/>
            <a:gdLst/>
            <a:ahLst/>
            <a:cxnLst/>
            <a:rect l="l" t="t" r="r" b="b"/>
            <a:pathLst>
              <a:path w="9525" h="257175">
                <a:moveTo>
                  <a:pt x="0" y="0"/>
                </a:moveTo>
                <a:lnTo>
                  <a:pt x="0" y="25717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8" name="Polygon 58"/>
          <p:cNvSpPr/>
          <p:nvPr/>
        </p:nvSpPr>
        <p:spPr>
          <a:xfrm>
            <a:off x="9725025" y="616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9648825" y="63150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60" name="Ellipse 60"/>
          <p:cNvSpPr/>
          <p:nvPr/>
        </p:nvSpPr>
        <p:spPr>
          <a:xfrm>
            <a:off x="9705975" y="63722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3" name="Group 63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1" name="TextBox 61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228600"/>
            <a:ext cx="5157194" cy="568928"/>
            <a:chOff x="457200" y="228600"/>
            <a:chExt cx="5157194" cy="568928"/>
          </a:xfrm>
        </p:grpSpPr>
        <p:sp>
          <p:nvSpPr>
            <p:cNvPr id="2" name="Rectangle 2"/>
            <p:cNvSpPr/>
            <p:nvPr/>
          </p:nvSpPr>
          <p:spPr>
            <a:xfrm>
              <a:off x="457200" y="228600"/>
              <a:ext cx="76200" cy="342900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4370" y="233362"/>
              <a:ext cx="47163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Activity — Buy Now (Mua ngay)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9323" y="548164"/>
              <a:ext cx="4935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Luồng chính 5/5 · Cart → Invoice → Thanh toán trong 7 ngày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571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71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123179" y="948214"/>
            <a:ext cx="51614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Buyer</a:t>
            </a:r>
          </a:p>
        </p:txBody>
      </p:sp>
      <p:sp>
        <p:nvSpPr>
          <p:cNvPr id="9" name="Rectangle 9"/>
          <p:cNvSpPr/>
          <p:nvPr/>
        </p:nvSpPr>
        <p:spPr>
          <a:xfrm>
            <a:off x="41910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1910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674660" y="948214"/>
            <a:ext cx="65218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System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810500" y="857250"/>
            <a:ext cx="3619500" cy="533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810500" y="857250"/>
            <a:ext cx="3619500" cy="342900"/>
          </a:xfrm>
          <a:prstGeom prst="rect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244429" y="948214"/>
            <a:ext cx="7516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Payment</a:t>
            </a:r>
          </a:p>
        </p:txBody>
      </p:sp>
      <p:sp>
        <p:nvSpPr>
          <p:cNvPr id="15" name="Ellipse 15"/>
          <p:cNvSpPr/>
          <p:nvPr/>
        </p:nvSpPr>
        <p:spPr>
          <a:xfrm>
            <a:off x="2286000" y="1333500"/>
            <a:ext cx="190500" cy="1905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2381250" y="1524000"/>
            <a:ext cx="9525" cy="161925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343150" y="16859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428750" y="176212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861010" y="1870710"/>
            <a:ext cx="104048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Xem Buy Now</a:t>
            </a:r>
          </a:p>
        </p:txBody>
      </p:sp>
      <p:sp>
        <p:nvSpPr>
          <p:cNvPr id="20" name="Line 20"/>
          <p:cNvSpPr/>
          <p:nvPr/>
        </p:nvSpPr>
        <p:spPr>
          <a:xfrm>
            <a:off x="2381250" y="214312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2343150" y="23526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1428750" y="2428875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898534" y="2537460"/>
            <a:ext cx="9654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Add to Cart</a:t>
            </a:r>
          </a:p>
        </p:txBody>
      </p:sp>
      <p:sp>
        <p:nvSpPr>
          <p:cNvPr id="24" name="Line 24"/>
          <p:cNvSpPr/>
          <p:nvPr/>
        </p:nvSpPr>
        <p:spPr>
          <a:xfrm>
            <a:off x="3333750" y="2619375"/>
            <a:ext cx="1352550" cy="9525"/>
          </a:xfrm>
          <a:custGeom>
            <a:avLst/>
            <a:gdLst/>
            <a:ahLst/>
            <a:cxnLst/>
            <a:rect l="l" t="t" r="r" b="b"/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4686300" y="258127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762500" y="2428875"/>
            <a:ext cx="2095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82836" y="2537460"/>
            <a:ext cx="16548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Tạo invoice buy_now</a:t>
            </a:r>
          </a:p>
        </p:txBody>
      </p:sp>
      <p:sp>
        <p:nvSpPr>
          <p:cNvPr id="28" name="Line 28"/>
          <p:cNvSpPr/>
          <p:nvPr/>
        </p:nvSpPr>
        <p:spPr>
          <a:xfrm>
            <a:off x="5810250" y="2809875"/>
            <a:ext cx="9525" cy="352425"/>
          </a:xfrm>
          <a:custGeom>
            <a:avLst/>
            <a:gdLst/>
            <a:ahLst/>
            <a:cxnLst/>
            <a:rect l="l" t="t" r="r" b="b"/>
            <a:pathLst>
              <a:path w="9525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29" name="Polygon 29"/>
          <p:cNvSpPr/>
          <p:nvPr/>
        </p:nvSpPr>
        <p:spPr>
          <a:xfrm>
            <a:off x="5772150" y="3162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762500" y="3238500"/>
            <a:ext cx="20955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5186377" y="3356610"/>
            <a:ext cx="12477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Deadline 7 ngày</a:t>
            </a:r>
          </a:p>
        </p:txBody>
      </p:sp>
      <p:sp>
        <p:nvSpPr>
          <p:cNvPr id="32" name="Line 32"/>
          <p:cNvSpPr/>
          <p:nvPr/>
        </p:nvSpPr>
        <p:spPr>
          <a:xfrm>
            <a:off x="5810250" y="36385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3" name="Polygon 33"/>
          <p:cNvSpPr/>
          <p:nvPr/>
        </p:nvSpPr>
        <p:spPr>
          <a:xfrm>
            <a:off x="5772150" y="3924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4" name="Polygon 34"/>
          <p:cNvSpPr/>
          <p:nvPr/>
        </p:nvSpPr>
        <p:spPr>
          <a:xfrm>
            <a:off x="5505450" y="4076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609600" y="304800"/>
                </a:lnTo>
                <a:lnTo>
                  <a:pt x="304800" y="609600"/>
                </a:lnTo>
                <a:lnTo>
                  <a:pt x="0" y="304800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646496" y="4306252"/>
            <a:ext cx="3275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Pay?</a:t>
            </a:r>
          </a:p>
        </p:txBody>
      </p:sp>
      <p:sp>
        <p:nvSpPr>
          <p:cNvPr id="36" name="Line 36"/>
          <p:cNvSpPr/>
          <p:nvPr/>
        </p:nvSpPr>
        <p:spPr>
          <a:xfrm>
            <a:off x="6115050" y="4381500"/>
            <a:ext cx="2190750" cy="9525"/>
          </a:xfrm>
          <a:custGeom>
            <a:avLst/>
            <a:gdLst/>
            <a:ahLst/>
            <a:cxnLst/>
            <a:rect l="l" t="t" r="r" b="b"/>
            <a:pathLst>
              <a:path w="2190750" h="9525">
                <a:moveTo>
                  <a:pt x="0" y="0"/>
                </a:moveTo>
                <a:lnTo>
                  <a:pt x="219075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37" name="Polygon 37"/>
          <p:cNvSpPr/>
          <p:nvPr/>
        </p:nvSpPr>
        <p:spPr>
          <a:xfrm>
            <a:off x="8305800" y="43434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662166" y="4172902"/>
            <a:ext cx="757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Thanh toán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382000" y="41910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9084915" y="4299585"/>
            <a:ext cx="10706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PayPal / COD</a:t>
            </a:r>
          </a:p>
        </p:txBody>
      </p:sp>
      <p:sp>
        <p:nvSpPr>
          <p:cNvPr id="41" name="Line 41"/>
          <p:cNvSpPr/>
          <p:nvPr/>
        </p:nvSpPr>
        <p:spPr>
          <a:xfrm>
            <a:off x="9620250" y="457200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2" name="Polygon 42"/>
          <p:cNvSpPr/>
          <p:nvPr/>
        </p:nvSpPr>
        <p:spPr>
          <a:xfrm>
            <a:off x="9582150" y="5067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3" name="Rectangle 43"/>
          <p:cNvSpPr/>
          <p:nvPr/>
        </p:nvSpPr>
        <p:spPr>
          <a:xfrm>
            <a:off x="8382000" y="5143500"/>
            <a:ext cx="24765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8920153" y="5252085"/>
            <a:ext cx="140019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Order completed</a:t>
            </a:r>
          </a:p>
        </p:txBody>
      </p:sp>
      <p:sp>
        <p:nvSpPr>
          <p:cNvPr id="45" name="Line 45"/>
          <p:cNvSpPr/>
          <p:nvPr/>
        </p:nvSpPr>
        <p:spPr>
          <a:xfrm>
            <a:off x="9620250" y="55245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46" name="Polygon 46"/>
          <p:cNvSpPr/>
          <p:nvPr/>
        </p:nvSpPr>
        <p:spPr>
          <a:xfrm>
            <a:off x="9582150" y="59245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47" name="Ellipse 47"/>
          <p:cNvSpPr/>
          <p:nvPr/>
        </p:nvSpPr>
        <p:spPr>
          <a:xfrm>
            <a:off x="9505950" y="6124575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48" name="Ellipse 48"/>
          <p:cNvSpPr/>
          <p:nvPr/>
        </p:nvSpPr>
        <p:spPr>
          <a:xfrm>
            <a:off x="9563100" y="6181725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sp>
        <p:nvSpPr>
          <p:cNvPr id="49" name="Freeform 49"/>
          <p:cNvSpPr/>
          <p:nvPr/>
        </p:nvSpPr>
        <p:spPr>
          <a:xfrm>
            <a:off x="2857500" y="3619500"/>
            <a:ext cx="2647950" cy="762000"/>
          </a:xfrm>
          <a:custGeom>
            <a:avLst/>
            <a:gdLst/>
            <a:ahLst/>
            <a:cxnLst/>
            <a:rect l="l" t="t" r="r" b="b"/>
            <a:pathLst>
              <a:path w="2647950" h="762000">
                <a:moveTo>
                  <a:pt x="2647950" y="762000"/>
                </a:moveTo>
                <a:lnTo>
                  <a:pt x="0" y="762000"/>
                </a:lnTo>
                <a:lnTo>
                  <a:pt x="0" y="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0" name="Polygon 50"/>
          <p:cNvSpPr/>
          <p:nvPr/>
        </p:nvSpPr>
        <p:spPr>
          <a:xfrm>
            <a:off x="2819400" y="3543300"/>
            <a:ext cx="76200" cy="95250"/>
          </a:xfrm>
          <a:custGeom>
            <a:avLst/>
            <a:gdLst/>
            <a:ahLst/>
            <a:cxnLst/>
            <a:rect l="l" t="t" r="r" b="b"/>
            <a:pathLst>
              <a:path w="76200" h="95250">
                <a:moveTo>
                  <a:pt x="0" y="95250"/>
                </a:moveTo>
                <a:lnTo>
                  <a:pt x="38100" y="0"/>
                </a:lnTo>
                <a:lnTo>
                  <a:pt x="76200" y="9525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233166" y="4172902"/>
            <a:ext cx="921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/ hết hạn</a:t>
            </a:r>
          </a:p>
        </p:txBody>
      </p:sp>
      <p:sp>
        <p:nvSpPr>
          <p:cNvPr id="52" name="Rectangle 52"/>
          <p:cNvSpPr/>
          <p:nvPr/>
        </p:nvSpPr>
        <p:spPr>
          <a:xfrm>
            <a:off x="1428750" y="333375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4288">
            <a:solidFill>
              <a:srgbClr val="000000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923114" y="3442335"/>
            <a:ext cx="916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Hủy invoice</a:t>
            </a:r>
          </a:p>
        </p:txBody>
      </p:sp>
      <p:sp>
        <p:nvSpPr>
          <p:cNvPr id="54" name="Line 54"/>
          <p:cNvSpPr/>
          <p:nvPr/>
        </p:nvSpPr>
        <p:spPr>
          <a:xfrm>
            <a:off x="2381250" y="3714750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4288">
            <a:solidFill>
              <a:srgbClr val="000000"/>
            </a:solidFill>
          </a:ln>
        </p:spPr>
      </p:sp>
      <p:sp>
        <p:nvSpPr>
          <p:cNvPr id="55" name="Polygon 55"/>
          <p:cNvSpPr/>
          <p:nvPr/>
        </p:nvSpPr>
        <p:spPr>
          <a:xfrm>
            <a:off x="2343150" y="421005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38100" y="76200"/>
                </a:lnTo>
                <a:lnTo>
                  <a:pt x="762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56" name="Ellipse 56"/>
          <p:cNvSpPr/>
          <p:nvPr/>
        </p:nvSpPr>
        <p:spPr>
          <a:xfrm>
            <a:off x="2266950" y="4362450"/>
            <a:ext cx="228600" cy="228600"/>
          </a:xfrm>
          <a:prstGeom prst="ellipse">
            <a:avLst/>
          </a:prstGeom>
          <a:noFill/>
          <a:ln w="28575">
            <a:solidFill>
              <a:srgbClr val="000000"/>
            </a:solidFill>
          </a:ln>
        </p:spPr>
      </p:sp>
      <p:sp>
        <p:nvSpPr>
          <p:cNvPr id="57" name="Ellipse 57"/>
          <p:cNvSpPr/>
          <p:nvPr/>
        </p:nvSpPr>
        <p:spPr>
          <a:xfrm>
            <a:off x="2324100" y="4419600"/>
            <a:ext cx="114300" cy="1143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</p:sp>
      <p:grpSp>
        <p:nvGrpSpPr>
          <p:cNvPr id="60" name="Group 60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58" name="TextBox 58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333333"/>
                  </a:solidFill>
                  <a:latin typeface="+mn-lt"/>
                  <a:ea typeface="+mn-ea"/>
                  <a:cs typeface="+mn-cs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3693149" cy="692659"/>
            <a:chOff x="457200" y="378142"/>
            <a:chExt cx="3693149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34790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Database Diagram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099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ER — các thực thể chính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62000" y="1333500"/>
            <a:ext cx="9906000" cy="4112228"/>
            <a:chOff x="762000" y="1333500"/>
            <a:chExt cx="9906000" cy="4112228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1714500"/>
              <a:ext cx="1905000" cy="1333500"/>
              <a:chOff x="762000" y="1714500"/>
              <a:chExt cx="1905000" cy="13335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762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762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62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83346" y="1808321"/>
                <a:ext cx="4623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User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946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46023" y="2491264"/>
                <a:ext cx="4399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Email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46023" y="2757964"/>
                <a:ext cx="4486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Roles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429000" y="1524000"/>
              <a:ext cx="1905000" cy="1333500"/>
              <a:chOff x="3429000" y="1524000"/>
              <a:chExt cx="1905000" cy="13335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29000" y="15240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3429000" y="15240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429000" y="17526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84754" y="1617821"/>
                <a:ext cx="79349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Product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613023" y="20340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3023" y="2300764"/>
                <a:ext cx="6507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SellerId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13023" y="2567464"/>
                <a:ext cx="77649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Category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096000" y="1714500"/>
              <a:ext cx="1905000" cy="1333500"/>
              <a:chOff x="6096000" y="1714500"/>
              <a:chExt cx="1905000" cy="13335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0" y="1714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096000" y="1714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6096000" y="1943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77046" y="1808321"/>
                <a:ext cx="74290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Auction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280023" y="2224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80023" y="2491264"/>
                <a:ext cx="8330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ProductId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80023" y="2757964"/>
                <a:ext cx="5869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Status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763000" y="1333500"/>
              <a:ext cx="1905000" cy="1333500"/>
              <a:chOff x="8763000" y="1333500"/>
              <a:chExt cx="1905000" cy="1333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763000" y="1333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8763000" y="1333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8763000" y="1562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565107" y="1427321"/>
                <a:ext cx="30078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Bid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947023" y="1843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947023" y="2110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947023" y="2376964"/>
                <a:ext cx="6217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Amount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096000" y="4000500"/>
              <a:ext cx="1905000" cy="1333500"/>
              <a:chOff x="6096000" y="4000500"/>
              <a:chExt cx="1905000" cy="13335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6096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6096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741850" y="4094321"/>
                <a:ext cx="61330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Order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280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80023" y="4777264"/>
                <a:ext cx="64331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BuyerId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80023" y="5043964"/>
                <a:ext cx="7164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Payment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429000" y="4000500"/>
              <a:ext cx="1905000" cy="1333500"/>
              <a:chOff x="3429000" y="4000500"/>
              <a:chExt cx="1905000" cy="13335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429000" y="4000500"/>
                <a:ext cx="1905000" cy="1333500"/>
              </a:xfrm>
              <a:prstGeom prst="roundRect">
                <a:avLst>
                  <a:gd name="adj" fmla="val 11429"/>
                </a:avLst>
              </a:prstGeom>
              <a:solidFill>
                <a:srgbClr val="FFFFFF"/>
              </a:solidFill>
              <a:ln w="14288">
                <a:solidFill>
                  <a:srgbClr val="BFDBF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3429000" y="4000500"/>
                <a:ext cx="1905000" cy="381000"/>
              </a:xfrm>
              <a:prstGeom prst="roundRect">
                <a:avLst>
                  <a:gd name="adj" fmla="val 40000"/>
                </a:avLst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3429000" y="4229100"/>
                <a:ext cx="1905000" cy="152400"/>
              </a:xfrm>
              <a:prstGeom prst="rect">
                <a:avLst/>
              </a:prstGeom>
              <a:solidFill>
                <a:srgbClr val="1D4ED8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3759182" y="4094321"/>
                <a:ext cx="1244636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Registration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613023" y="4510564"/>
                <a:ext cx="16356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Id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3613023" y="4777264"/>
                <a:ext cx="7893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AuctionId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613023" y="5043964"/>
                <a:ext cx="63829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334155"/>
                    </a:solidFill>
                    <a:latin typeface="+mn-lt"/>
                    <a:ea typeface="+mn-ea"/>
                    <a:cs typeface="+mn-cs"/>
                  </a:rPr>
                  <a:t>Deposit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2667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53340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8001000" y="1905000"/>
              <a:ext cx="762000" cy="190500"/>
            </a:xfrm>
            <a:custGeom>
              <a:avLst/>
              <a:gdLst/>
              <a:ahLst/>
              <a:cxnLst/>
              <a:rect l="l" t="t" r="r" b="b"/>
              <a:pathLst>
                <a:path w="762000" h="190500">
                  <a:moveTo>
                    <a:pt x="0" y="19050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7048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4381500" y="28575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5334000" y="428625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851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518785" y="18788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185785" y="1688306"/>
              <a:ext cx="2742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138035" y="3307556"/>
              <a:ext cx="8081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N—1 Winner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566285" y="3307556"/>
              <a:ext cx="5695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1—N Reg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898523" y="5196364"/>
              <a:ext cx="56733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User 1—N Product · Auction 1—N Bid/Registration · Order N—1 Buyer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67" name="TextBox 67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7200" y="378142"/>
            <a:ext cx="2752791" cy="692659"/>
            <a:chOff x="457200" y="378142"/>
            <a:chExt cx="2752791" cy="692659"/>
          </a:xfrm>
        </p:grpSpPr>
        <p:sp>
          <p:nvSpPr>
            <p:cNvPr id="2" name="Rectangle 2"/>
            <p:cNvSpPr/>
            <p:nvPr/>
          </p:nvSpPr>
          <p:spPr>
            <a:xfrm>
              <a:off x="457200" y="419100"/>
              <a:ext cx="76200" cy="3810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1322" y="378142"/>
              <a:ext cx="161277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Kết luận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78942" y="806768"/>
              <a:ext cx="2531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Điểm nổi bật của CardMarket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57200" y="1333500"/>
            <a:ext cx="5524500" cy="1619250"/>
            <a:chOff x="457200" y="1333500"/>
            <a:chExt cx="5524500" cy="1619250"/>
          </a:xfrm>
        </p:grpSpPr>
        <p:sp>
          <p:nvSpPr>
            <p:cNvPr id="6" name="Rectangle 6"/>
            <p:cNvSpPr/>
            <p:nvPr/>
          </p:nvSpPr>
          <p:spPr>
            <a:xfrm>
              <a:off x="4572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3732" y="1630680"/>
              <a:ext cx="136095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Dual Auth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6780" y="2124075"/>
              <a:ext cx="49237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Cookie User và Admin độc lập — tách phiên an toàn.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286500" y="1333500"/>
            <a:ext cx="5524500" cy="1619250"/>
            <a:chOff x="6286500" y="1333500"/>
            <a:chExt cx="5524500" cy="1619250"/>
          </a:xfrm>
        </p:grpSpPr>
        <p:sp>
          <p:nvSpPr>
            <p:cNvPr id="11" name="Rectangle 11"/>
            <p:cNvSpPr/>
            <p:nvPr/>
          </p:nvSpPr>
          <p:spPr>
            <a:xfrm>
              <a:off x="6286500" y="1333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1333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33032" y="1630680"/>
              <a:ext cx="20274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Verify Listing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36080" y="2124075"/>
              <a:ext cx="3898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Admin duyệt trước khi listing công khai.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7200" y="3238500"/>
            <a:ext cx="5524500" cy="1619250"/>
            <a:chOff x="457200" y="3238500"/>
            <a:chExt cx="5524500" cy="1619250"/>
          </a:xfrm>
        </p:grpSpPr>
        <p:sp>
          <p:nvSpPr>
            <p:cNvPr id="16" name="Rectangle 16"/>
            <p:cNvSpPr/>
            <p:nvPr/>
          </p:nvSpPr>
          <p:spPr>
            <a:xfrm>
              <a:off x="4572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4572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3732" y="3535680"/>
              <a:ext cx="12469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Realtime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6780" y="4029075"/>
              <a:ext cx="357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SignalR + Firebase push + RabbitMQ.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3238500"/>
            <a:ext cx="5524500" cy="1619250"/>
            <a:chOff x="6286500" y="3238500"/>
            <a:chExt cx="5524500" cy="1619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3238500"/>
              <a:ext cx="5524500" cy="1619250"/>
            </a:xfrm>
            <a:prstGeom prst="roundRect">
              <a:avLst>
                <a:gd name="adj" fmla="val 9412"/>
              </a:avLst>
            </a:prstGeom>
            <a:solidFill>
              <a:srgbClr val="FFFFFF"/>
            </a:solidFill>
            <a:ln w="14288">
              <a:solidFill>
                <a:srgbClr val="BFDBF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86500" y="3238500"/>
              <a:ext cx="114300" cy="161925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733032" y="3535680"/>
              <a:ext cx="16791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Đa ngôn ngữ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36080" y="4029075"/>
              <a:ext cx="25191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4 locale: vi · en · ja · ko.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57200" y="5334000"/>
            <a:ext cx="11277600" cy="666750"/>
            <a:chOff x="457200" y="5334000"/>
            <a:chExt cx="11277600" cy="666750"/>
          </a:xfrm>
        </p:grpSpPr>
        <p:sp>
          <p:nvSpPr>
            <p:cNvPr id="26" name="Rectangle 26"/>
            <p:cNvSpPr/>
            <p:nvPr/>
          </p:nvSpPr>
          <p:spPr>
            <a:xfrm>
              <a:off x="457200" y="5334000"/>
              <a:ext cx="11277600" cy="666750"/>
            </a:xfrm>
            <a:prstGeom prst="roundRect">
              <a:avLst>
                <a:gd name="adj" fmla="val 22857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58447" y="5581650"/>
              <a:ext cx="5475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Vòng đời đấu giá thẻ bài hoàn chỉnh trên ASP.NET Core 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381000"/>
            <a:ext cx="12573000" cy="8001000"/>
            <a:chOff x="0" y="-38100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0" y="-381000"/>
              <a:ext cx="3048000" cy="3048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63000" y="3810000"/>
              <a:ext cx="3810000" cy="3810000"/>
            </a:xfrm>
            <a:prstGeom prst="ellipse">
              <a:avLst/>
            </a:prstGeom>
            <a:solidFill>
              <a:srgbClr val="DBEAFE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286000" y="1524000"/>
            <a:ext cx="7620000" cy="3429000"/>
            <a:chOff x="2286000" y="1524000"/>
            <a:chExt cx="7620000" cy="3429000"/>
          </a:xfrm>
        </p:grpSpPr>
        <p:sp>
          <p:nvSpPr>
            <p:cNvPr id="6" name="Rectangle 6"/>
            <p:cNvSpPr/>
            <p:nvPr/>
          </p:nvSpPr>
          <p:spPr>
            <a:xfrm>
              <a:off x="2286000" y="15240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19050">
              <a:solidFill>
                <a:srgbClr val="BFDBFE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364811" y="2023110"/>
              <a:ext cx="546237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Cảm ơn quý thầy cô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414662" y="2594610"/>
              <a:ext cx="33626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172A"/>
                  </a:solidFill>
                  <a:latin typeface="+mn-lt"/>
                  <a:ea typeface="+mn-ea"/>
                  <a:cs typeface="+mn-cs"/>
                </a:rPr>
                <a:t>và hội đồng!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0" y="3333750"/>
              <a:ext cx="1905000" cy="381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812515" y="3631882"/>
              <a:ext cx="45669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Cảm ơn các thành viên nhóm và những người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38667" y="3917632"/>
              <a:ext cx="471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dirty="0">
                  <a:solidFill>
                    <a:srgbClr val="334155"/>
                  </a:solidFill>
                  <a:latin typeface="+mn-lt"/>
                  <a:ea typeface="+mn-ea"/>
                  <a:cs typeface="+mn-cs"/>
                </a:rPr>
                <a:t>đã hỗ trợ trong quá trình phát triển dự án.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04659" y="4410075"/>
              <a:ext cx="21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D4ED8"/>
                  </a:solidFill>
                  <a:latin typeface="+mn-lt"/>
                  <a:ea typeface="+mn-ea"/>
                  <a:cs typeface="+mn-cs"/>
                </a:rPr>
                <a:t>CardMarket · Nhóm 3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1104" y="6537960"/>
            <a:ext cx="11289792" cy="234696"/>
            <a:chOff x="451104" y="6537960"/>
            <a:chExt cx="11289792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451104" y="6537960"/>
              <a:ext cx="1663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Nhóm 3 · CardMarket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87532" y="65379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4748B"/>
                  </a:solidFill>
                  <a:latin typeface="+mn-lt"/>
                  <a:ea typeface="+mn-ea"/>
                  <a:cs typeface="+mn-cs"/>
                </a:rPr>
                <a:t>20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nline_auction_nhom3">
  <a:themeElements>
    <a:clrScheme name="online_auction_nhom3">
      <a:dk1>
        <a:srgbClr val="292524"/>
      </a:dk1>
      <a:lt1>
        <a:srgbClr val="FFFBEB"/>
      </a:lt1>
      <a:dk2>
        <a:srgbClr val="292524"/>
      </a:dk2>
      <a:lt2>
        <a:srgbClr val="FEF3C7"/>
      </a:lt2>
      <a:accent1>
        <a:srgbClr val="B45309"/>
      </a:accent1>
      <a:accent2>
        <a:srgbClr val="1C1917"/>
      </a:accent2>
      <a:accent3>
        <a:srgbClr val="78716C"/>
      </a:accent3>
      <a:accent4>
        <a:srgbClr val="B45309"/>
      </a:accent4>
      <a:accent5>
        <a:srgbClr val="4BACC6"/>
      </a:accent5>
      <a:accent6>
        <a:srgbClr val="F79646"/>
      </a:accent6>
      <a:hlink>
        <a:srgbClr val="1C1917"/>
      </a:hlink>
      <a:folHlink>
        <a:srgbClr val="78716C"/>
      </a:folHlink>
    </a:clrScheme>
    <a:fontScheme name="online_auction_nhom3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nline_auction_nhom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2026-07-21T11:01:33Z</dcterms:created>
  <dcterms:modified xsi:type="dcterms:W3CDTF">2026-07-21T11:01:33Z</dcterms:modified>
  <cp:category/>
  <cp:contentStatus/>
</cp:coreProperties>
</file>